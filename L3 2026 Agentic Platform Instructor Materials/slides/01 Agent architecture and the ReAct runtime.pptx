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3.xml" ContentType="application/vnd.openxmlformats-officedocument.presentationml.slideLayout+xml"/>
  <Override PartName="/ppt/slideLayouts/slideLayout57.xml" ContentType="application/vnd.openxmlformats-officedocument.presentationml.slideLayout+xml"/>
  <Override PartName="/ppt/slideLayouts/slideLayout66.xml" ContentType="application/vnd.openxmlformats-officedocument.presentationml.slideLayout+xml"/>
  <Override PartName="/ppt/slideLayouts/slideLayout68.xml" ContentType="application/vnd.openxmlformats-officedocument.presentationml.slideLayout+xml"/>
  <Override PartName="/ppt/slideLayouts/slideLayout7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764" r:id="rId5"/>
    <p:sldMasterId id="2147483765" r:id="rId6"/>
  </p:sldMasterIdLst>
  <p:notesMasterIdLst>
    <p:notesMasterId r:id="rId7"/>
  </p:notesMasterIdLst>
  <p:sldIdLst>
    <p:sldId id="310" r:id="rId104"/>
    <p:sldId id="311" r:id="rId105"/>
    <p:sldId id="312" r:id="rId106"/>
    <p:sldId id="313" r:id="rId107"/>
    <p:sldId id="314" r:id="rId108"/>
    <p:sldId id="315" r:id="rId109"/>
    <p:sldId id="316" r:id="rId110"/>
    <p:sldId id="317" r:id="rId111"/>
    <p:sldId id="318" r:id="rId112"/>
    <p:sldId id="319" r:id="rId113"/>
    <p:sldId id="320" r:id="rId114"/>
    <p:sldId id="321" r:id="rId115"/>
    <p:sldId id="322" r:id="rId116"/>
    <p:sldId id="323" r:id="rId117"/>
    <p:sldId id="324" r:id="rId118"/>
    <p:sldId id="325" r:id="rId119"/>
    <p:sldId id="326" r:id="rId120"/>
    <p:sldId id="327" r:id="rId121"/>
    <p:sldId id="328" r:id="rId122"/>
    <p:sldId id="329" r:id="rId123"/>
    <p:sldId id="330" r:id="rId124"/>
    <p:sldId id="331" r:id="rId125"/>
    <p:sldId id="332" r:id="rId126"/>
    <p:sldId id="333" r:id="rId127"/>
    <p:sldId id="334" r:id="rId128"/>
    <p:sldId id="335" r:id="rId129"/>
    <p:sldId id="336" r:id="rId130"/>
    <p:sldId id="337" r:id="rId131"/>
    <p:sldId id="338" r:id="rId132"/>
    <p:sldId id="339" r:id="rId133"/>
    <p:sldId id="340" r:id="rId134"/>
    <p:sldId id="341" r:id="rId135"/>
    <p:sldId id="342" r:id="rId136"/>
    <p:sldId id="343" r:id="rId137"/>
    <p:sldId id="344" r:id="rId138"/>
    <p:sldId id="345" r:id="rId139"/>
  </p:sldIdLst>
  <p:sldSz cy="5143500" cx="9144000"/>
  <p:notesSz cx="6858000" cy="9144000"/>
  <p:embeddedFontLst>
    <p:embeddedFont>
      <p:font typeface="Public Sans ExtraLight"/>
      <p:regular r:id="rId62"/>
      <p:bold r:id="rId63"/>
      <p:italic r:id="rId64"/>
      <p:boldItalic r:id="rId65"/>
    </p:embeddedFont>
    <p:embeddedFont>
      <p:font typeface="Zalando Sans Medium"/>
      <p:regular r:id="rId66"/>
      <p:bold r:id="rId67"/>
      <p:italic r:id="rId68"/>
      <p:boldItalic r:id="rId69"/>
    </p:embeddedFont>
    <p:embeddedFont>
      <p:font typeface="Zalando Sans Black"/>
      <p:bold r:id="rId70"/>
      <p:boldItalic r:id="rId71"/>
    </p:embeddedFont>
    <p:embeddedFont>
      <p:font typeface="Zalando Sans SemiBold"/>
      <p:regular r:id="rId72"/>
      <p:bold r:id="rId73"/>
      <p:italic r:id="rId74"/>
      <p:boldItalic r:id="rId75"/>
    </p:embeddedFont>
    <p:embeddedFont>
      <p:font typeface="Public Sans Medium"/>
      <p:regular r:id="rId76"/>
      <p:bold r:id="rId77"/>
      <p:italic r:id="rId78"/>
      <p:boldItalic r:id="rId79"/>
    </p:embeddedFont>
    <p:embeddedFont>
      <p:font typeface="Public Sans"/>
      <p:regular r:id="rId80"/>
      <p:bold r:id="rId81"/>
      <p:italic r:id="rId82"/>
      <p:boldItalic r:id="rId83"/>
    </p:embeddedFont>
    <p:embeddedFont>
      <p:font typeface="Zalando Sans ExtraLight"/>
      <p:regular r:id="rId84"/>
      <p:bold r:id="rId85"/>
      <p:italic r:id="rId86"/>
      <p:boldItalic r:id="rId87"/>
    </p:embeddedFont>
    <p:embeddedFont>
      <p:font typeface="Public Sans Light"/>
      <p:regular r:id="rId88"/>
      <p:bold r:id="rId89"/>
      <p:italic r:id="rId90"/>
      <p:boldItalic r:id="rId91"/>
    </p:embeddedFont>
    <p:embeddedFont>
      <p:font typeface="Zalando Sans SemiExpanded Light"/>
      <p:regular r:id="rId92"/>
      <p:bold r:id="rId93"/>
      <p:italic r:id="rId94"/>
      <p:boldItalic r:id="rId95"/>
    </p:embeddedFont>
    <p:embeddedFont>
      <p:font typeface="Zalando Sans Light"/>
      <p:regular r:id="rId96"/>
      <p:bold r:id="rId97"/>
      <p:italic r:id="rId98"/>
      <p:boldItalic r:id="rId99"/>
    </p:embeddedFont>
    <p:embeddedFont>
      <p:font typeface="Zalando Sans Expanded ExtraLight"/>
      <p:regular r:id="rId100"/>
      <p:bold r:id="rId101"/>
      <p:italic r:id="rId102"/>
      <p:boldItalic r:id="rId10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360">
          <p15:clr>
            <a:srgbClr val="747775"/>
          </p15:clr>
        </p15:guide>
        <p15:guide id="2" orient="horz" pos="36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956AF45-B58D-476E-8ECE-6EB9AFA3DA7F}">
  <a:tblStyle styleId="{D956AF45-B58D-476E-8ECE-6EB9AFA3DA7F}"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60"/>
        <p:guide pos="360"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62" Type="http://schemas.openxmlformats.org/officeDocument/2006/relationships/font" Target="fonts/PublicSansExtraLight-regular.fntdata"/><Relationship Id="rId63" Type="http://schemas.openxmlformats.org/officeDocument/2006/relationships/font" Target="fonts/PublicSansExtraLight-bold.fntdata"/><Relationship Id="rId64" Type="http://schemas.openxmlformats.org/officeDocument/2006/relationships/font" Target="fonts/PublicSansExtraLight-italic.fntdata"/><Relationship Id="rId65" Type="http://schemas.openxmlformats.org/officeDocument/2006/relationships/font" Target="fonts/PublicSansExtraLight-boldItalic.fntdata"/><Relationship Id="rId66" Type="http://schemas.openxmlformats.org/officeDocument/2006/relationships/font" Target="fonts/ZalandoSansMedium-regular.fntdata"/><Relationship Id="rId67" Type="http://schemas.openxmlformats.org/officeDocument/2006/relationships/font" Target="fonts/ZalandoSansMedium-bold.fntdata"/><Relationship Id="rId68" Type="http://schemas.openxmlformats.org/officeDocument/2006/relationships/font" Target="fonts/ZalandoSansMedium-italic.fntdata"/><Relationship Id="rId69" Type="http://schemas.openxmlformats.org/officeDocument/2006/relationships/font" Target="fonts/ZalandoSansMedium-boldItalic.fntdata"/><Relationship Id="rId70" Type="http://schemas.openxmlformats.org/officeDocument/2006/relationships/font" Target="fonts/ZalandoSansBlack-bold.fntdata"/><Relationship Id="rId71" Type="http://schemas.openxmlformats.org/officeDocument/2006/relationships/font" Target="fonts/ZalandoSansBlack-boldItalic.fntdata"/><Relationship Id="rId72" Type="http://schemas.openxmlformats.org/officeDocument/2006/relationships/font" Target="fonts/ZalandoSansSemiBold-regular.fntdata"/><Relationship Id="rId73" Type="http://schemas.openxmlformats.org/officeDocument/2006/relationships/font" Target="fonts/ZalandoSansSemiBold-bold.fntdata"/><Relationship Id="rId74" Type="http://schemas.openxmlformats.org/officeDocument/2006/relationships/font" Target="fonts/ZalandoSansSemiBold-italic.fntdata"/><Relationship Id="rId75" Type="http://schemas.openxmlformats.org/officeDocument/2006/relationships/font" Target="fonts/ZalandoSansSemiBold-boldItalic.fntdata"/><Relationship Id="rId76" Type="http://schemas.openxmlformats.org/officeDocument/2006/relationships/font" Target="fonts/PublicSansMedium-regular.fntdata"/><Relationship Id="rId77" Type="http://schemas.openxmlformats.org/officeDocument/2006/relationships/font" Target="fonts/PublicSansMedium-bold.fntdata"/><Relationship Id="rId78" Type="http://schemas.openxmlformats.org/officeDocument/2006/relationships/font" Target="fonts/PublicSansMedium-italic.fntdata"/><Relationship Id="rId79" Type="http://schemas.openxmlformats.org/officeDocument/2006/relationships/font" Target="fonts/PublicSansMedium-boldItalic.fntdata"/><Relationship Id="rId80" Type="http://schemas.openxmlformats.org/officeDocument/2006/relationships/font" Target="fonts/PublicSans-regular.fntdata"/><Relationship Id="rId81" Type="http://schemas.openxmlformats.org/officeDocument/2006/relationships/font" Target="fonts/PublicSans-bold.fntdata"/><Relationship Id="rId82" Type="http://schemas.openxmlformats.org/officeDocument/2006/relationships/font" Target="fonts/PublicSans-italic.fntdata"/><Relationship Id="rId83" Type="http://schemas.openxmlformats.org/officeDocument/2006/relationships/font" Target="fonts/PublicSans-boldItalic.fntdata"/><Relationship Id="rId84" Type="http://schemas.openxmlformats.org/officeDocument/2006/relationships/font" Target="fonts/ZalandoSansExtraLight-regular.fntdata"/><Relationship Id="rId85" Type="http://schemas.openxmlformats.org/officeDocument/2006/relationships/font" Target="fonts/ZalandoSansExtraLight-bold.fntdata"/><Relationship Id="rId86" Type="http://schemas.openxmlformats.org/officeDocument/2006/relationships/font" Target="fonts/ZalandoSansExtraLight-italic.fntdata"/><Relationship Id="rId87" Type="http://schemas.openxmlformats.org/officeDocument/2006/relationships/font" Target="fonts/ZalandoSansExtraLight-boldItalic.fntdata"/><Relationship Id="rId88" Type="http://schemas.openxmlformats.org/officeDocument/2006/relationships/font" Target="fonts/PublicSansLight-regular.fntdata"/><Relationship Id="rId89" Type="http://schemas.openxmlformats.org/officeDocument/2006/relationships/font" Target="fonts/PublicSansLight-bold.fntdata"/><Relationship Id="rId90" Type="http://schemas.openxmlformats.org/officeDocument/2006/relationships/font" Target="fonts/PublicSansLight-italic.fntdata"/><Relationship Id="rId91" Type="http://schemas.openxmlformats.org/officeDocument/2006/relationships/font" Target="fonts/PublicSansLight-boldItalic.fntdata"/><Relationship Id="rId92" Type="http://schemas.openxmlformats.org/officeDocument/2006/relationships/font" Target="fonts/ZalandoSansSemiExpandedLight-regular.fntdata"/><Relationship Id="rId93" Type="http://schemas.openxmlformats.org/officeDocument/2006/relationships/font" Target="fonts/ZalandoSansSemiExpandedLight-bold.fntdata"/><Relationship Id="rId94" Type="http://schemas.openxmlformats.org/officeDocument/2006/relationships/font" Target="fonts/ZalandoSansSemiExpandedLight-italic.fntdata"/><Relationship Id="rId95" Type="http://schemas.openxmlformats.org/officeDocument/2006/relationships/font" Target="fonts/ZalandoSansSemiExpandedLight-boldItalic.fntdata"/><Relationship Id="rId96" Type="http://schemas.openxmlformats.org/officeDocument/2006/relationships/font" Target="fonts/ZalandoSansLight-regular.fntdata"/><Relationship Id="rId97" Type="http://schemas.openxmlformats.org/officeDocument/2006/relationships/font" Target="fonts/ZalandoSansLight-bold.fntdata"/><Relationship Id="rId98" Type="http://schemas.openxmlformats.org/officeDocument/2006/relationships/font" Target="fonts/ZalandoSansLight-italic.fntdata"/><Relationship Id="rId99" Type="http://schemas.openxmlformats.org/officeDocument/2006/relationships/font" Target="fonts/ZalandoSansLight-boldItalic.fntdata"/><Relationship Id="rId100" Type="http://schemas.openxmlformats.org/officeDocument/2006/relationships/font" Target="fonts/ZalandoSansExpandedExtraLight-regular.fntdata"/><Relationship Id="rId101" Type="http://schemas.openxmlformats.org/officeDocument/2006/relationships/font" Target="fonts/ZalandoSansExpandedExtraLight-bold.fntdata"/><Relationship Id="rId102" Type="http://schemas.openxmlformats.org/officeDocument/2006/relationships/font" Target="fonts/ZalandoSansExpandedExtraLight-italic.fntdata"/><Relationship Id="rId103" Type="http://schemas.openxmlformats.org/officeDocument/2006/relationships/font" Target="fonts/ZalandoSansExpandedExtraLight-boldItalic.fntdata"/><Relationship Id="rId104" Type="http://schemas.openxmlformats.org/officeDocument/2006/relationships/slide" Target="slides/slide55.xml"/><Relationship Id="rId105" Type="http://schemas.openxmlformats.org/officeDocument/2006/relationships/slide" Target="slides/slide56.xml"/><Relationship Id="rId106" Type="http://schemas.openxmlformats.org/officeDocument/2006/relationships/slide" Target="slides/slide57.xml"/><Relationship Id="rId107" Type="http://schemas.openxmlformats.org/officeDocument/2006/relationships/slide" Target="slides/slide58.xml"/><Relationship Id="rId108" Type="http://schemas.openxmlformats.org/officeDocument/2006/relationships/slide" Target="slides/slide59.xml"/><Relationship Id="rId109" Type="http://schemas.openxmlformats.org/officeDocument/2006/relationships/slide" Target="slides/slide60.xml"/><Relationship Id="rId110" Type="http://schemas.openxmlformats.org/officeDocument/2006/relationships/slide" Target="slides/slide61.xml"/><Relationship Id="rId111" Type="http://schemas.openxmlformats.org/officeDocument/2006/relationships/slide" Target="slides/slide62.xml"/><Relationship Id="rId112" Type="http://schemas.openxmlformats.org/officeDocument/2006/relationships/slide" Target="slides/slide63.xml"/><Relationship Id="rId113" Type="http://schemas.openxmlformats.org/officeDocument/2006/relationships/slide" Target="slides/slide64.xml"/><Relationship Id="rId114" Type="http://schemas.openxmlformats.org/officeDocument/2006/relationships/slide" Target="slides/slide65.xml"/><Relationship Id="rId115" Type="http://schemas.openxmlformats.org/officeDocument/2006/relationships/slide" Target="slides/slide66.xml"/><Relationship Id="rId116" Type="http://schemas.openxmlformats.org/officeDocument/2006/relationships/slide" Target="slides/slide67.xml"/><Relationship Id="rId117" Type="http://schemas.openxmlformats.org/officeDocument/2006/relationships/slide" Target="slides/slide68.xml"/><Relationship Id="rId118" Type="http://schemas.openxmlformats.org/officeDocument/2006/relationships/slide" Target="slides/slide69.xml"/><Relationship Id="rId119" Type="http://schemas.openxmlformats.org/officeDocument/2006/relationships/slide" Target="slides/slide70.xml"/><Relationship Id="rId120" Type="http://schemas.openxmlformats.org/officeDocument/2006/relationships/slide" Target="slides/slide71.xml"/><Relationship Id="rId121" Type="http://schemas.openxmlformats.org/officeDocument/2006/relationships/slide" Target="slides/slide72.xml"/><Relationship Id="rId122" Type="http://schemas.openxmlformats.org/officeDocument/2006/relationships/slide" Target="slides/slide73.xml"/><Relationship Id="rId123" Type="http://schemas.openxmlformats.org/officeDocument/2006/relationships/slide" Target="slides/slide74.xml"/><Relationship Id="rId124" Type="http://schemas.openxmlformats.org/officeDocument/2006/relationships/slide" Target="slides/slide75.xml"/><Relationship Id="rId125" Type="http://schemas.openxmlformats.org/officeDocument/2006/relationships/slide" Target="slides/slide76.xml"/><Relationship Id="rId126" Type="http://schemas.openxmlformats.org/officeDocument/2006/relationships/slide" Target="slides/slide77.xml"/><Relationship Id="rId127" Type="http://schemas.openxmlformats.org/officeDocument/2006/relationships/slide" Target="slides/slide78.xml"/><Relationship Id="rId128" Type="http://schemas.openxmlformats.org/officeDocument/2006/relationships/slide" Target="slides/slide79.xml"/><Relationship Id="rId129" Type="http://schemas.openxmlformats.org/officeDocument/2006/relationships/slide" Target="slides/slide80.xml"/><Relationship Id="rId130" Type="http://schemas.openxmlformats.org/officeDocument/2006/relationships/slide" Target="slides/slide81.xml"/><Relationship Id="rId131" Type="http://schemas.openxmlformats.org/officeDocument/2006/relationships/slide" Target="slides/slide82.xml"/><Relationship Id="rId132" Type="http://schemas.openxmlformats.org/officeDocument/2006/relationships/slide" Target="slides/slide83.xml"/><Relationship Id="rId133" Type="http://schemas.openxmlformats.org/officeDocument/2006/relationships/slide" Target="slides/slide84.xml"/><Relationship Id="rId134" Type="http://schemas.openxmlformats.org/officeDocument/2006/relationships/slide" Target="slides/slide85.xml"/><Relationship Id="rId135" Type="http://schemas.openxmlformats.org/officeDocument/2006/relationships/slide" Target="slides/slide86.xml"/><Relationship Id="rId136" Type="http://schemas.openxmlformats.org/officeDocument/2006/relationships/slide" Target="slides/slide87.xml"/><Relationship Id="rId137" Type="http://schemas.openxmlformats.org/officeDocument/2006/relationships/slide" Target="slides/slide88.xml"/><Relationship Id="rId138" Type="http://schemas.openxmlformats.org/officeDocument/2006/relationships/slide" Target="slides/slide89.xml"/><Relationship Id="rId139" Type="http://schemas.openxmlformats.org/officeDocument/2006/relationships/slide" Target="slides/slide9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Welcome. This is Session 01 of twelve. Over the course you build one agentic platform, step by step, by directing your own coding agent. Today: why platforms, what they are made of, and the core every agent runs on: the ReAct runtime. In class I demonstrate; after class you repeat every prompt in your own project.</a:t>
            </a:r>
          </a:p>
        </p:txBody>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Twelve sessions, twenty contact hours, one platform that you design, build, evaluate and operate. Everything runs offline on synthetic data with a scripted mock model, so nobody needs keys and everyone sees the same results. The capstone is your own tuned platform with a measured before/after comparison.</a:t>
            </a:r>
          </a:p>
        </p:txBody>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An agent that reasons, calls a tool, reads the result and decides what to do next is no longer news. We still build that loop from scratch today, because everything later stands on it. If you know ReAct, treat today as the foundation you will keep extending. Many enterprise tasks are too big, too varied or too sensitive for one agent. Coding agents already show the pattern: an orchestrator plans a large feature, leads subagents with their own task and context, then reviews and combines what they return.</a:t>
            </a:r>
          </a:p>
        </p:txBody>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Four reasons, each tied to the part of the course that builds it. And the counterweight: if none applies, one agent is the right design, because every agent adds cost, latency and failure modes.</a:t>
            </a:r>
          </a:p>
        </p:txBody>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Say it plainly: more agents are not better by default. Each one adds cost, latency and failure modes.</a:t>
            </a:r>
          </a:p>
        </p:txBody>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Once you run many agents, something has to spawn them, configure them, host them and give everyone one place to manage what they do. That is the agentic platform: the central hub for agentic operations. It adds the traceability and control points a single agent cannot provide on its own. Walk through the six questions.</a:t>
            </a:r>
          </a:p>
        </p:txBody>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map of the course. Today we build the first row, the agent runtime: the library every agent runs on. Everything else wraps it rather than replacing it.</a:t>
            </a:r>
          </a:p>
        </p:txBody>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highlighted box is today's work. The console across the top, the registry and supervisor on the left, the gateway and identity on the right, and context, evaluation, durability and operations underneath all wrap the runtime rather than replacing it.</a:t>
            </a:r>
          </a:p>
        </p:txBody>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You direct a coding agent; it types the code and runs the checks; you judge the evidence. Every session ends at a tagged, runnable checkpoint. A coding agent saying done proves nothing: we look at diffs, test output and run events. Everything is offline and synthetic.</a:t>
            </a:r>
          </a:p>
        </p:txBody>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One invented domain throughout: an incident-investigation platform for two fictional companies, Astro and Locomotive. Picture how it starts: at Astro the payments team notices checkout is slow and reports it to the service desk, which opens a ticket. An investigation agent picks it up. It can only read, using two tools, and must answer with a cause and the evidence for it. A runbook is a document for people, not a script: the agent reads it as evidence and never runs it. A suggested fix such as a rollback stays text until a person approves it.</a:t>
            </a:r>
          </a:p>
        </p:txBody>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Three tickets. INC-001 is today's case: payments got slow after a deployment. INC-002 is clock skew. INC-003 has no diagnostic logs, so the honest answer is not enough evidence. Keep INC-003 in mind for the question later.</a:t>
            </a:r>
          </a:p>
        </p:txBody>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Ask the room before showing the three answers. Then: a fluent paragraph is not an acceptance test. Our first checkpoint must also stop when it runs out of allowance or starts repeating itself.</a:t>
            </a:r>
          </a:p>
        </p:txBody>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Today we build only the centre box of the platform. ReAct describes an agent as a repeating cycle: a thought about what to do next, an action, and an observation of the result, until it can answer. With native tool calling: the model's turn contains its reasoning and a tool request; the runtime runs the tool; the result goes back as an observation. The model never calls code. It proposes; the runtime decides whether and how to execute. That boundary is where authorization, limits and auditing live for the rest of the course.</a:t>
            </a:r>
          </a:p>
        </p:txBody>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Every call returns one assistant turn, and the provider reports why the turn ended. The runtime decides what happens next from that structure, never from the wording. Reasoning, visible text or a provider's separate thinking, is never an action and never evidence. A reply with no tool call that is not the answer must be handled explicitly, never guessed at. Be honest: our first runtime handles only the first two rows; cut-off, refused and non-final replies fail without a named reason until we harden it for real models.</a:t>
            </a:r>
          </a:p>
        </p:txBody>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An AI investigation platform is worth building only where incidents are too varied to follow a path written in advance: the next step depends on what the last one revealed, evidence is spread across systems, and the investigation should end in a fix a person approves. Our tickets are deliberately small. INC-001 alone could be a hard-coded sequence; INC-002 needs a different runbook question once the log is read; INC-003 should end with an honest not enough evidence. Every change is measured against a baseline on the same cases, starting with this single agent.</a:t>
            </a:r>
          </a:p>
        </p:txBody>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actual run of the finished Session 01 code with the mock model. Three parties take turns: the model proposes, the runtime checks, executes and carries results back, the tool returns data. Trace the call ID from the proposal to its observation. The model runs nothing; it asks. The final turn has no tool call, so it is the answer, and the runtime checks both cited IDs really appeared in tool results.</a:t>
            </a:r>
          </a:p>
        </p:txBody>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Ask, then answer: no. INC-003 also completes: the log has no diagnostic detail and no runbook matches, so the agent answers with status insufficient_evidence and cause unknown. A run finishing and its conclusion being supported by evidence are different checks.</a:t>
            </a:r>
          </a:p>
        </p:txBody>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platform sets who a run is for, what it may use and how far it may go. Until Session 08 the code that starts the run plays the platform: today the lab or a test; from Session 08, Platform.submit. The runtime, core.py, enforces the limits and validates model output, which is untrusted input, before acting on it. Events record what happened step by step; from Session 02 the console shows them as a run timeline.</a:t>
            </a:r>
          </a:p>
        </p:txBody>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Each guard catches a different failure. step_budget stops a loop that never converges. token_budget reserves room for the reply before each call and rechecks reported usage. TimeoutError catches a hang that consumes no steps and no tokens. repeated_action stops an agent stuck asking the same question. Every stop is a named, explained outcome, never an unexplained exception. Poll: a provider hangs and returns nothing; which component stops the run? The runtime, with its elapsed-time limit.</a:t>
            </a:r>
          </a:p>
        </p:txBody>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 class, watch me run every prompt on a fresh project. After class, run the same prompts, in the same order, in your own project. You do not type the code: each step is one prompt to your coding agent, which makes the change and runs the checks; you judge the result. A coding agent saying done is not evidence: look at the diff and at the check output. All prompts are on the session page and in LEARNER_PROMPTS.md in the course repository.</a:t>
            </a:r>
          </a:p>
        </p:txBody>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Create an empty folder such as ~/agentic-course, start your coding agent in it, and paste the lesson-00 prompt from the session page. It clones the public course repository as a read-only copy, creates your project from the kit's starter, installs everything, runs the first test, installs glab, signs you in to gitlab.ciklum.net (keeping any other GitLab sign-ins) and pushes your project to a new private repository in the course group there. Start your agent in the same folder every later session.</a:t>
            </a:r>
          </a:p>
        </p:txBody>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core.py is the agent runtime: the core of every agent you will run. It holds the data the platform sets, the shape of a model's reply and of a run, and the ReAct loop. From Session 08 the platform hosts it; a supervisor built from the same loop coordinates other agents from Session 06. The given files are data and a scripted mock model everyone shares. In production agents run in separate processes or sandboxes, apart from the platform's control plane; in this course they run in the platform's own process, a compromise that keeps everything runnable on a laptop.</a:t>
            </a:r>
          </a:p>
        </p:txBody>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Step 1 creates core.py with the data contracts only: Context, Limits, Reply and Run. Separate what the platform sets from what the model produces. None of these fields come from the model. Ask: why not let the model's answer say which tools it may use? Because model output is untrusted; the platform builds Context.</a:t>
            </a:r>
          </a:p>
        </p:txBody>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Steps 2 to 4 build the providers, this loop and its guards. Read the loop by its numbers: 1, 2, 4 and 8 are the limits; 5 is the thought, one model turn; 6 and 7 classify that turn: tool calls become pending work and go back to 3; anything else must be the final answer; 3 is the action and observation. Abridged: the real function also records events, pauses for approval and handles cancellation.</a:t>
            </a:r>
          </a:p>
        </p:txBody>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Take the first pending call but leave it in the list until it is done, so a crash leaves it visible. Fingerprint it as tool name plus canonical arguments; a repeat fails with repeated_action before it runs. Execute with the application's context, never the model's. Append the observation tagged with the same call ID, then pop and save after every call. Order matters for crashes: a crash after execute re-runs the call on resume; harmless for reads, which is why Session 02 adds idempotent effects for writes.</a:t>
            </a:r>
          </a:p>
        </p:txBody>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Parse: the text must be bare JSON; prose or a code fence fails here without a named reason, the gap noted earlier. Shape: status, cause, summary and evidence must exist, or invalid_final_answer. Evidence: every cited source must appear in the tool results, or unobserved_citation; an empty list passes, which is right for insufficient evidence. Only then is the run completed. Ask: the model cites rb-rollback-v9, which no tool returned. The run fails with unobserved_citation. Later, security.validate_answer makes this stricter.</a:t>
            </a:r>
          </a:p>
        </p:txBody>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Step 2: paste the given MockProvider unchanged and build HTTPProvider for OpenAI-compatible and Anthropic, checked against fake HTTP responses, so no paid calls. Step 4: keep the step guard and add token, time and repeated-action guards with exact error codes. After step 3 the happy path, step limit and adapter tests pass; after step 4 all seven do.</a:t>
            </a:r>
          </a:p>
        </p:txBody>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Change one limit at a time, write down the failure you expect, then run it. In class we predict together and I run it; after class you do it in your own project with a throwaway script. Restore the normal limits and confirm the cited answer comes back.</a:t>
            </a:r>
          </a:p>
        </p:txBody>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Your project is done when the Session 01 check pack passes: seven tests, offline, in under a second, covering the cited happy path, each of the three limits, and both provider request shapes against fake HTTP. Then the verify prompt commits and pushes to GitLab. Unrun or skipped checks are not passes: look at the actual output, not the agent's summary. Run IDs and timings vary; status, cause and evidence must not.</a:t>
            </a:r>
          </a:p>
        </p:txBody>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Four takeaways. An agent is a ReAct loop. Authority is code. Every run is bounded and every stop has a name. Completed is not solved: look for cited evidence or an honest insufficient evidence. Keep your blueprint; from Session 02 your platform's console shows these same run events as a timeline.</a:t>
            </a:r>
          </a:p>
        </p:txBody>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Run today's prompts in your own project, in order: the lesson-00 prompt, add the check pack, build steps 1 to 4, break it on purpose, verify and push, then review. Next session: reliable tools and MCP integration, starting from your Session 01 checkpoint. Today the model is a scripted mock; a few sessions from now we point the same platform at a real model by configuration alone.</a:t>
            </a:r>
          </a:p>
        </p:txBody>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Thank you.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 Id="rId3" Type="http://schemas.openxmlformats.org/officeDocument/2006/relationships/image" Target="../media/image14.png"/><Relationship Id="rId4" Type="http://schemas.openxmlformats.org/officeDocument/2006/relationships/image" Target="../media/image5.png"/><Relationship Id="rId5" Type="http://schemas.openxmlformats.org/officeDocument/2006/relationships/image" Target="../media/image56.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png"/><Relationship Id="rId3" Type="http://schemas.openxmlformats.org/officeDocument/2006/relationships/image" Target="../media/image61.png"/><Relationship Id="rId4" Type="http://schemas.openxmlformats.org/officeDocument/2006/relationships/image" Target="../media/image57.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6.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jpg"/><Relationship Id="rId3" Type="http://schemas.openxmlformats.org/officeDocument/2006/relationships/image" Target="../media/image72.pn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5.png"/><Relationship Id="rId3" Type="http://schemas.openxmlformats.org/officeDocument/2006/relationships/image" Target="../media/image57.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 Slide 1">
    <p:bg>
      <p:bgPr>
        <a:solidFill>
          <a:srgbClr val="F9FAFB"/>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0" r="0" t="764"/>
          <a:stretch/>
        </p:blipFill>
        <p:spPr>
          <a:xfrm>
            <a:off x="4995975" y="-20000"/>
            <a:ext cx="4159950" cy="5175426"/>
          </a:xfrm>
          <a:prstGeom prst="rect">
            <a:avLst/>
          </a:prstGeom>
          <a:noFill/>
          <a:ln>
            <a:noFill/>
          </a:ln>
        </p:spPr>
      </p:pic>
      <p:pic>
        <p:nvPicPr>
          <p:cNvPr id="11" name="Google Shape;11;p2"/>
          <p:cNvPicPr preferRelativeResize="0"/>
          <p:nvPr/>
        </p:nvPicPr>
        <p:blipFill rotWithShape="1">
          <a:blip r:embed="rId3">
            <a:alphaModFix/>
          </a:blip>
          <a:srcRect b="0" l="0" r="0" t="0"/>
          <a:stretch/>
        </p:blipFill>
        <p:spPr>
          <a:xfrm>
            <a:off x="431826" y="431779"/>
            <a:ext cx="1152935" cy="369900"/>
          </a:xfrm>
          <a:prstGeom prst="rect">
            <a:avLst/>
          </a:prstGeom>
          <a:noFill/>
          <a:ln>
            <a:noFill/>
          </a:ln>
        </p:spPr>
      </p:pic>
      <p:pic>
        <p:nvPicPr>
          <p:cNvPr id="12" name="Google Shape;12;p2" title="Matrix grey.png"/>
          <p:cNvPicPr preferRelativeResize="0"/>
          <p:nvPr/>
        </p:nvPicPr>
        <p:blipFill rotWithShape="1">
          <a:blip r:embed="rId4">
            <a:alphaModFix/>
          </a:blip>
          <a:srcRect b="0" l="0" r="0" t="0"/>
          <a:stretch/>
        </p:blipFill>
        <p:spPr>
          <a:xfrm>
            <a:off x="4807091" y="888979"/>
            <a:ext cx="597818" cy="369900"/>
          </a:xfrm>
          <a:prstGeom prst="rect">
            <a:avLst/>
          </a:prstGeom>
          <a:noFill/>
          <a:ln>
            <a:noFill/>
          </a:ln>
        </p:spPr>
      </p:pic>
      <p:sp>
        <p:nvSpPr>
          <p:cNvPr id="13" name="Google Shape;13;p2"/>
          <p:cNvSpPr txBox="1"/>
          <p:nvPr>
            <p:ph type="title"/>
          </p:nvPr>
        </p:nvSpPr>
        <p:spPr>
          <a:xfrm>
            <a:off x="718202" y="1680088"/>
            <a:ext cx="3319800" cy="16032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rgbClr val="0020BB"/>
              </a:buClr>
              <a:buSzPts val="3600"/>
              <a:buFont typeface="Zalando Sans Light"/>
              <a:buNone/>
              <a:defRPr i="0" sz="4800">
                <a:solidFill>
                  <a:srgbClr val="0020BB"/>
                </a:solidFill>
                <a:latin typeface="Zalando Sans Light"/>
                <a:ea typeface="Zalando Sans Light"/>
                <a:cs typeface="Zalando Sans Light"/>
                <a:sym typeface="Zalando Sans Light"/>
              </a:defRPr>
            </a:lvl1pPr>
            <a:lvl2pPr lvl="1">
              <a:spcBef>
                <a:spcPts val="0"/>
              </a:spcBef>
              <a:spcAft>
                <a:spcPts val="0"/>
              </a:spcAft>
              <a:buSzPts val="1400"/>
              <a:buFont typeface="Zalando Sans Light"/>
              <a:buNone/>
              <a:defRPr>
                <a:latin typeface="Zalando Sans Light"/>
                <a:ea typeface="Zalando Sans Light"/>
                <a:cs typeface="Zalando Sans Light"/>
                <a:sym typeface="Zalando Sans Light"/>
              </a:defRPr>
            </a:lvl2pPr>
            <a:lvl3pPr lvl="2">
              <a:spcBef>
                <a:spcPts val="0"/>
              </a:spcBef>
              <a:spcAft>
                <a:spcPts val="0"/>
              </a:spcAft>
              <a:buSzPts val="1400"/>
              <a:buFont typeface="Zalando Sans Light"/>
              <a:buNone/>
              <a:defRPr>
                <a:latin typeface="Zalando Sans Light"/>
                <a:ea typeface="Zalando Sans Light"/>
                <a:cs typeface="Zalando Sans Light"/>
                <a:sym typeface="Zalando Sans Light"/>
              </a:defRPr>
            </a:lvl3pPr>
            <a:lvl4pPr lvl="3">
              <a:spcBef>
                <a:spcPts val="0"/>
              </a:spcBef>
              <a:spcAft>
                <a:spcPts val="0"/>
              </a:spcAft>
              <a:buSzPts val="1400"/>
              <a:buFont typeface="Zalando Sans Light"/>
              <a:buNone/>
              <a:defRPr>
                <a:latin typeface="Zalando Sans Light"/>
                <a:ea typeface="Zalando Sans Light"/>
                <a:cs typeface="Zalando Sans Light"/>
                <a:sym typeface="Zalando Sans Light"/>
              </a:defRPr>
            </a:lvl4pPr>
            <a:lvl5pPr lvl="4">
              <a:spcBef>
                <a:spcPts val="0"/>
              </a:spcBef>
              <a:spcAft>
                <a:spcPts val="0"/>
              </a:spcAft>
              <a:buSzPts val="1400"/>
              <a:buFont typeface="Zalando Sans Light"/>
              <a:buNone/>
              <a:defRPr>
                <a:latin typeface="Zalando Sans Light"/>
                <a:ea typeface="Zalando Sans Light"/>
                <a:cs typeface="Zalando Sans Light"/>
                <a:sym typeface="Zalando Sans Light"/>
              </a:defRPr>
            </a:lvl5pPr>
            <a:lvl6pPr lvl="5">
              <a:spcBef>
                <a:spcPts val="0"/>
              </a:spcBef>
              <a:spcAft>
                <a:spcPts val="0"/>
              </a:spcAft>
              <a:buSzPts val="1400"/>
              <a:buFont typeface="Zalando Sans Light"/>
              <a:buNone/>
              <a:defRPr>
                <a:latin typeface="Zalando Sans Light"/>
                <a:ea typeface="Zalando Sans Light"/>
                <a:cs typeface="Zalando Sans Light"/>
                <a:sym typeface="Zalando Sans Light"/>
              </a:defRPr>
            </a:lvl6pPr>
            <a:lvl7pPr lvl="6">
              <a:spcBef>
                <a:spcPts val="0"/>
              </a:spcBef>
              <a:spcAft>
                <a:spcPts val="0"/>
              </a:spcAft>
              <a:buSzPts val="1400"/>
              <a:buFont typeface="Zalando Sans Light"/>
              <a:buNone/>
              <a:defRPr>
                <a:latin typeface="Zalando Sans Light"/>
                <a:ea typeface="Zalando Sans Light"/>
                <a:cs typeface="Zalando Sans Light"/>
                <a:sym typeface="Zalando Sans Light"/>
              </a:defRPr>
            </a:lvl7pPr>
            <a:lvl8pPr lvl="7">
              <a:spcBef>
                <a:spcPts val="0"/>
              </a:spcBef>
              <a:spcAft>
                <a:spcPts val="0"/>
              </a:spcAft>
              <a:buSzPts val="1400"/>
              <a:buFont typeface="Zalando Sans Light"/>
              <a:buNone/>
              <a:defRPr>
                <a:latin typeface="Zalando Sans Light"/>
                <a:ea typeface="Zalando Sans Light"/>
                <a:cs typeface="Zalando Sans Light"/>
                <a:sym typeface="Zalando Sans Light"/>
              </a:defRPr>
            </a:lvl8pPr>
            <a:lvl9pPr lvl="8">
              <a:spcBef>
                <a:spcPts val="0"/>
              </a:spcBef>
              <a:spcAft>
                <a:spcPts val="0"/>
              </a:spcAft>
              <a:buSzPts val="1400"/>
              <a:buFont typeface="Zalando Sans Light"/>
              <a:buNone/>
              <a:defRPr>
                <a:latin typeface="Zalando Sans Light"/>
                <a:ea typeface="Zalando Sans Light"/>
                <a:cs typeface="Zalando Sans Light"/>
                <a:sym typeface="Zalando Sans Light"/>
              </a:defRPr>
            </a:lvl9pPr>
          </a:lstStyle>
          <a:p/>
        </p:txBody>
      </p:sp>
      <p:sp>
        <p:nvSpPr>
          <p:cNvPr id="14" name="Google Shape;14;p2"/>
          <p:cNvSpPr txBox="1"/>
          <p:nvPr>
            <p:ph idx="1" type="body"/>
          </p:nvPr>
        </p:nvSpPr>
        <p:spPr>
          <a:xfrm>
            <a:off x="736727" y="1334113"/>
            <a:ext cx="3319800" cy="279000"/>
          </a:xfrm>
          <a:prstGeom prst="rect">
            <a:avLst/>
          </a:prstGeom>
          <a:noFill/>
          <a:ln>
            <a:noFill/>
          </a:ln>
        </p:spPr>
        <p:txBody>
          <a:bodyPr anchorCtr="0" anchor="t" bIns="91425" lIns="91425" spcFirstLastPara="1" rIns="91425" wrap="square" tIns="91425">
            <a:noAutofit/>
          </a:bodyPr>
          <a:lstStyle>
            <a:lvl1pPr indent="-228600" lvl="0" marL="457200" marR="0" rtl="0" algn="l">
              <a:lnSpc>
                <a:spcPct val="90000"/>
              </a:lnSpc>
              <a:spcBef>
                <a:spcPts val="0"/>
              </a:spcBef>
              <a:spcAft>
                <a:spcPts val="0"/>
              </a:spcAft>
              <a:buClr>
                <a:schemeClr val="dk2"/>
              </a:buClr>
              <a:buSzPts val="1200"/>
              <a:buFont typeface="Zalando Sans ExtraLight"/>
              <a:buNone/>
              <a:defRPr i="0" sz="900" u="none" cap="none" strike="noStrike">
                <a:solidFill>
                  <a:schemeClr val="dk2"/>
                </a:solidFill>
                <a:latin typeface="Zalando Sans ExtraLight"/>
                <a:ea typeface="Zalando Sans ExtraLight"/>
                <a:cs typeface="Zalando Sans ExtraLight"/>
                <a:sym typeface="Zalando Sans ExtraLight"/>
              </a:defRPr>
            </a:lvl1pPr>
            <a:lvl2pPr indent="-304800" lvl="1" marL="914400" marR="0" rtl="0" algn="l">
              <a:lnSpc>
                <a:spcPct val="90000"/>
              </a:lnSpc>
              <a:spcBef>
                <a:spcPts val="0"/>
              </a:spcBef>
              <a:spcAft>
                <a:spcPts val="0"/>
              </a:spcAft>
              <a:buClr>
                <a:schemeClr val="dk2"/>
              </a:buClr>
              <a:buSzPts val="1200"/>
              <a:buFont typeface="Zalando Sans ExtraLight"/>
              <a:buChar char="○"/>
              <a:defRPr i="0" sz="1200" u="none" cap="none" strike="noStrike">
                <a:solidFill>
                  <a:schemeClr val="dk2"/>
                </a:solidFill>
                <a:latin typeface="Zalando Sans ExtraLight"/>
                <a:ea typeface="Zalando Sans ExtraLight"/>
                <a:cs typeface="Zalando Sans ExtraLight"/>
                <a:sym typeface="Zalando Sans ExtraLight"/>
              </a:defRPr>
            </a:lvl2pPr>
            <a:lvl3pPr indent="-304800" lvl="2" marL="1371600" marR="0" rtl="0" algn="l">
              <a:lnSpc>
                <a:spcPct val="90000"/>
              </a:lnSpc>
              <a:spcBef>
                <a:spcPts val="0"/>
              </a:spcBef>
              <a:spcAft>
                <a:spcPts val="0"/>
              </a:spcAft>
              <a:buClr>
                <a:schemeClr val="dk2"/>
              </a:buClr>
              <a:buSzPts val="1200"/>
              <a:buFont typeface="Zalando Sans ExtraLight"/>
              <a:buChar char="■"/>
              <a:defRPr i="0" sz="1200" u="none" cap="none" strike="noStrike">
                <a:solidFill>
                  <a:schemeClr val="dk2"/>
                </a:solidFill>
                <a:latin typeface="Zalando Sans ExtraLight"/>
                <a:ea typeface="Zalando Sans ExtraLight"/>
                <a:cs typeface="Zalando Sans ExtraLight"/>
                <a:sym typeface="Zalando Sans ExtraLight"/>
              </a:defRPr>
            </a:lvl3pPr>
            <a:lvl4pPr indent="-304800" lvl="3" marL="1828800" marR="0" rtl="0" algn="l">
              <a:lnSpc>
                <a:spcPct val="90000"/>
              </a:lnSpc>
              <a:spcBef>
                <a:spcPts val="0"/>
              </a:spcBef>
              <a:spcAft>
                <a:spcPts val="0"/>
              </a:spcAft>
              <a:buClr>
                <a:schemeClr val="dk2"/>
              </a:buClr>
              <a:buSzPts val="1200"/>
              <a:buFont typeface="Zalando Sans ExtraLight"/>
              <a:buChar char="●"/>
              <a:defRPr i="0" sz="1200" u="none" cap="none" strike="noStrike">
                <a:solidFill>
                  <a:schemeClr val="dk2"/>
                </a:solidFill>
                <a:latin typeface="Zalando Sans ExtraLight"/>
                <a:ea typeface="Zalando Sans ExtraLight"/>
                <a:cs typeface="Zalando Sans ExtraLight"/>
                <a:sym typeface="Zalando Sans ExtraLight"/>
              </a:defRPr>
            </a:lvl4pPr>
            <a:lvl5pPr indent="-304800" lvl="4" marL="2286000" marR="0" rtl="0" algn="l">
              <a:lnSpc>
                <a:spcPct val="90000"/>
              </a:lnSpc>
              <a:spcBef>
                <a:spcPts val="0"/>
              </a:spcBef>
              <a:spcAft>
                <a:spcPts val="0"/>
              </a:spcAft>
              <a:buClr>
                <a:schemeClr val="dk2"/>
              </a:buClr>
              <a:buSzPts val="1200"/>
              <a:buFont typeface="Zalando Sans ExtraLight"/>
              <a:buChar char="○"/>
              <a:defRPr i="0" sz="1200" u="none" cap="none" strike="noStrike">
                <a:solidFill>
                  <a:schemeClr val="dk2"/>
                </a:solidFill>
                <a:latin typeface="Zalando Sans ExtraLight"/>
                <a:ea typeface="Zalando Sans ExtraLight"/>
                <a:cs typeface="Zalando Sans ExtraLight"/>
                <a:sym typeface="Zalando Sans ExtraLight"/>
              </a:defRPr>
            </a:lvl5pPr>
            <a:lvl6pPr indent="-304800" lvl="5" marL="2743200" marR="0" rtl="0" algn="l">
              <a:lnSpc>
                <a:spcPct val="90000"/>
              </a:lnSpc>
              <a:spcBef>
                <a:spcPts val="0"/>
              </a:spcBef>
              <a:spcAft>
                <a:spcPts val="0"/>
              </a:spcAft>
              <a:buClr>
                <a:schemeClr val="dk2"/>
              </a:buClr>
              <a:buSzPts val="1200"/>
              <a:buFont typeface="Zalando Sans ExtraLight"/>
              <a:buChar char="■"/>
              <a:defRPr i="0" sz="1200" u="none" cap="none" strike="noStrike">
                <a:solidFill>
                  <a:schemeClr val="dk2"/>
                </a:solidFill>
                <a:latin typeface="Zalando Sans ExtraLight"/>
                <a:ea typeface="Zalando Sans ExtraLight"/>
                <a:cs typeface="Zalando Sans ExtraLight"/>
                <a:sym typeface="Zalando Sans ExtraLight"/>
              </a:defRPr>
            </a:lvl6pPr>
            <a:lvl7pPr indent="-304800" lvl="6" marL="3200400" marR="0" rtl="0" algn="l">
              <a:lnSpc>
                <a:spcPct val="90000"/>
              </a:lnSpc>
              <a:spcBef>
                <a:spcPts val="0"/>
              </a:spcBef>
              <a:spcAft>
                <a:spcPts val="0"/>
              </a:spcAft>
              <a:buClr>
                <a:schemeClr val="dk2"/>
              </a:buClr>
              <a:buSzPts val="1200"/>
              <a:buFont typeface="Zalando Sans ExtraLight"/>
              <a:buChar char="●"/>
              <a:defRPr i="0" sz="1200" u="none" cap="none" strike="noStrike">
                <a:solidFill>
                  <a:schemeClr val="dk2"/>
                </a:solidFill>
                <a:latin typeface="Zalando Sans ExtraLight"/>
                <a:ea typeface="Zalando Sans ExtraLight"/>
                <a:cs typeface="Zalando Sans ExtraLight"/>
                <a:sym typeface="Zalando Sans ExtraLight"/>
              </a:defRPr>
            </a:lvl7pPr>
            <a:lvl8pPr indent="-304800" lvl="7" marL="3657600" marR="0" rtl="0" algn="l">
              <a:lnSpc>
                <a:spcPct val="90000"/>
              </a:lnSpc>
              <a:spcBef>
                <a:spcPts val="0"/>
              </a:spcBef>
              <a:spcAft>
                <a:spcPts val="0"/>
              </a:spcAft>
              <a:buClr>
                <a:schemeClr val="dk2"/>
              </a:buClr>
              <a:buSzPts val="1200"/>
              <a:buFont typeface="Zalando Sans ExtraLight"/>
              <a:buChar char="○"/>
              <a:defRPr i="0" sz="1200" u="none" cap="none" strike="noStrike">
                <a:solidFill>
                  <a:schemeClr val="dk2"/>
                </a:solidFill>
                <a:latin typeface="Zalando Sans ExtraLight"/>
                <a:ea typeface="Zalando Sans ExtraLight"/>
                <a:cs typeface="Zalando Sans ExtraLight"/>
                <a:sym typeface="Zalando Sans ExtraLight"/>
              </a:defRPr>
            </a:lvl8pPr>
            <a:lvl9pPr indent="-304800" lvl="8" marL="4114800" marR="0" rtl="0" algn="l">
              <a:lnSpc>
                <a:spcPct val="90000"/>
              </a:lnSpc>
              <a:spcBef>
                <a:spcPts val="0"/>
              </a:spcBef>
              <a:spcAft>
                <a:spcPts val="0"/>
              </a:spcAft>
              <a:buClr>
                <a:schemeClr val="dk2"/>
              </a:buClr>
              <a:buSzPts val="1200"/>
              <a:buFont typeface="Zalando Sans ExtraLight"/>
              <a:buChar char="■"/>
              <a:defRPr i="0" sz="1200" u="none" cap="none" strike="noStrike">
                <a:solidFill>
                  <a:schemeClr val="dk2"/>
                </a:solidFill>
                <a:latin typeface="Zalando Sans ExtraLight"/>
                <a:ea typeface="Zalando Sans ExtraLight"/>
                <a:cs typeface="Zalando Sans ExtraLight"/>
                <a:sym typeface="Zalando Sans ExtraLight"/>
              </a:defRPr>
            </a:lvl9pPr>
          </a:lstStyle>
          <a:p/>
        </p:txBody>
      </p:sp>
      <p:pic>
        <p:nvPicPr>
          <p:cNvPr descr="A person and person looking at a tablet&#10;&#10;AI-generated content may be incorrect." id="15" name="Google Shape;15;p2"/>
          <p:cNvPicPr preferRelativeResize="0"/>
          <p:nvPr/>
        </p:nvPicPr>
        <p:blipFill rotWithShape="1">
          <a:blip r:embed="rId5">
            <a:alphaModFix/>
          </a:blip>
          <a:srcRect b="0" l="0" r="0" t="0"/>
          <a:stretch/>
        </p:blipFill>
        <p:spPr>
          <a:xfrm>
            <a:off x="5106000" y="-209895"/>
            <a:ext cx="3887021" cy="5353394"/>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 Slide 1">
    <p:bg>
      <p:bgPr>
        <a:solidFill>
          <a:srgbClr val="F9FAFB"/>
        </a:solidFill>
      </p:bgPr>
    </p:bg>
    <p:spTree>
      <p:nvGrpSpPr>
        <p:cNvPr id="537" name="Shape 537"/>
        <p:cNvGrpSpPr/>
        <p:nvPr/>
      </p:nvGrpSpPr>
      <p:grpSpPr>
        <a:xfrm>
          <a:off x="0" y="0"/>
          <a:ext cx="0" cy="0"/>
          <a:chOff x="0" y="0"/>
          <a:chExt cx="0" cy="0"/>
        </a:xfrm>
      </p:grpSpPr>
      <p:pic>
        <p:nvPicPr>
          <p:cNvPr id="538" name="Google Shape;538;p59"/>
          <p:cNvPicPr preferRelativeResize="0"/>
          <p:nvPr/>
        </p:nvPicPr>
        <p:blipFill rotWithShape="1">
          <a:blip r:embed="rId2">
            <a:alphaModFix/>
          </a:blip>
          <a:srcRect b="0" l="0" r="0" t="0"/>
          <a:stretch/>
        </p:blipFill>
        <p:spPr>
          <a:xfrm>
            <a:off x="4984057" y="8041"/>
            <a:ext cx="4159943" cy="5135459"/>
          </a:xfrm>
          <a:prstGeom prst="rect">
            <a:avLst/>
          </a:prstGeom>
          <a:noFill/>
          <a:ln>
            <a:noFill/>
          </a:ln>
        </p:spPr>
      </p:pic>
      <p:pic>
        <p:nvPicPr>
          <p:cNvPr descr="A person and person looking at a tablet&#10;&#10;AI-generated content may be incorrect." id="539" name="Google Shape;539;p59"/>
          <p:cNvPicPr preferRelativeResize="0"/>
          <p:nvPr/>
        </p:nvPicPr>
        <p:blipFill rotWithShape="1">
          <a:blip r:embed="rId3">
            <a:alphaModFix/>
          </a:blip>
          <a:srcRect b="0" l="0" r="0" t="0"/>
          <a:stretch/>
        </p:blipFill>
        <p:spPr>
          <a:xfrm>
            <a:off x="5106000" y="-209895"/>
            <a:ext cx="3887021" cy="5353395"/>
          </a:xfrm>
          <a:prstGeom prst="rect">
            <a:avLst/>
          </a:prstGeom>
          <a:noFill/>
          <a:ln>
            <a:noFill/>
          </a:ln>
        </p:spPr>
      </p:pic>
      <p:sp>
        <p:nvSpPr>
          <p:cNvPr id="540" name="Google Shape;540;p59"/>
          <p:cNvSpPr txBox="1"/>
          <p:nvPr>
            <p:ph type="title"/>
          </p:nvPr>
        </p:nvSpPr>
        <p:spPr>
          <a:xfrm>
            <a:off x="338079" y="1507100"/>
            <a:ext cx="4474217" cy="16032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rgbClr val="0020BB"/>
              </a:buClr>
              <a:buSzPts val="3600"/>
              <a:buFont typeface="Arial"/>
              <a:buNone/>
              <a:defRPr b="0" i="0" sz="4800">
                <a:solidFill>
                  <a:srgbClr val="0020BB"/>
                </a:solidFill>
                <a:latin typeface="Zalando Sans ExtraLight"/>
                <a:ea typeface="Zalando Sans ExtraLight"/>
                <a:cs typeface="Zalando Sans ExtraLight"/>
                <a:sym typeface="Zalando Sans Extra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1" name="Google Shape;541;p59"/>
          <p:cNvSpPr txBox="1"/>
          <p:nvPr>
            <p:ph idx="1" type="body"/>
          </p:nvPr>
        </p:nvSpPr>
        <p:spPr>
          <a:xfrm>
            <a:off x="338079" y="1161125"/>
            <a:ext cx="4492742" cy="279000"/>
          </a:xfrm>
          <a:prstGeom prst="rect">
            <a:avLst/>
          </a:prstGeom>
          <a:noFill/>
          <a:ln>
            <a:noFill/>
          </a:ln>
        </p:spPr>
        <p:txBody>
          <a:bodyPr anchorCtr="0" anchor="t" bIns="91425" lIns="91425" spcFirstLastPara="1" rIns="91425" wrap="square" tIns="91425">
            <a:noAutofit/>
          </a:bodyPr>
          <a:lstStyle>
            <a:lvl1pPr indent="-228600" lvl="0" marL="457200" algn="l">
              <a:lnSpc>
                <a:spcPct val="90000"/>
              </a:lnSpc>
              <a:spcBef>
                <a:spcPts val="0"/>
              </a:spcBef>
              <a:spcAft>
                <a:spcPts val="0"/>
              </a:spcAft>
              <a:buClr>
                <a:schemeClr val="dk2"/>
              </a:buClr>
              <a:buSzPts val="1200"/>
              <a:buFont typeface="Public Sans Light"/>
              <a:buNone/>
              <a:defRPr b="0" i="0" sz="1200">
                <a:solidFill>
                  <a:srgbClr val="3C3C3C"/>
                </a:solidFill>
                <a:latin typeface="Zalando Sans Light"/>
                <a:ea typeface="Zalando Sans Light"/>
                <a:cs typeface="Zalando Sans Light"/>
                <a:sym typeface="Zalando Sans Light"/>
              </a:defRPr>
            </a:lvl1pPr>
            <a:lvl2pPr indent="-304800" lvl="1" marL="914400" algn="l">
              <a:lnSpc>
                <a:spcPct val="90000"/>
              </a:lnSpc>
              <a:spcBef>
                <a:spcPts val="0"/>
              </a:spcBef>
              <a:spcAft>
                <a:spcPts val="0"/>
              </a:spcAft>
              <a:buClr>
                <a:schemeClr val="dk2"/>
              </a:buClr>
              <a:buSzPts val="1200"/>
              <a:buFont typeface="Public Sans Light"/>
              <a:buChar char="○"/>
              <a:defRPr sz="1200">
                <a:solidFill>
                  <a:schemeClr val="dk2"/>
                </a:solidFill>
                <a:latin typeface="Public Sans Light"/>
                <a:ea typeface="Public Sans Light"/>
                <a:cs typeface="Public Sans Light"/>
                <a:sym typeface="Public Sans Light"/>
              </a:defRPr>
            </a:lvl2pPr>
            <a:lvl3pPr indent="-304800" lvl="2" marL="1371600" algn="l">
              <a:lnSpc>
                <a:spcPct val="90000"/>
              </a:lnSpc>
              <a:spcBef>
                <a:spcPts val="0"/>
              </a:spcBef>
              <a:spcAft>
                <a:spcPts val="0"/>
              </a:spcAft>
              <a:buClr>
                <a:schemeClr val="dk2"/>
              </a:buClr>
              <a:buSzPts val="1200"/>
              <a:buFont typeface="Public Sans Light"/>
              <a:buChar char="■"/>
              <a:defRPr sz="1200">
                <a:solidFill>
                  <a:schemeClr val="dk2"/>
                </a:solidFill>
                <a:latin typeface="Public Sans Light"/>
                <a:ea typeface="Public Sans Light"/>
                <a:cs typeface="Public Sans Light"/>
                <a:sym typeface="Public Sans Light"/>
              </a:defRPr>
            </a:lvl3pPr>
            <a:lvl4pPr indent="-304800" lvl="3" marL="1828800" algn="l">
              <a:lnSpc>
                <a:spcPct val="90000"/>
              </a:lnSpc>
              <a:spcBef>
                <a:spcPts val="0"/>
              </a:spcBef>
              <a:spcAft>
                <a:spcPts val="0"/>
              </a:spcAft>
              <a:buClr>
                <a:schemeClr val="dk2"/>
              </a:buClr>
              <a:buSzPts val="1200"/>
              <a:buFont typeface="Public Sans Light"/>
              <a:buChar char="●"/>
              <a:defRPr sz="1200">
                <a:solidFill>
                  <a:schemeClr val="dk2"/>
                </a:solidFill>
                <a:latin typeface="Public Sans Light"/>
                <a:ea typeface="Public Sans Light"/>
                <a:cs typeface="Public Sans Light"/>
                <a:sym typeface="Public Sans Light"/>
              </a:defRPr>
            </a:lvl4pPr>
            <a:lvl5pPr indent="-304800" lvl="4" marL="2286000" algn="l">
              <a:lnSpc>
                <a:spcPct val="90000"/>
              </a:lnSpc>
              <a:spcBef>
                <a:spcPts val="0"/>
              </a:spcBef>
              <a:spcAft>
                <a:spcPts val="0"/>
              </a:spcAft>
              <a:buClr>
                <a:schemeClr val="dk2"/>
              </a:buClr>
              <a:buSzPts val="1200"/>
              <a:buFont typeface="Public Sans Light"/>
              <a:buChar char="○"/>
              <a:defRPr sz="1200">
                <a:solidFill>
                  <a:schemeClr val="dk2"/>
                </a:solidFill>
                <a:latin typeface="Public Sans Light"/>
                <a:ea typeface="Public Sans Light"/>
                <a:cs typeface="Public Sans Light"/>
                <a:sym typeface="Public Sans Light"/>
              </a:defRPr>
            </a:lvl5pPr>
            <a:lvl6pPr indent="-304800" lvl="5" marL="2743200" algn="l">
              <a:lnSpc>
                <a:spcPct val="90000"/>
              </a:lnSpc>
              <a:spcBef>
                <a:spcPts val="0"/>
              </a:spcBef>
              <a:spcAft>
                <a:spcPts val="0"/>
              </a:spcAft>
              <a:buClr>
                <a:schemeClr val="dk2"/>
              </a:buClr>
              <a:buSzPts val="1200"/>
              <a:buFont typeface="Public Sans Light"/>
              <a:buChar char="■"/>
              <a:defRPr sz="1200">
                <a:solidFill>
                  <a:schemeClr val="dk2"/>
                </a:solidFill>
                <a:latin typeface="Public Sans Light"/>
                <a:ea typeface="Public Sans Light"/>
                <a:cs typeface="Public Sans Light"/>
                <a:sym typeface="Public Sans Light"/>
              </a:defRPr>
            </a:lvl6pPr>
            <a:lvl7pPr indent="-304800" lvl="6" marL="3200400" algn="l">
              <a:lnSpc>
                <a:spcPct val="90000"/>
              </a:lnSpc>
              <a:spcBef>
                <a:spcPts val="0"/>
              </a:spcBef>
              <a:spcAft>
                <a:spcPts val="0"/>
              </a:spcAft>
              <a:buClr>
                <a:schemeClr val="dk2"/>
              </a:buClr>
              <a:buSzPts val="1200"/>
              <a:buFont typeface="Public Sans Light"/>
              <a:buChar char="●"/>
              <a:defRPr sz="1200">
                <a:solidFill>
                  <a:schemeClr val="dk2"/>
                </a:solidFill>
                <a:latin typeface="Public Sans Light"/>
                <a:ea typeface="Public Sans Light"/>
                <a:cs typeface="Public Sans Light"/>
                <a:sym typeface="Public Sans Light"/>
              </a:defRPr>
            </a:lvl7pPr>
            <a:lvl8pPr indent="-304800" lvl="7" marL="3657600" algn="l">
              <a:lnSpc>
                <a:spcPct val="90000"/>
              </a:lnSpc>
              <a:spcBef>
                <a:spcPts val="0"/>
              </a:spcBef>
              <a:spcAft>
                <a:spcPts val="0"/>
              </a:spcAft>
              <a:buClr>
                <a:schemeClr val="dk2"/>
              </a:buClr>
              <a:buSzPts val="1200"/>
              <a:buFont typeface="Public Sans Light"/>
              <a:buChar char="○"/>
              <a:defRPr sz="1200">
                <a:solidFill>
                  <a:schemeClr val="dk2"/>
                </a:solidFill>
                <a:latin typeface="Public Sans Light"/>
                <a:ea typeface="Public Sans Light"/>
                <a:cs typeface="Public Sans Light"/>
                <a:sym typeface="Public Sans Light"/>
              </a:defRPr>
            </a:lvl8pPr>
            <a:lvl9pPr indent="-304800" lvl="8" marL="4114800" algn="l">
              <a:lnSpc>
                <a:spcPct val="90000"/>
              </a:lnSpc>
              <a:spcBef>
                <a:spcPts val="0"/>
              </a:spcBef>
              <a:spcAft>
                <a:spcPts val="0"/>
              </a:spcAft>
              <a:buClr>
                <a:schemeClr val="dk2"/>
              </a:buClr>
              <a:buSzPts val="1200"/>
              <a:buFont typeface="Public Sans Light"/>
              <a:buChar char="■"/>
              <a:defRPr sz="1200">
                <a:solidFill>
                  <a:schemeClr val="dk2"/>
                </a:solidFill>
                <a:latin typeface="Public Sans Light"/>
                <a:ea typeface="Public Sans Light"/>
                <a:cs typeface="Public Sans Light"/>
                <a:sym typeface="Public Sans Light"/>
              </a:defRPr>
            </a:lvl9pPr>
          </a:lstStyle>
          <a:p/>
        </p:txBody>
      </p:sp>
      <p:sp>
        <p:nvSpPr>
          <p:cNvPr id="542" name="Google Shape;542;p59"/>
          <p:cNvSpPr txBox="1"/>
          <p:nvPr>
            <p:ph idx="2" type="body"/>
          </p:nvPr>
        </p:nvSpPr>
        <p:spPr>
          <a:xfrm>
            <a:off x="343621" y="3177275"/>
            <a:ext cx="3364221" cy="1200761"/>
          </a:xfrm>
          <a:prstGeom prst="rect">
            <a:avLst/>
          </a:prstGeom>
          <a:noFill/>
          <a:ln>
            <a:noFill/>
          </a:ln>
        </p:spPr>
        <p:txBody>
          <a:bodyPr anchorCtr="0" anchor="t" bIns="91425" lIns="91425" spcFirstLastPara="1" rIns="91425" wrap="square" tIns="91425">
            <a:noAutofit/>
          </a:bodyPr>
          <a:lstStyle>
            <a:lvl1pPr indent="-228600" lvl="0" marL="457200" algn="l">
              <a:lnSpc>
                <a:spcPct val="100000"/>
              </a:lnSpc>
              <a:spcBef>
                <a:spcPts val="0"/>
              </a:spcBef>
              <a:spcAft>
                <a:spcPts val="0"/>
              </a:spcAft>
              <a:buClr>
                <a:schemeClr val="dk2"/>
              </a:buClr>
              <a:buSzPts val="1200"/>
              <a:buFont typeface="Public Sans Light"/>
              <a:buNone/>
              <a:defRPr b="0" i="0" sz="1200">
                <a:solidFill>
                  <a:srgbClr val="3C3C3C"/>
                </a:solidFill>
                <a:latin typeface="Zalando Sans Light"/>
                <a:ea typeface="Zalando Sans Light"/>
                <a:cs typeface="Zalando Sans Light"/>
                <a:sym typeface="Zalando Sans Light"/>
              </a:defRPr>
            </a:lvl1pPr>
            <a:lvl2pPr indent="-304800" lvl="1" marL="914400" algn="l">
              <a:lnSpc>
                <a:spcPct val="90000"/>
              </a:lnSpc>
              <a:spcBef>
                <a:spcPts val="0"/>
              </a:spcBef>
              <a:spcAft>
                <a:spcPts val="0"/>
              </a:spcAft>
              <a:buClr>
                <a:schemeClr val="dk2"/>
              </a:buClr>
              <a:buSzPts val="1200"/>
              <a:buFont typeface="Public Sans Light"/>
              <a:buChar char="○"/>
              <a:defRPr sz="1200">
                <a:solidFill>
                  <a:schemeClr val="dk2"/>
                </a:solidFill>
                <a:latin typeface="Public Sans Light"/>
                <a:ea typeface="Public Sans Light"/>
                <a:cs typeface="Public Sans Light"/>
                <a:sym typeface="Public Sans Light"/>
              </a:defRPr>
            </a:lvl2pPr>
            <a:lvl3pPr indent="-304800" lvl="2" marL="1371600" algn="l">
              <a:lnSpc>
                <a:spcPct val="90000"/>
              </a:lnSpc>
              <a:spcBef>
                <a:spcPts val="0"/>
              </a:spcBef>
              <a:spcAft>
                <a:spcPts val="0"/>
              </a:spcAft>
              <a:buClr>
                <a:schemeClr val="dk2"/>
              </a:buClr>
              <a:buSzPts val="1200"/>
              <a:buFont typeface="Public Sans Light"/>
              <a:buChar char="■"/>
              <a:defRPr sz="1200">
                <a:solidFill>
                  <a:schemeClr val="dk2"/>
                </a:solidFill>
                <a:latin typeface="Public Sans Light"/>
                <a:ea typeface="Public Sans Light"/>
                <a:cs typeface="Public Sans Light"/>
                <a:sym typeface="Public Sans Light"/>
              </a:defRPr>
            </a:lvl3pPr>
            <a:lvl4pPr indent="-304800" lvl="3" marL="1828800" algn="l">
              <a:lnSpc>
                <a:spcPct val="90000"/>
              </a:lnSpc>
              <a:spcBef>
                <a:spcPts val="0"/>
              </a:spcBef>
              <a:spcAft>
                <a:spcPts val="0"/>
              </a:spcAft>
              <a:buClr>
                <a:schemeClr val="dk2"/>
              </a:buClr>
              <a:buSzPts val="1200"/>
              <a:buFont typeface="Public Sans Light"/>
              <a:buChar char="●"/>
              <a:defRPr sz="1200">
                <a:solidFill>
                  <a:schemeClr val="dk2"/>
                </a:solidFill>
                <a:latin typeface="Public Sans Light"/>
                <a:ea typeface="Public Sans Light"/>
                <a:cs typeface="Public Sans Light"/>
                <a:sym typeface="Public Sans Light"/>
              </a:defRPr>
            </a:lvl4pPr>
            <a:lvl5pPr indent="-304800" lvl="4" marL="2286000" algn="l">
              <a:lnSpc>
                <a:spcPct val="90000"/>
              </a:lnSpc>
              <a:spcBef>
                <a:spcPts val="0"/>
              </a:spcBef>
              <a:spcAft>
                <a:spcPts val="0"/>
              </a:spcAft>
              <a:buClr>
                <a:schemeClr val="dk2"/>
              </a:buClr>
              <a:buSzPts val="1200"/>
              <a:buFont typeface="Public Sans Light"/>
              <a:buChar char="○"/>
              <a:defRPr sz="1200">
                <a:solidFill>
                  <a:schemeClr val="dk2"/>
                </a:solidFill>
                <a:latin typeface="Public Sans Light"/>
                <a:ea typeface="Public Sans Light"/>
                <a:cs typeface="Public Sans Light"/>
                <a:sym typeface="Public Sans Light"/>
              </a:defRPr>
            </a:lvl5pPr>
            <a:lvl6pPr indent="-304800" lvl="5" marL="2743200" algn="l">
              <a:lnSpc>
                <a:spcPct val="90000"/>
              </a:lnSpc>
              <a:spcBef>
                <a:spcPts val="0"/>
              </a:spcBef>
              <a:spcAft>
                <a:spcPts val="0"/>
              </a:spcAft>
              <a:buClr>
                <a:schemeClr val="dk2"/>
              </a:buClr>
              <a:buSzPts val="1200"/>
              <a:buFont typeface="Public Sans Light"/>
              <a:buChar char="■"/>
              <a:defRPr sz="1200">
                <a:solidFill>
                  <a:schemeClr val="dk2"/>
                </a:solidFill>
                <a:latin typeface="Public Sans Light"/>
                <a:ea typeface="Public Sans Light"/>
                <a:cs typeface="Public Sans Light"/>
                <a:sym typeface="Public Sans Light"/>
              </a:defRPr>
            </a:lvl6pPr>
            <a:lvl7pPr indent="-304800" lvl="6" marL="3200400" algn="l">
              <a:lnSpc>
                <a:spcPct val="90000"/>
              </a:lnSpc>
              <a:spcBef>
                <a:spcPts val="0"/>
              </a:spcBef>
              <a:spcAft>
                <a:spcPts val="0"/>
              </a:spcAft>
              <a:buClr>
                <a:schemeClr val="dk2"/>
              </a:buClr>
              <a:buSzPts val="1200"/>
              <a:buFont typeface="Public Sans Light"/>
              <a:buChar char="●"/>
              <a:defRPr sz="1200">
                <a:solidFill>
                  <a:schemeClr val="dk2"/>
                </a:solidFill>
                <a:latin typeface="Public Sans Light"/>
                <a:ea typeface="Public Sans Light"/>
                <a:cs typeface="Public Sans Light"/>
                <a:sym typeface="Public Sans Light"/>
              </a:defRPr>
            </a:lvl7pPr>
            <a:lvl8pPr indent="-304800" lvl="7" marL="3657600" algn="l">
              <a:lnSpc>
                <a:spcPct val="90000"/>
              </a:lnSpc>
              <a:spcBef>
                <a:spcPts val="0"/>
              </a:spcBef>
              <a:spcAft>
                <a:spcPts val="0"/>
              </a:spcAft>
              <a:buClr>
                <a:schemeClr val="dk2"/>
              </a:buClr>
              <a:buSzPts val="1200"/>
              <a:buFont typeface="Public Sans Light"/>
              <a:buChar char="○"/>
              <a:defRPr sz="1200">
                <a:solidFill>
                  <a:schemeClr val="dk2"/>
                </a:solidFill>
                <a:latin typeface="Public Sans Light"/>
                <a:ea typeface="Public Sans Light"/>
                <a:cs typeface="Public Sans Light"/>
                <a:sym typeface="Public Sans Light"/>
              </a:defRPr>
            </a:lvl8pPr>
            <a:lvl9pPr indent="-304800" lvl="8" marL="4114800" algn="l">
              <a:lnSpc>
                <a:spcPct val="90000"/>
              </a:lnSpc>
              <a:spcBef>
                <a:spcPts val="0"/>
              </a:spcBef>
              <a:spcAft>
                <a:spcPts val="0"/>
              </a:spcAft>
              <a:buClr>
                <a:schemeClr val="dk2"/>
              </a:buClr>
              <a:buSzPts val="1200"/>
              <a:buFont typeface="Public Sans Light"/>
              <a:buChar char="■"/>
              <a:defRPr sz="1200">
                <a:solidFill>
                  <a:schemeClr val="dk2"/>
                </a:solidFill>
                <a:latin typeface="Public Sans Light"/>
                <a:ea typeface="Public Sans Light"/>
                <a:cs typeface="Public Sans Light"/>
                <a:sym typeface="Public Sans Light"/>
              </a:defRPr>
            </a:lvl9pPr>
          </a:lstStyle>
          <a:p/>
        </p:txBody>
      </p:sp>
      <p:pic>
        <p:nvPicPr>
          <p:cNvPr id="543" name="Google Shape;543;p59" title="Matrix white.png"/>
          <p:cNvPicPr preferRelativeResize="0"/>
          <p:nvPr/>
        </p:nvPicPr>
        <p:blipFill rotWithShape="1">
          <a:blip r:embed="rId4">
            <a:alphaModFix/>
          </a:blip>
          <a:srcRect b="0" l="0" r="0" t="0"/>
          <a:stretch/>
        </p:blipFill>
        <p:spPr>
          <a:xfrm>
            <a:off x="6317360" y="708075"/>
            <a:ext cx="732150" cy="453050"/>
          </a:xfrm>
          <a:prstGeom prst="rect">
            <a:avLst/>
          </a:prstGeom>
          <a:noFill/>
          <a:ln>
            <a:noFill/>
          </a:ln>
        </p:spPr>
      </p:pic>
      <p:pic>
        <p:nvPicPr>
          <p:cNvPr id="544" name="Google Shape;544;p59"/>
          <p:cNvPicPr preferRelativeResize="0"/>
          <p:nvPr/>
        </p:nvPicPr>
        <p:blipFill rotWithShape="1">
          <a:blip r:embed="rId5">
            <a:alphaModFix/>
          </a:blip>
          <a:srcRect b="0" l="0" r="0" t="0"/>
          <a:stretch/>
        </p:blipFill>
        <p:spPr>
          <a:xfrm>
            <a:off x="438852" y="433176"/>
            <a:ext cx="906514" cy="290840"/>
          </a:xfrm>
          <a:prstGeom prst="rect">
            <a:avLst/>
          </a:prstGeom>
          <a:noFill/>
          <a:ln>
            <a:noFill/>
          </a:ln>
        </p:spPr>
      </p:pic>
      <p:sp>
        <p:nvSpPr>
          <p:cNvPr id="545" name="Google Shape;545;p59"/>
          <p:cNvSpPr txBox="1"/>
          <p:nvPr/>
        </p:nvSpPr>
        <p:spPr>
          <a:xfrm>
            <a:off x="338079" y="4648581"/>
            <a:ext cx="911226" cy="23083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rgbClr val="C4C4C4"/>
                </a:solidFill>
                <a:latin typeface="Zalando Sans Light"/>
                <a:ea typeface="Zalando Sans Light"/>
                <a:cs typeface="Zalando Sans Light"/>
                <a:sym typeface="Zalando Sans Light"/>
              </a:rPr>
              <a:t>Confidential</a:t>
            </a:r>
            <a:endParaRPr b="0" i="0" sz="900" u="none" cap="none" strike="noStrike">
              <a:solidFill>
                <a:srgbClr val="C4C4C4"/>
              </a:solidFill>
              <a:latin typeface="Zalando Sans Light"/>
              <a:ea typeface="Zalando Sans Light"/>
              <a:cs typeface="Zalando Sans Light"/>
              <a:sym typeface="Zalando Sans Light"/>
            </a:endParaRPr>
          </a:p>
        </p:txBody>
      </p:sp>
      <p:cxnSp>
        <p:nvCxnSpPr>
          <p:cNvPr id="546" name="Google Shape;546;p59"/>
          <p:cNvCxnSpPr>
            <a:stCxn id="545" idx="1"/>
          </p:cNvCxnSpPr>
          <p:nvPr/>
        </p:nvCxnSpPr>
        <p:spPr>
          <a:xfrm rot="10800000">
            <a:off x="-21" y="4763997"/>
            <a:ext cx="338100" cy="0"/>
          </a:xfrm>
          <a:prstGeom prst="straightConnector1">
            <a:avLst/>
          </a:prstGeom>
          <a:noFill/>
          <a:ln cap="flat" cmpd="sng" w="9525">
            <a:solidFill>
              <a:srgbClr val="C4C4C4"/>
            </a:solidFill>
            <a:prstDash val="solid"/>
            <a:miter lim="8000"/>
            <a:headEnd len="sm" w="sm" type="none"/>
            <a:tailEnd len="sm" w="sm" type="none"/>
          </a:ln>
        </p:spPr>
      </p:cxnSp>
      <p:grpSp>
        <p:nvGrpSpPr>
          <p:cNvPr id="547" name="Google Shape;547;p59"/>
          <p:cNvGrpSpPr/>
          <p:nvPr/>
        </p:nvGrpSpPr>
        <p:grpSpPr>
          <a:xfrm>
            <a:off x="151725" y="-33816603"/>
            <a:ext cx="9145350" cy="5154649"/>
            <a:chOff x="0" y="0"/>
            <a:chExt cx="9145350" cy="5154649"/>
          </a:xfrm>
        </p:grpSpPr>
        <p:sp>
          <p:nvSpPr>
            <p:cNvPr id="548" name="Google Shape;548;p59"/>
            <p:cNvSpPr/>
            <p:nvPr/>
          </p:nvSpPr>
          <p:spPr>
            <a:xfrm rot="-5400000">
              <a:off x="4355414" y="366061"/>
              <a:ext cx="433176" cy="9144001"/>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49" name="Google Shape;549;p59"/>
            <p:cNvSpPr/>
            <p:nvPr/>
          </p:nvSpPr>
          <p:spPr>
            <a:xfrm rot="-5400000">
              <a:off x="4355415" y="-4355412"/>
              <a:ext cx="433176" cy="9144001"/>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50" name="Google Shape;550;p59"/>
            <p:cNvSpPr/>
            <p:nvPr/>
          </p:nvSpPr>
          <p:spPr>
            <a:xfrm>
              <a:off x="0" y="117764"/>
              <a:ext cx="433176" cy="5017695"/>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51" name="Google Shape;551;p59"/>
            <p:cNvSpPr/>
            <p:nvPr/>
          </p:nvSpPr>
          <p:spPr>
            <a:xfrm>
              <a:off x="8712174" y="117764"/>
              <a:ext cx="433176" cy="5017695"/>
            </a:xfrm>
            <a:prstGeom prst="rect">
              <a:avLst/>
            </a:prstGeom>
            <a:solidFill>
              <a:schemeClr val="accent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2">
  <p:cSld name="Transition slide 2">
    <p:bg>
      <p:bgPr>
        <a:gradFill>
          <a:gsLst>
            <a:gs pos="0">
              <a:srgbClr val="0020BB"/>
            </a:gs>
            <a:gs pos="99000">
              <a:srgbClr val="011126"/>
            </a:gs>
            <a:gs pos="100000">
              <a:srgbClr val="011126"/>
            </a:gs>
          </a:gsLst>
          <a:path path="circle">
            <a:fillToRect b="0%" l="100%" r="0%" t="100%"/>
          </a:path>
          <a:tileRect b="-100%" l="0%" r="-100%" t="0%"/>
        </a:gradFill>
      </p:bgPr>
    </p:bg>
    <p:spTree>
      <p:nvGrpSpPr>
        <p:cNvPr id="621" name="Shape 621"/>
        <p:cNvGrpSpPr/>
        <p:nvPr/>
      </p:nvGrpSpPr>
      <p:grpSpPr>
        <a:xfrm>
          <a:off x="0" y="0"/>
          <a:ext cx="0" cy="0"/>
          <a:chOff x="0" y="0"/>
          <a:chExt cx="0" cy="0"/>
        </a:xfrm>
      </p:grpSpPr>
      <p:pic>
        <p:nvPicPr>
          <p:cNvPr id="622" name="Google Shape;622;p68" title="sphere_02.png"/>
          <p:cNvPicPr preferRelativeResize="0"/>
          <p:nvPr/>
        </p:nvPicPr>
        <p:blipFill rotWithShape="1">
          <a:blip r:embed="rId2">
            <a:alphaModFix/>
          </a:blip>
          <a:srcRect b="0" l="0" r="0" t="0"/>
          <a:stretch/>
        </p:blipFill>
        <p:spPr>
          <a:xfrm rot="10800000">
            <a:off x="682624" y="-1"/>
            <a:ext cx="7778749" cy="4588649"/>
          </a:xfrm>
          <a:prstGeom prst="rect">
            <a:avLst/>
          </a:prstGeom>
          <a:noFill/>
          <a:ln>
            <a:noFill/>
          </a:ln>
        </p:spPr>
      </p:pic>
      <p:grpSp>
        <p:nvGrpSpPr>
          <p:cNvPr id="623" name="Google Shape;623;p68"/>
          <p:cNvGrpSpPr/>
          <p:nvPr/>
        </p:nvGrpSpPr>
        <p:grpSpPr>
          <a:xfrm>
            <a:off x="2212050" y="1512600"/>
            <a:ext cx="4719900" cy="2118300"/>
            <a:chOff x="2109125" y="1512600"/>
            <a:chExt cx="4719900" cy="2118300"/>
          </a:xfrm>
        </p:grpSpPr>
        <p:sp>
          <p:nvSpPr>
            <p:cNvPr id="624" name="Google Shape;624;p68"/>
            <p:cNvSpPr/>
            <p:nvPr/>
          </p:nvSpPr>
          <p:spPr>
            <a:xfrm>
              <a:off x="2109125" y="1512600"/>
              <a:ext cx="4719900" cy="2118300"/>
            </a:xfrm>
            <a:prstGeom prst="roundRect">
              <a:avLst>
                <a:gd fmla="val 7580" name="adj"/>
              </a:avLst>
            </a:prstGeom>
            <a:solidFill>
              <a:srgbClr val="F9FAFB">
                <a:alpha val="19608"/>
              </a:srgb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Zalando Sans Medium"/>
                <a:ea typeface="Zalando Sans Medium"/>
                <a:cs typeface="Zalando Sans Medium"/>
                <a:sym typeface="Zalando Sans Medium"/>
              </a:endParaRPr>
            </a:p>
          </p:txBody>
        </p:sp>
        <p:sp>
          <p:nvSpPr>
            <p:cNvPr id="625" name="Google Shape;625;p68"/>
            <p:cNvSpPr/>
            <p:nvPr/>
          </p:nvSpPr>
          <p:spPr>
            <a:xfrm>
              <a:off x="2109125" y="1512600"/>
              <a:ext cx="4719900" cy="2118300"/>
            </a:xfrm>
            <a:prstGeom prst="roundRect">
              <a:avLst>
                <a:gd fmla="val 7580" name="adj"/>
              </a:avLst>
            </a:prstGeom>
            <a:noFill/>
            <a:ln cap="flat" cmpd="sng" w="9525">
              <a:solidFill>
                <a:srgbClr val="F9FAF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Zalando Sans Medium"/>
                <a:ea typeface="Zalando Sans Medium"/>
                <a:cs typeface="Zalando Sans Medium"/>
                <a:sym typeface="Zalando Sans Medium"/>
              </a:endParaRPr>
            </a:p>
          </p:txBody>
        </p:sp>
      </p:grpSp>
      <p:cxnSp>
        <p:nvCxnSpPr>
          <p:cNvPr id="626" name="Google Shape;626;p68"/>
          <p:cNvCxnSpPr/>
          <p:nvPr/>
        </p:nvCxnSpPr>
        <p:spPr>
          <a:xfrm>
            <a:off x="4342350" y="1707999"/>
            <a:ext cx="459300" cy="0"/>
          </a:xfrm>
          <a:prstGeom prst="straightConnector1">
            <a:avLst/>
          </a:prstGeom>
          <a:noFill/>
          <a:ln cap="flat" cmpd="sng" w="19050">
            <a:solidFill>
              <a:srgbClr val="F9FAFB"/>
            </a:solidFill>
            <a:prstDash val="solid"/>
            <a:round/>
            <a:headEnd len="sm" w="sm" type="none"/>
            <a:tailEnd len="sm" w="sm" type="none"/>
          </a:ln>
        </p:spPr>
      </p:cxnSp>
      <p:sp>
        <p:nvSpPr>
          <p:cNvPr id="627" name="Google Shape;627;p68"/>
          <p:cNvSpPr txBox="1"/>
          <p:nvPr>
            <p:ph type="title"/>
          </p:nvPr>
        </p:nvSpPr>
        <p:spPr>
          <a:xfrm>
            <a:off x="2909825" y="1987447"/>
            <a:ext cx="3324350" cy="1168607"/>
          </a:xfrm>
          <a:prstGeom prst="rect">
            <a:avLst/>
          </a:prstGeom>
          <a:noFill/>
          <a:ln>
            <a:noFill/>
          </a:ln>
        </p:spPr>
        <p:txBody>
          <a:bodyPr anchorCtr="0" anchor="ctr" bIns="91425" lIns="91425" spcFirstLastPara="1" rIns="91425" wrap="square" tIns="91425">
            <a:noAutofit/>
          </a:bodyPr>
          <a:lstStyle>
            <a:lvl1pPr lvl="0" algn="ctr">
              <a:lnSpc>
                <a:spcPct val="90000"/>
              </a:lnSpc>
              <a:spcBef>
                <a:spcPts val="0"/>
              </a:spcBef>
              <a:spcAft>
                <a:spcPts val="0"/>
              </a:spcAft>
              <a:buClr>
                <a:srgbClr val="0020BB"/>
              </a:buClr>
              <a:buSzPts val="3600"/>
              <a:buFont typeface="Arial"/>
              <a:buNone/>
              <a:defRPr b="0" i="0" sz="4800">
                <a:solidFill>
                  <a:schemeClr val="lt1"/>
                </a:solidFill>
                <a:latin typeface="Zalando Sans ExtraLight"/>
                <a:ea typeface="Zalando Sans ExtraLight"/>
                <a:cs typeface="Zalando Sans ExtraLight"/>
                <a:sym typeface="Zalando Sans Extra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628" name="Google Shape;628;p68" title="Matrix white.png"/>
          <p:cNvPicPr preferRelativeResize="0"/>
          <p:nvPr/>
        </p:nvPicPr>
        <p:blipFill rotWithShape="1">
          <a:blip r:embed="rId3">
            <a:alphaModFix/>
          </a:blip>
          <a:srcRect b="0" l="0" r="0" t="0"/>
          <a:stretch/>
        </p:blipFill>
        <p:spPr>
          <a:xfrm>
            <a:off x="8157776" y="4377518"/>
            <a:ext cx="553045" cy="342221"/>
          </a:xfrm>
          <a:prstGeom prst="rect">
            <a:avLst/>
          </a:prstGeom>
          <a:noFill/>
          <a:ln>
            <a:noFill/>
          </a:ln>
        </p:spPr>
      </p:pic>
      <p:pic>
        <p:nvPicPr>
          <p:cNvPr id="629" name="Google Shape;629;p68"/>
          <p:cNvPicPr preferRelativeResize="0"/>
          <p:nvPr/>
        </p:nvPicPr>
        <p:blipFill rotWithShape="1">
          <a:blip r:embed="rId4">
            <a:alphaModFix/>
          </a:blip>
          <a:srcRect b="0" l="0" r="0" t="0"/>
          <a:stretch/>
        </p:blipFill>
        <p:spPr>
          <a:xfrm>
            <a:off x="431828" y="4441680"/>
            <a:ext cx="902902" cy="289681"/>
          </a:xfrm>
          <a:prstGeom prst="rect">
            <a:avLst/>
          </a:prstGeom>
          <a:noFill/>
          <a:ln>
            <a:noFill/>
          </a:ln>
        </p:spPr>
      </p:pic>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Plain slide ">
  <p:cSld name="2_Plain slide ">
    <p:bg>
      <p:bgPr>
        <a:solidFill>
          <a:srgbClr val="F9FAFB"/>
        </a:solidFill>
      </p:bgPr>
    </p:bg>
    <p:spTree>
      <p:nvGrpSpPr>
        <p:cNvPr id="636" name="Shape 636"/>
        <p:cNvGrpSpPr/>
        <p:nvPr/>
      </p:nvGrpSpPr>
      <p:grpSpPr>
        <a:xfrm>
          <a:off x="0" y="0"/>
          <a:ext cx="0" cy="0"/>
          <a:chOff x="0" y="0"/>
          <a:chExt cx="0" cy="0"/>
        </a:xfrm>
      </p:grpSpPr>
      <p:sp>
        <p:nvSpPr>
          <p:cNvPr id="637" name="Google Shape;637;p70"/>
          <p:cNvSpPr txBox="1"/>
          <p:nvPr>
            <p:ph type="title"/>
          </p:nvPr>
        </p:nvSpPr>
        <p:spPr>
          <a:xfrm>
            <a:off x="332613" y="305015"/>
            <a:ext cx="6139200" cy="472800"/>
          </a:xfrm>
          <a:prstGeom prst="rect">
            <a:avLst/>
          </a:prstGeom>
          <a:noFill/>
          <a:ln>
            <a:noFill/>
          </a:ln>
        </p:spPr>
        <p:txBody>
          <a:bodyPr anchorCtr="0" anchor="t" bIns="91425" lIns="91425" spcFirstLastPara="1" rIns="91425" wrap="square" tIns="91425">
            <a:noAutofit/>
          </a:bodyPr>
          <a:lstStyle>
            <a:lvl1pPr lvl="0" algn="l">
              <a:lnSpc>
                <a:spcPct val="90000"/>
              </a:lnSpc>
              <a:spcBef>
                <a:spcPts val="0"/>
              </a:spcBef>
              <a:spcAft>
                <a:spcPts val="0"/>
              </a:spcAft>
              <a:buClr>
                <a:srgbClr val="0020BB"/>
              </a:buClr>
              <a:buSzPts val="2800"/>
              <a:buFont typeface="Public Sans ExtraLight"/>
              <a:buNone/>
              <a:defRPr b="0" i="0" sz="2800">
                <a:solidFill>
                  <a:srgbClr val="0020BB"/>
                </a:solidFill>
                <a:latin typeface="Zalando Sans ExtraLight"/>
                <a:ea typeface="Zalando Sans ExtraLight"/>
                <a:cs typeface="Zalando Sans ExtraLight"/>
                <a:sym typeface="Zalando Sans ExtraLight"/>
              </a:defRPr>
            </a:lvl1pPr>
            <a:lvl2pPr lvl="1">
              <a:spcBef>
                <a:spcPts val="0"/>
              </a:spcBef>
              <a:spcAft>
                <a:spcPts val="0"/>
              </a:spcAft>
              <a:buSzPts val="2900"/>
              <a:buFont typeface="Public Sans ExtraLight"/>
              <a:buNone/>
              <a:defRPr sz="2900">
                <a:latin typeface="Public Sans ExtraLight"/>
                <a:ea typeface="Public Sans ExtraLight"/>
                <a:cs typeface="Public Sans ExtraLight"/>
                <a:sym typeface="Public Sans ExtraLight"/>
              </a:defRPr>
            </a:lvl2pPr>
            <a:lvl3pPr lvl="2">
              <a:spcBef>
                <a:spcPts val="0"/>
              </a:spcBef>
              <a:spcAft>
                <a:spcPts val="0"/>
              </a:spcAft>
              <a:buSzPts val="2900"/>
              <a:buFont typeface="Public Sans ExtraLight"/>
              <a:buNone/>
              <a:defRPr sz="2900">
                <a:latin typeface="Public Sans ExtraLight"/>
                <a:ea typeface="Public Sans ExtraLight"/>
                <a:cs typeface="Public Sans ExtraLight"/>
                <a:sym typeface="Public Sans ExtraLight"/>
              </a:defRPr>
            </a:lvl3pPr>
            <a:lvl4pPr lvl="3">
              <a:spcBef>
                <a:spcPts val="0"/>
              </a:spcBef>
              <a:spcAft>
                <a:spcPts val="0"/>
              </a:spcAft>
              <a:buSzPts val="2900"/>
              <a:buFont typeface="Public Sans ExtraLight"/>
              <a:buNone/>
              <a:defRPr sz="2900">
                <a:latin typeface="Public Sans ExtraLight"/>
                <a:ea typeface="Public Sans ExtraLight"/>
                <a:cs typeface="Public Sans ExtraLight"/>
                <a:sym typeface="Public Sans ExtraLight"/>
              </a:defRPr>
            </a:lvl4pPr>
            <a:lvl5pPr lvl="4">
              <a:spcBef>
                <a:spcPts val="0"/>
              </a:spcBef>
              <a:spcAft>
                <a:spcPts val="0"/>
              </a:spcAft>
              <a:buSzPts val="2900"/>
              <a:buFont typeface="Public Sans ExtraLight"/>
              <a:buNone/>
              <a:defRPr sz="2900">
                <a:latin typeface="Public Sans ExtraLight"/>
                <a:ea typeface="Public Sans ExtraLight"/>
                <a:cs typeface="Public Sans ExtraLight"/>
                <a:sym typeface="Public Sans ExtraLight"/>
              </a:defRPr>
            </a:lvl5pPr>
            <a:lvl6pPr lvl="5">
              <a:spcBef>
                <a:spcPts val="0"/>
              </a:spcBef>
              <a:spcAft>
                <a:spcPts val="0"/>
              </a:spcAft>
              <a:buSzPts val="2900"/>
              <a:buFont typeface="Public Sans ExtraLight"/>
              <a:buNone/>
              <a:defRPr sz="2900">
                <a:latin typeface="Public Sans ExtraLight"/>
                <a:ea typeface="Public Sans ExtraLight"/>
                <a:cs typeface="Public Sans ExtraLight"/>
                <a:sym typeface="Public Sans ExtraLight"/>
              </a:defRPr>
            </a:lvl6pPr>
            <a:lvl7pPr lvl="6">
              <a:spcBef>
                <a:spcPts val="0"/>
              </a:spcBef>
              <a:spcAft>
                <a:spcPts val="0"/>
              </a:spcAft>
              <a:buSzPts val="2900"/>
              <a:buFont typeface="Public Sans ExtraLight"/>
              <a:buNone/>
              <a:defRPr sz="2900">
                <a:latin typeface="Public Sans ExtraLight"/>
                <a:ea typeface="Public Sans ExtraLight"/>
                <a:cs typeface="Public Sans ExtraLight"/>
                <a:sym typeface="Public Sans ExtraLight"/>
              </a:defRPr>
            </a:lvl7pPr>
            <a:lvl8pPr lvl="7">
              <a:spcBef>
                <a:spcPts val="0"/>
              </a:spcBef>
              <a:spcAft>
                <a:spcPts val="0"/>
              </a:spcAft>
              <a:buSzPts val="2900"/>
              <a:buFont typeface="Public Sans ExtraLight"/>
              <a:buNone/>
              <a:defRPr sz="2900">
                <a:latin typeface="Public Sans ExtraLight"/>
                <a:ea typeface="Public Sans ExtraLight"/>
                <a:cs typeface="Public Sans ExtraLight"/>
                <a:sym typeface="Public Sans ExtraLight"/>
              </a:defRPr>
            </a:lvl8pPr>
            <a:lvl9pPr lvl="8">
              <a:spcBef>
                <a:spcPts val="0"/>
              </a:spcBef>
              <a:spcAft>
                <a:spcPts val="0"/>
              </a:spcAft>
              <a:buSzPts val="2900"/>
              <a:buFont typeface="Public Sans ExtraLight"/>
              <a:buNone/>
              <a:defRPr sz="2900">
                <a:latin typeface="Public Sans ExtraLight"/>
                <a:ea typeface="Public Sans ExtraLight"/>
                <a:cs typeface="Public Sans ExtraLight"/>
                <a:sym typeface="Public Sans ExtraLight"/>
              </a:defRPr>
            </a:lvl9pPr>
          </a:lstStyle>
          <a:p/>
        </p:txBody>
      </p:sp>
      <p:pic>
        <p:nvPicPr>
          <p:cNvPr id="638" name="Google Shape;638;p70"/>
          <p:cNvPicPr preferRelativeResize="0"/>
          <p:nvPr/>
        </p:nvPicPr>
        <p:blipFill rotWithShape="1">
          <a:blip r:embed="rId2">
            <a:alphaModFix/>
          </a:blip>
          <a:srcRect b="0" l="0" r="0" t="0"/>
          <a:stretch/>
        </p:blipFill>
        <p:spPr>
          <a:xfrm>
            <a:off x="7811236" y="433176"/>
            <a:ext cx="906514" cy="290840"/>
          </a:xfrm>
          <a:prstGeom prst="rect">
            <a:avLst/>
          </a:prstGeom>
          <a:noFill/>
          <a:ln>
            <a:noFill/>
          </a:ln>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Slide 2">
  <p:cSld name="Quote Slide 2">
    <p:spTree>
      <p:nvGrpSpPr>
        <p:cNvPr id="721" name="Shape 721"/>
        <p:cNvGrpSpPr/>
        <p:nvPr/>
      </p:nvGrpSpPr>
      <p:grpSpPr>
        <a:xfrm>
          <a:off x="0" y="0"/>
          <a:ext cx="0" cy="0"/>
          <a:chOff x="0" y="0"/>
          <a:chExt cx="0" cy="0"/>
        </a:xfrm>
      </p:grpSpPr>
      <p:pic>
        <p:nvPicPr>
          <p:cNvPr descr="A blue and green background&#10;&#10;AI-generated content may be incorrect." id="722" name="Google Shape;722;p81"/>
          <p:cNvPicPr preferRelativeResize="0"/>
          <p:nvPr/>
        </p:nvPicPr>
        <p:blipFill rotWithShape="1">
          <a:blip r:embed="rId2">
            <a:alphaModFix amt="65000"/>
          </a:blip>
          <a:srcRect b="0" l="0" r="0" t="0"/>
          <a:stretch/>
        </p:blipFill>
        <p:spPr>
          <a:xfrm>
            <a:off x="0" y="0"/>
            <a:ext cx="9144000" cy="5143500"/>
          </a:xfrm>
          <a:prstGeom prst="rect">
            <a:avLst/>
          </a:prstGeom>
          <a:gradFill>
            <a:gsLst>
              <a:gs pos="0">
                <a:srgbClr val="011126"/>
              </a:gs>
              <a:gs pos="100000">
                <a:srgbClr val="143BFC"/>
              </a:gs>
            </a:gsLst>
            <a:lin ang="0" scaled="0"/>
          </a:gradFill>
          <a:ln>
            <a:noFill/>
          </a:ln>
        </p:spPr>
      </p:pic>
      <p:grpSp>
        <p:nvGrpSpPr>
          <p:cNvPr id="723" name="Google Shape;723;p81"/>
          <p:cNvGrpSpPr/>
          <p:nvPr/>
        </p:nvGrpSpPr>
        <p:grpSpPr>
          <a:xfrm>
            <a:off x="1124837" y="1215907"/>
            <a:ext cx="6894327" cy="3394193"/>
            <a:chOff x="2109125" y="1512600"/>
            <a:chExt cx="4719900" cy="2118300"/>
          </a:xfrm>
        </p:grpSpPr>
        <p:sp>
          <p:nvSpPr>
            <p:cNvPr id="724" name="Google Shape;724;p81"/>
            <p:cNvSpPr/>
            <p:nvPr/>
          </p:nvSpPr>
          <p:spPr>
            <a:xfrm>
              <a:off x="2109125" y="1512600"/>
              <a:ext cx="4719900" cy="2118300"/>
            </a:xfrm>
            <a:prstGeom prst="roundRect">
              <a:avLst>
                <a:gd fmla="val 7580" name="adj"/>
              </a:avLst>
            </a:prstGeom>
            <a:solidFill>
              <a:schemeClr val="accent6">
                <a:alpha val="30196"/>
              </a:schemeClr>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Zalando Sans Medium"/>
                <a:ea typeface="Zalando Sans Medium"/>
                <a:cs typeface="Zalando Sans Medium"/>
                <a:sym typeface="Zalando Sans Medium"/>
              </a:endParaRPr>
            </a:p>
          </p:txBody>
        </p:sp>
        <p:sp>
          <p:nvSpPr>
            <p:cNvPr id="725" name="Google Shape;725;p81"/>
            <p:cNvSpPr/>
            <p:nvPr/>
          </p:nvSpPr>
          <p:spPr>
            <a:xfrm>
              <a:off x="2109125" y="1512600"/>
              <a:ext cx="4719900" cy="2118300"/>
            </a:xfrm>
            <a:prstGeom prst="roundRect">
              <a:avLst>
                <a:gd fmla="val 7580" name="adj"/>
              </a:avLst>
            </a:prstGeom>
            <a:noFill/>
            <a:ln cap="flat" cmpd="sng" w="9525">
              <a:solidFill>
                <a:srgbClr val="7F7F7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Zalando Sans Medium"/>
                <a:ea typeface="Zalando Sans Medium"/>
                <a:cs typeface="Zalando Sans Medium"/>
                <a:sym typeface="Zalando Sans Medium"/>
              </a:endParaRPr>
            </a:p>
          </p:txBody>
        </p:sp>
      </p:grpSp>
      <p:sp>
        <p:nvSpPr>
          <p:cNvPr id="726" name="Google Shape;726;p81"/>
          <p:cNvSpPr txBox="1"/>
          <p:nvPr/>
        </p:nvSpPr>
        <p:spPr>
          <a:xfrm>
            <a:off x="3924175" y="533400"/>
            <a:ext cx="1295700" cy="1847100"/>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Clr>
                <a:srgbClr val="000000"/>
              </a:buClr>
              <a:buSzPts val="12000"/>
              <a:buFont typeface="Arial"/>
              <a:buNone/>
            </a:pPr>
            <a:r>
              <a:rPr b="0" i="0" lang="en-US" sz="12000" u="none" cap="none" strike="noStrike">
                <a:solidFill>
                  <a:srgbClr val="00FFBE"/>
                </a:solidFill>
                <a:latin typeface="Zalando Sans SemiBold"/>
                <a:ea typeface="Zalando Sans SemiBold"/>
                <a:cs typeface="Zalando Sans SemiBold"/>
                <a:sym typeface="Zalando Sans SemiBold"/>
              </a:rPr>
              <a:t>“</a:t>
            </a:r>
            <a:endParaRPr b="0" i="0" sz="12000" u="none" cap="none" strike="noStrike">
              <a:solidFill>
                <a:srgbClr val="00FFBE"/>
              </a:solidFill>
              <a:latin typeface="Zalando Sans SemiBold"/>
              <a:ea typeface="Zalando Sans SemiBold"/>
              <a:cs typeface="Zalando Sans SemiBold"/>
              <a:sym typeface="Zalando Sans SemiBold"/>
            </a:endParaRPr>
          </a:p>
        </p:txBody>
      </p:sp>
      <p:sp>
        <p:nvSpPr>
          <p:cNvPr id="727" name="Google Shape;727;p81"/>
          <p:cNvSpPr txBox="1"/>
          <p:nvPr/>
        </p:nvSpPr>
        <p:spPr>
          <a:xfrm>
            <a:off x="3924175" y="533400"/>
            <a:ext cx="1295700" cy="1847100"/>
          </a:xfrm>
          <a:prstGeom prst="rect">
            <a:avLst/>
          </a:prstGeom>
          <a:noFill/>
          <a:ln>
            <a:noFill/>
          </a:ln>
        </p:spPr>
        <p:txBody>
          <a:bodyPr anchorCtr="0" anchor="ctr" bIns="0" lIns="0" spcFirstLastPara="1" rIns="0" wrap="square" tIns="0">
            <a:spAutoFit/>
          </a:bodyPr>
          <a:lstStyle/>
          <a:p>
            <a:pPr indent="0" lvl="0" marL="0" marR="0" rtl="0" algn="ctr">
              <a:lnSpc>
                <a:spcPct val="115000"/>
              </a:lnSpc>
              <a:spcBef>
                <a:spcPts val="0"/>
              </a:spcBef>
              <a:spcAft>
                <a:spcPts val="0"/>
              </a:spcAft>
              <a:buClr>
                <a:srgbClr val="000000"/>
              </a:buClr>
              <a:buSzPts val="12000"/>
              <a:buFont typeface="Arial"/>
              <a:buNone/>
            </a:pPr>
            <a:r>
              <a:rPr b="0" i="0" lang="en-US" sz="12000" u="none" cap="none" strike="noStrike">
                <a:solidFill>
                  <a:srgbClr val="00FFBE"/>
                </a:solidFill>
                <a:latin typeface="Zalando Sans SemiBold"/>
                <a:ea typeface="Zalando Sans SemiBold"/>
                <a:cs typeface="Zalando Sans SemiBold"/>
                <a:sym typeface="Zalando Sans SemiBold"/>
              </a:rPr>
              <a:t>“</a:t>
            </a:r>
            <a:endParaRPr b="0" i="0" sz="12000" u="none" cap="none" strike="noStrike">
              <a:solidFill>
                <a:srgbClr val="00FFBE"/>
              </a:solidFill>
              <a:latin typeface="Zalando Sans SemiBold"/>
              <a:ea typeface="Zalando Sans SemiBold"/>
              <a:cs typeface="Zalando Sans SemiBold"/>
              <a:sym typeface="Zalando Sans SemiBold"/>
            </a:endParaRPr>
          </a:p>
        </p:txBody>
      </p:sp>
      <p:sp>
        <p:nvSpPr>
          <p:cNvPr id="728" name="Google Shape;728;p81"/>
          <p:cNvSpPr txBox="1"/>
          <p:nvPr>
            <p:ph type="title"/>
          </p:nvPr>
        </p:nvSpPr>
        <p:spPr>
          <a:xfrm>
            <a:off x="1345842" y="1484186"/>
            <a:ext cx="6452316" cy="1586698"/>
          </a:xfrm>
          <a:prstGeom prst="rect">
            <a:avLst/>
          </a:prstGeom>
          <a:noFill/>
          <a:ln>
            <a:noFill/>
          </a:ln>
        </p:spPr>
        <p:txBody>
          <a:bodyPr anchorCtr="0" anchor="ctr" bIns="91425" lIns="91425" spcFirstLastPara="1" rIns="91425" wrap="square" tIns="91425">
            <a:noAutofit/>
          </a:bodyPr>
          <a:lstStyle>
            <a:lvl1pPr lvl="0" algn="ctr">
              <a:lnSpc>
                <a:spcPct val="90000"/>
              </a:lnSpc>
              <a:spcBef>
                <a:spcPts val="0"/>
              </a:spcBef>
              <a:spcAft>
                <a:spcPts val="0"/>
              </a:spcAft>
              <a:buClr>
                <a:srgbClr val="0020BB"/>
              </a:buClr>
              <a:buSzPts val="3600"/>
              <a:buFont typeface="Arial"/>
              <a:buNone/>
              <a:defRPr b="0" i="0" sz="2400">
                <a:solidFill>
                  <a:schemeClr val="lt1"/>
                </a:solidFill>
                <a:latin typeface="Zalando Sans ExtraLight"/>
                <a:ea typeface="Zalando Sans ExtraLight"/>
                <a:cs typeface="Zalando Sans ExtraLight"/>
                <a:sym typeface="Zalando Sans Extra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729" name="Google Shape;729;p81"/>
          <p:cNvPicPr preferRelativeResize="0"/>
          <p:nvPr/>
        </p:nvPicPr>
        <p:blipFill rotWithShape="1">
          <a:blip r:embed="rId3">
            <a:alphaModFix/>
          </a:blip>
          <a:srcRect b="0" l="0" r="0" t="0"/>
          <a:stretch/>
        </p:blipFill>
        <p:spPr>
          <a:xfrm>
            <a:off x="431876" y="425833"/>
            <a:ext cx="912027" cy="292608"/>
          </a:xfrm>
          <a:prstGeom prst="rect">
            <a:avLst/>
          </a:prstGeom>
          <a:noFill/>
          <a:ln>
            <a:noFill/>
          </a:ln>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slide 2">
  <p:cSld name="Thank you slide 2">
    <p:bg>
      <p:bgPr>
        <a:gradFill>
          <a:gsLst>
            <a:gs pos="0">
              <a:srgbClr val="0020BB"/>
            </a:gs>
            <a:gs pos="99000">
              <a:srgbClr val="011126"/>
            </a:gs>
            <a:gs pos="100000">
              <a:srgbClr val="011126"/>
            </a:gs>
          </a:gsLst>
          <a:lin ang="10800000" scaled="0"/>
        </a:gradFill>
      </p:bgPr>
    </p:bg>
    <p:spTree>
      <p:nvGrpSpPr>
        <p:cNvPr id="994" name="Shape 994"/>
        <p:cNvGrpSpPr/>
        <p:nvPr/>
      </p:nvGrpSpPr>
      <p:grpSpPr>
        <a:xfrm>
          <a:off x="0" y="0"/>
          <a:ext cx="0" cy="0"/>
          <a:chOff x="0" y="0"/>
          <a:chExt cx="0" cy="0"/>
        </a:xfrm>
      </p:grpSpPr>
      <p:pic>
        <p:nvPicPr>
          <p:cNvPr descr="A blue and green circle&#10;&#10;AI-generated content may be incorrect." id="995" name="Google Shape;995;p105"/>
          <p:cNvPicPr preferRelativeResize="0"/>
          <p:nvPr/>
        </p:nvPicPr>
        <p:blipFill rotWithShape="1">
          <a:blip r:embed="rId2">
            <a:alphaModFix/>
          </a:blip>
          <a:srcRect b="0" l="0" r="0" t="0"/>
          <a:stretch/>
        </p:blipFill>
        <p:spPr>
          <a:xfrm>
            <a:off x="3767685" y="1"/>
            <a:ext cx="5376315" cy="5143500"/>
          </a:xfrm>
          <a:prstGeom prst="rect">
            <a:avLst/>
          </a:prstGeom>
          <a:noFill/>
          <a:ln>
            <a:noFill/>
          </a:ln>
        </p:spPr>
      </p:pic>
      <p:sp>
        <p:nvSpPr>
          <p:cNvPr id="996" name="Google Shape;996;p105"/>
          <p:cNvSpPr txBox="1"/>
          <p:nvPr/>
        </p:nvSpPr>
        <p:spPr>
          <a:xfrm>
            <a:off x="403981" y="2356293"/>
            <a:ext cx="4041547" cy="83099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4800" u="none" cap="none" strike="noStrike">
                <a:solidFill>
                  <a:schemeClr val="lt1"/>
                </a:solidFill>
                <a:latin typeface="Zalando Sans ExtraLight"/>
                <a:ea typeface="Zalando Sans ExtraLight"/>
                <a:cs typeface="Zalando Sans ExtraLight"/>
                <a:sym typeface="Zalando Sans ExtraLight"/>
              </a:rPr>
              <a:t>Thank You!</a:t>
            </a:r>
            <a:endParaRPr/>
          </a:p>
        </p:txBody>
      </p:sp>
      <p:pic>
        <p:nvPicPr>
          <p:cNvPr id="997" name="Google Shape;997;p105"/>
          <p:cNvPicPr preferRelativeResize="0"/>
          <p:nvPr/>
        </p:nvPicPr>
        <p:blipFill rotWithShape="1">
          <a:blip r:embed="rId3">
            <a:alphaModFix/>
          </a:blip>
          <a:srcRect b="0" l="0" r="0" t="0"/>
          <a:stretch/>
        </p:blipFill>
        <p:spPr>
          <a:xfrm>
            <a:off x="1973303" y="1696874"/>
            <a:ext cx="902902" cy="28968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5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7.xml"/><Relationship Id="rId10" Type="http://schemas.openxmlformats.org/officeDocument/2006/relationships/slideLayout" Target="../slideLayouts/slideLayout66.xml"/><Relationship Id="rId12" Type="http://schemas.openxmlformats.org/officeDocument/2006/relationships/slideLayout" Target="../slideLayouts/slideLayout68.xml"/><Relationship Id="rId23" Type="http://schemas.openxmlformats.org/officeDocument/2006/relationships/slideLayout" Target="../slideLayouts/slideLayout79.xml"/><Relationship Id="rId47" Type="http://schemas.openxmlformats.org/officeDocument/2006/relationships/slideLayout" Target="../slideLayouts/slideLayout103.xml"/><Relationship Id="rId6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959550" y="1526025"/>
            <a:ext cx="4050000" cy="84660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rgbClr val="0020BB"/>
              </a:buClr>
              <a:buSzPts val="2800"/>
              <a:buFont typeface="Zalando Sans ExtraLight"/>
              <a:buNone/>
              <a:defRPr i="0" sz="2800" u="none" cap="none" strike="noStrike">
                <a:solidFill>
                  <a:srgbClr val="0020BB"/>
                </a:solidFill>
                <a:latin typeface="Zalando Sans ExtraLight"/>
                <a:ea typeface="Zalando Sans ExtraLight"/>
                <a:cs typeface="Zalando Sans ExtraLight"/>
                <a:sym typeface="Zalando Sans ExtraLight"/>
              </a:defRPr>
            </a:lvl1pPr>
            <a:lvl2pPr lvl="1">
              <a:spcBef>
                <a:spcPts val="0"/>
              </a:spcBef>
              <a:spcAft>
                <a:spcPts val="0"/>
              </a:spcAft>
              <a:buSzPts val="1400"/>
              <a:buFont typeface="Arial"/>
              <a:buNone/>
              <a:defRPr sz="1800"/>
            </a:lvl2pPr>
            <a:lvl3pPr lvl="2">
              <a:spcBef>
                <a:spcPts val="0"/>
              </a:spcBef>
              <a:spcAft>
                <a:spcPts val="0"/>
              </a:spcAft>
              <a:buSzPts val="1400"/>
              <a:buFont typeface="Arial"/>
              <a:buNone/>
              <a:defRPr sz="1800"/>
            </a:lvl3pPr>
            <a:lvl4pPr lvl="3">
              <a:spcBef>
                <a:spcPts val="0"/>
              </a:spcBef>
              <a:spcAft>
                <a:spcPts val="0"/>
              </a:spcAft>
              <a:buSzPts val="1400"/>
              <a:buFont typeface="Arial"/>
              <a:buNone/>
              <a:defRPr sz="1800"/>
            </a:lvl4pPr>
            <a:lvl5pPr lvl="4">
              <a:spcBef>
                <a:spcPts val="0"/>
              </a:spcBef>
              <a:spcAft>
                <a:spcPts val="0"/>
              </a:spcAft>
              <a:buSzPts val="1400"/>
              <a:buFont typeface="Arial"/>
              <a:buNone/>
              <a:defRPr sz="1800"/>
            </a:lvl5pPr>
            <a:lvl6pPr lvl="5">
              <a:spcBef>
                <a:spcPts val="0"/>
              </a:spcBef>
              <a:spcAft>
                <a:spcPts val="0"/>
              </a:spcAft>
              <a:buSzPts val="1400"/>
              <a:buFont typeface="Arial"/>
              <a:buNone/>
              <a:defRPr sz="1800"/>
            </a:lvl6pPr>
            <a:lvl7pPr lvl="6">
              <a:spcBef>
                <a:spcPts val="0"/>
              </a:spcBef>
              <a:spcAft>
                <a:spcPts val="0"/>
              </a:spcAft>
              <a:buSzPts val="1400"/>
              <a:buFont typeface="Arial"/>
              <a:buNone/>
              <a:defRPr sz="1800"/>
            </a:lvl7pPr>
            <a:lvl8pPr lvl="7">
              <a:spcBef>
                <a:spcPts val="0"/>
              </a:spcBef>
              <a:spcAft>
                <a:spcPts val="0"/>
              </a:spcAft>
              <a:buSzPts val="1400"/>
              <a:buFont typeface="Arial"/>
              <a:buNone/>
              <a:defRPr sz="1800"/>
            </a:lvl8pPr>
            <a:lvl9pPr lvl="8">
              <a:spcBef>
                <a:spcPts val="0"/>
              </a:spcBef>
              <a:spcAft>
                <a:spcPts val="0"/>
              </a:spcAft>
              <a:buSzPts val="1400"/>
              <a:buFont typeface="Arial"/>
              <a:buNone/>
              <a:defRPr sz="1800"/>
            </a:lvl9pPr>
          </a:lstStyle>
          <a:p/>
        </p:txBody>
      </p:sp>
      <p:sp>
        <p:nvSpPr>
          <p:cNvPr id="7" name="Google Shape;7;p1"/>
          <p:cNvSpPr txBox="1"/>
          <p:nvPr/>
        </p:nvSpPr>
        <p:spPr>
          <a:xfrm>
            <a:off x="2128750" y="2623525"/>
            <a:ext cx="4050000" cy="1553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Zalando Sans Light"/>
              <a:ea typeface="Zalando Sans Light"/>
              <a:cs typeface="Zalando Sans Light"/>
              <a:sym typeface="Zalando Sans Light"/>
            </a:endParaRPr>
          </a:p>
        </p:txBody>
      </p:sp>
      <p:sp>
        <p:nvSpPr>
          <p:cNvPr id="8" name="Google Shape;8;p1"/>
          <p:cNvSpPr txBox="1"/>
          <p:nvPr>
            <p:ph idx="1" type="body"/>
          </p:nvPr>
        </p:nvSpPr>
        <p:spPr>
          <a:xfrm>
            <a:off x="2094225" y="2646550"/>
            <a:ext cx="4729200" cy="15534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Font typeface="Zalando Sans Light"/>
              <a:buChar char="●"/>
              <a:defRPr>
                <a:latin typeface="Zalando Sans Light"/>
                <a:ea typeface="Zalando Sans Light"/>
                <a:cs typeface="Zalando Sans Light"/>
                <a:sym typeface="Zalando Sans Light"/>
              </a:defRPr>
            </a:lvl1pPr>
            <a:lvl2pPr indent="-317500" lvl="1" marL="914400">
              <a:spcBef>
                <a:spcPts val="0"/>
              </a:spcBef>
              <a:spcAft>
                <a:spcPts val="0"/>
              </a:spcAft>
              <a:buSzPts val="1400"/>
              <a:buFont typeface="Zalando Sans Light"/>
              <a:buChar char="○"/>
              <a:defRPr>
                <a:latin typeface="Zalando Sans Light"/>
                <a:ea typeface="Zalando Sans Light"/>
                <a:cs typeface="Zalando Sans Light"/>
                <a:sym typeface="Zalando Sans Light"/>
              </a:defRPr>
            </a:lvl2pPr>
            <a:lvl3pPr indent="-317500" lvl="2" marL="1371600">
              <a:spcBef>
                <a:spcPts val="0"/>
              </a:spcBef>
              <a:spcAft>
                <a:spcPts val="0"/>
              </a:spcAft>
              <a:buSzPts val="1400"/>
              <a:buFont typeface="Zalando Sans Light"/>
              <a:buChar char="■"/>
              <a:defRPr>
                <a:latin typeface="Zalando Sans Light"/>
                <a:ea typeface="Zalando Sans Light"/>
                <a:cs typeface="Zalando Sans Light"/>
                <a:sym typeface="Zalando Sans Light"/>
              </a:defRPr>
            </a:lvl3pPr>
            <a:lvl4pPr indent="-317500" lvl="3" marL="1828800">
              <a:spcBef>
                <a:spcPts val="0"/>
              </a:spcBef>
              <a:spcAft>
                <a:spcPts val="0"/>
              </a:spcAft>
              <a:buSzPts val="1400"/>
              <a:buFont typeface="Zalando Sans Light"/>
              <a:buChar char="●"/>
              <a:defRPr>
                <a:latin typeface="Zalando Sans Light"/>
                <a:ea typeface="Zalando Sans Light"/>
                <a:cs typeface="Zalando Sans Light"/>
                <a:sym typeface="Zalando Sans Light"/>
              </a:defRPr>
            </a:lvl4pPr>
            <a:lvl5pPr indent="-317500" lvl="4" marL="2286000">
              <a:spcBef>
                <a:spcPts val="0"/>
              </a:spcBef>
              <a:spcAft>
                <a:spcPts val="0"/>
              </a:spcAft>
              <a:buSzPts val="1400"/>
              <a:buFont typeface="Zalando Sans Light"/>
              <a:buChar char="○"/>
              <a:defRPr>
                <a:latin typeface="Zalando Sans Light"/>
                <a:ea typeface="Zalando Sans Light"/>
                <a:cs typeface="Zalando Sans Light"/>
                <a:sym typeface="Zalando Sans Light"/>
              </a:defRPr>
            </a:lvl5pPr>
            <a:lvl6pPr indent="-317500" lvl="5" marL="2743200">
              <a:spcBef>
                <a:spcPts val="0"/>
              </a:spcBef>
              <a:spcAft>
                <a:spcPts val="0"/>
              </a:spcAft>
              <a:buSzPts val="1400"/>
              <a:buFont typeface="Zalando Sans Light"/>
              <a:buChar char="■"/>
              <a:defRPr>
                <a:latin typeface="Zalando Sans Light"/>
                <a:ea typeface="Zalando Sans Light"/>
                <a:cs typeface="Zalando Sans Light"/>
                <a:sym typeface="Zalando Sans Light"/>
              </a:defRPr>
            </a:lvl6pPr>
            <a:lvl7pPr indent="-317500" lvl="6" marL="3200400">
              <a:spcBef>
                <a:spcPts val="0"/>
              </a:spcBef>
              <a:spcAft>
                <a:spcPts val="0"/>
              </a:spcAft>
              <a:buSzPts val="1400"/>
              <a:buFont typeface="Zalando Sans Light"/>
              <a:buChar char="●"/>
              <a:defRPr>
                <a:latin typeface="Zalando Sans Light"/>
                <a:ea typeface="Zalando Sans Light"/>
                <a:cs typeface="Zalando Sans Light"/>
                <a:sym typeface="Zalando Sans Light"/>
              </a:defRPr>
            </a:lvl7pPr>
            <a:lvl8pPr indent="-317500" lvl="7" marL="3657600">
              <a:spcBef>
                <a:spcPts val="0"/>
              </a:spcBef>
              <a:spcAft>
                <a:spcPts val="0"/>
              </a:spcAft>
              <a:buSzPts val="1400"/>
              <a:buFont typeface="Zalando Sans Light"/>
              <a:buChar char="○"/>
              <a:defRPr>
                <a:latin typeface="Zalando Sans Light"/>
                <a:ea typeface="Zalando Sans Light"/>
                <a:cs typeface="Zalando Sans Light"/>
                <a:sym typeface="Zalando Sans Light"/>
              </a:defRPr>
            </a:lvl8pPr>
            <a:lvl9pPr indent="-317500" lvl="8" marL="4114800">
              <a:spcBef>
                <a:spcPts val="0"/>
              </a:spcBef>
              <a:spcAft>
                <a:spcPts val="0"/>
              </a:spcAft>
              <a:buSzPts val="1400"/>
              <a:buFont typeface="Zalando Sans Light"/>
              <a:buChar char="■"/>
              <a:defRPr>
                <a:latin typeface="Zalando Sans Light"/>
                <a:ea typeface="Zalando Sans Light"/>
                <a:cs typeface="Zalando Sans Light"/>
                <a:sym typeface="Zalando Sans Light"/>
              </a:defRPr>
            </a:lvl9pPr>
          </a:lstStyle>
          <a:p/>
        </p:txBody>
      </p:sp>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533" name="Shape 533"/>
        <p:cNvGrpSpPr/>
        <p:nvPr/>
      </p:nvGrpSpPr>
      <p:grpSpPr>
        <a:xfrm>
          <a:off x="0" y="0"/>
          <a:ext cx="0" cy="0"/>
          <a:chOff x="0" y="0"/>
          <a:chExt cx="0" cy="0"/>
        </a:xfrm>
      </p:grpSpPr>
      <p:sp>
        <p:nvSpPr>
          <p:cNvPr id="534" name="Google Shape;534;p58"/>
          <p:cNvSpPr txBox="1"/>
          <p:nvPr>
            <p:ph type="title"/>
          </p:nvPr>
        </p:nvSpPr>
        <p:spPr>
          <a:xfrm>
            <a:off x="628650" y="274638"/>
            <a:ext cx="7886700" cy="993775"/>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011126"/>
              </a:buClr>
              <a:buSzPts val="4400"/>
              <a:buFont typeface="Zalando Sans Light"/>
              <a:buNone/>
              <a:defRPr b="0" i="0" sz="4400" u="none" cap="none" strike="noStrike">
                <a:solidFill>
                  <a:srgbClr val="011126"/>
                </a:solidFill>
                <a:latin typeface="Zalando Sans Light"/>
                <a:ea typeface="Zalando Sans Light"/>
                <a:cs typeface="Zalando Sans Light"/>
                <a:sym typeface="Zalando Sans Light"/>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35" name="Google Shape;535;p58"/>
          <p:cNvSpPr txBox="1"/>
          <p:nvPr>
            <p:ph idx="1" type="body"/>
          </p:nvPr>
        </p:nvSpPr>
        <p:spPr>
          <a:xfrm>
            <a:off x="628650" y="1370013"/>
            <a:ext cx="7886700" cy="3262312"/>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3C3C3C"/>
              </a:buClr>
              <a:buSzPts val="2800"/>
              <a:buFont typeface="Arial"/>
              <a:buChar char="•"/>
              <a:defRPr b="0" i="0" sz="2800" u="none" cap="none" strike="noStrike">
                <a:solidFill>
                  <a:srgbClr val="3C3C3C"/>
                </a:solidFill>
                <a:latin typeface="Zalando Sans Light"/>
                <a:ea typeface="Zalando Sans Light"/>
                <a:cs typeface="Zalando Sans Light"/>
                <a:sym typeface="Zalando Sans Light"/>
              </a:defRPr>
            </a:lvl1pPr>
            <a:lvl2pPr indent="-381000" lvl="1" marL="914400" marR="0" rtl="0" algn="l">
              <a:lnSpc>
                <a:spcPct val="90000"/>
              </a:lnSpc>
              <a:spcBef>
                <a:spcPts val="500"/>
              </a:spcBef>
              <a:spcAft>
                <a:spcPts val="0"/>
              </a:spcAft>
              <a:buClr>
                <a:srgbClr val="3C3C3C"/>
              </a:buClr>
              <a:buSzPts val="2400"/>
              <a:buFont typeface="Arial"/>
              <a:buChar char="•"/>
              <a:defRPr b="0" i="0" sz="2400" u="none" cap="none" strike="noStrike">
                <a:solidFill>
                  <a:srgbClr val="3C3C3C"/>
                </a:solidFill>
                <a:latin typeface="Zalando Sans Light"/>
                <a:ea typeface="Zalando Sans Light"/>
                <a:cs typeface="Zalando Sans Light"/>
                <a:sym typeface="Zalando Sans Light"/>
              </a:defRPr>
            </a:lvl2pPr>
            <a:lvl3pPr indent="-355600" lvl="2" marL="1371600" marR="0" rtl="0" algn="l">
              <a:lnSpc>
                <a:spcPct val="90000"/>
              </a:lnSpc>
              <a:spcBef>
                <a:spcPts val="500"/>
              </a:spcBef>
              <a:spcAft>
                <a:spcPts val="0"/>
              </a:spcAft>
              <a:buClr>
                <a:srgbClr val="3C3C3C"/>
              </a:buClr>
              <a:buSzPts val="2000"/>
              <a:buFont typeface="Arial"/>
              <a:buChar char="•"/>
              <a:defRPr b="0" i="0" sz="2000" u="none" cap="none" strike="noStrike">
                <a:solidFill>
                  <a:srgbClr val="3C3C3C"/>
                </a:solidFill>
                <a:latin typeface="Zalando Sans Light"/>
                <a:ea typeface="Zalando Sans Light"/>
                <a:cs typeface="Zalando Sans Light"/>
                <a:sym typeface="Zalando Sans Light"/>
              </a:defRPr>
            </a:lvl3pPr>
            <a:lvl4pPr indent="-342900" lvl="3" marL="1828800" marR="0" rtl="0" algn="l">
              <a:lnSpc>
                <a:spcPct val="90000"/>
              </a:lnSpc>
              <a:spcBef>
                <a:spcPts val="500"/>
              </a:spcBef>
              <a:spcAft>
                <a:spcPts val="0"/>
              </a:spcAft>
              <a:buClr>
                <a:srgbClr val="3C3C3C"/>
              </a:buClr>
              <a:buSzPts val="1800"/>
              <a:buFont typeface="Arial"/>
              <a:buChar char="•"/>
              <a:defRPr b="0" i="0" sz="1800" u="none" cap="none" strike="noStrike">
                <a:solidFill>
                  <a:srgbClr val="3C3C3C"/>
                </a:solidFill>
                <a:latin typeface="Zalando Sans Light"/>
                <a:ea typeface="Zalando Sans Light"/>
                <a:cs typeface="Zalando Sans Light"/>
                <a:sym typeface="Zalando Sans Light"/>
              </a:defRPr>
            </a:lvl4pPr>
            <a:lvl5pPr indent="-342900" lvl="4" marL="2286000" marR="0" rtl="0" algn="l">
              <a:lnSpc>
                <a:spcPct val="90000"/>
              </a:lnSpc>
              <a:spcBef>
                <a:spcPts val="500"/>
              </a:spcBef>
              <a:spcAft>
                <a:spcPts val="0"/>
              </a:spcAft>
              <a:buClr>
                <a:srgbClr val="3C3C3C"/>
              </a:buClr>
              <a:buSzPts val="1800"/>
              <a:buFont typeface="Arial"/>
              <a:buChar char="•"/>
              <a:defRPr b="0" i="0" sz="1800" u="none" cap="none" strike="noStrike">
                <a:solidFill>
                  <a:srgbClr val="3C3C3C"/>
                </a:solidFill>
                <a:latin typeface="Zalando Sans Light"/>
                <a:ea typeface="Zalando Sans Light"/>
                <a:cs typeface="Zalando Sans Light"/>
                <a:sym typeface="Zalando Sans Light"/>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36" name="Google Shape;536;p58"/>
          <p:cNvSpPr txBox="1"/>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US" sz="800" u="none" cap="none" strike="noStrike">
                <a:solidFill>
                  <a:srgbClr val="C4C4C4"/>
                </a:solidFill>
                <a:latin typeface="Public Sans Light"/>
                <a:ea typeface="Public Sans Light"/>
                <a:cs typeface="Public Sans Light"/>
                <a:sym typeface="Public Sans Light"/>
              </a:rPr>
              <a:t>‹#›</a:t>
            </a:fld>
            <a:endParaRPr b="0" i="0" sz="600" u="none" cap="none" strike="noStrike">
              <a:solidFill>
                <a:srgbClr val="C4C4C4"/>
              </a:solidFill>
              <a:latin typeface="Public Sans Light"/>
              <a:ea typeface="Public Sans Light"/>
              <a:cs typeface="Public Sans Light"/>
              <a:sym typeface="Public Sans Light"/>
            </a:endParaRPr>
          </a:p>
        </p:txBody>
      </p:sp>
    </p:spTree>
  </p:cSld>
  <p:clrMap accent1="accent1" accent2="accent2" accent3="accent3" accent4="accent4" accent5="accent5" accent6="accent6" bg1="lt1" bg2="dk2" tx1="dk1" tx2="lt2" folHlink="folHlink" hlink="hlink"/>
  <p:sldLayoutIdLst>
    <p:sldLayoutId id="2147483704" r:id="rId1"/>
    <p:sldLayoutId id="2147483713" r:id="rId10"/>
    <p:sldLayoutId id="2147483715" r:id="rId12"/>
    <p:sldLayoutId id="2147483726" r:id="rId23"/>
    <p:sldLayoutId id="2147483750" r:id="rId4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5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6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6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6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6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6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6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6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6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68.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6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7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9.xml"/><Relationship Id="rId2" Type="http://schemas.openxmlformats.org/officeDocument/2006/relationships/notesSlide" Target="../notesSlides/notesSlide7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7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7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7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7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7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7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7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7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8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8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8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8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8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8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03.xml"/><Relationship Id="rId2" Type="http://schemas.openxmlformats.org/officeDocument/2006/relationships/notesSlide" Target="../notesSlides/notesSlide86.xml"/></Relationships>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4000"/>
              <a:t>Building Agentic</a:t>
            </a:r>
            <a:br/>
            <a:r>
              <a:rPr sz="4000"/>
              <a:t>Platforms</a:t>
            </a:r>
          </a:p>
        </p:txBody>
      </p:sp>
      <p:sp>
        <p:nvSpPr>
          <p:cNvPr id="3" name="Text Placeholder 2"/>
          <p:cNvSpPr>
            <a:spLocks noGrp="1"/>
          </p:cNvSpPr>
          <p:nvPr>
            <p:ph type="body" idx="1"/>
          </p:nvPr>
        </p:nvSpPr>
        <p:spPr/>
        <p:txBody>
          <a:bodyPr/>
          <a:lstStyle/>
          <a:p>
            <a:r>
              <a:t>Innovate · L3 · Session 01 of 12 · 21 October 2026</a:t>
            </a:r>
          </a:p>
        </p:txBody>
      </p:sp>
      <p:sp>
        <p:nvSpPr>
          <p:cNvPr id="4" name="Text Placeholder 3"/>
          <p:cNvSpPr>
            <a:spLocks noGrp="1"/>
          </p:cNvSpPr>
          <p:nvPr>
            <p:ph type="body" idx="2"/>
          </p:nvPr>
        </p:nvSpPr>
        <p:spPr/>
        <p:txBody>
          <a:bodyPr/>
          <a:lstStyle/>
          <a:p>
            <a:r>
              <a:t>Agent architecture and the ReAct runtime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course at a glance</a:t>
            </a:r>
          </a:p>
        </p:txBody>
      </p:sp>
      <p:sp>
        <p:nvSpPr>
          <p:cNvPr id="3" name="Rounded Rectangle 2"/>
          <p:cNvSpPr/>
          <p:nvPr/>
        </p:nvSpPr>
        <p:spPr>
          <a:xfrm>
            <a:off x="365760" y="1234440"/>
            <a:ext cx="1947672" cy="2194560"/>
          </a:xfrm>
          <a:prstGeom prst="roundRect">
            <a:avLst>
              <a:gd name="adj" fmla="val 3755"/>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1371600"/>
            <a:ext cx="1645920" cy="914400"/>
          </a:xfrm>
          <a:prstGeom prst="rect">
            <a:avLst/>
          </a:prstGeom>
          <a:noFill/>
        </p:spPr>
        <p:txBody>
          <a:bodyPr wrap="square" anchor="t" lIns="0" rIns="0" tIns="0" bIns="0">
            <a:spAutoFit/>
          </a:bodyPr>
          <a:lstStyle/>
          <a:p>
            <a:pPr algn="l">
              <a:spcAft>
                <a:spcPts val="400"/>
              </a:spcAft>
            </a:pPr>
            <a:r>
              <a:rPr sz="5400">
                <a:solidFill>
                  <a:srgbClr val="0020BB"/>
                </a:solidFill>
                <a:latin typeface="Zalando Sans ExtraLight"/>
              </a:rPr>
              <a:t>12</a:t>
            </a:r>
          </a:p>
        </p:txBody>
      </p:sp>
      <p:sp>
        <p:nvSpPr>
          <p:cNvPr id="5" name="TextBox 4"/>
          <p:cNvSpPr txBox="1"/>
          <p:nvPr/>
        </p:nvSpPr>
        <p:spPr>
          <a:xfrm>
            <a:off x="548640" y="2377440"/>
            <a:ext cx="1645920" cy="914400"/>
          </a:xfrm>
          <a:prstGeom prst="rect">
            <a:avLst/>
          </a:prstGeom>
          <a:noFill/>
        </p:spPr>
        <p:txBody>
          <a:bodyPr wrap="square" anchor="t" lIns="0" rIns="0" tIns="0" bIns="0">
            <a:spAutoFit/>
          </a:bodyPr>
          <a:lstStyle/>
          <a:p>
            <a:pPr algn="l">
              <a:spcAft>
                <a:spcPts val="400"/>
              </a:spcAft>
            </a:pPr>
            <a:r>
              <a:rPr sz="1300">
                <a:solidFill>
                  <a:srgbClr val="011126"/>
                </a:solidFill>
                <a:latin typeface="Zalando Sans Medium"/>
              </a:rPr>
              <a:t>sessions, one platform</a:t>
            </a:r>
          </a:p>
          <a:p>
            <a:pPr algn="l">
              <a:spcAft>
                <a:spcPts val="400"/>
              </a:spcAft>
            </a:pPr>
            <a:r>
              <a:rPr sz="1100">
                <a:solidFill>
                  <a:srgbClr val="3C3C3C"/>
                </a:solidFill>
                <a:latin typeface="Zalando Sans Light"/>
              </a:rPr>
              <a:t>built step by step</a:t>
            </a:r>
          </a:p>
        </p:txBody>
      </p:sp>
      <p:sp>
        <p:nvSpPr>
          <p:cNvPr id="6" name="Rounded Rectangle 5"/>
          <p:cNvSpPr/>
          <p:nvPr/>
        </p:nvSpPr>
        <p:spPr>
          <a:xfrm>
            <a:off x="2496312" y="1234440"/>
            <a:ext cx="1947672" cy="2194560"/>
          </a:xfrm>
          <a:prstGeom prst="roundRect">
            <a:avLst>
              <a:gd name="adj" fmla="val 3755"/>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2679192" y="1371600"/>
            <a:ext cx="1645920" cy="914400"/>
          </a:xfrm>
          <a:prstGeom prst="rect">
            <a:avLst/>
          </a:prstGeom>
          <a:noFill/>
        </p:spPr>
        <p:txBody>
          <a:bodyPr wrap="square" anchor="t" lIns="0" rIns="0" tIns="0" bIns="0">
            <a:spAutoFit/>
          </a:bodyPr>
          <a:lstStyle/>
          <a:p>
            <a:pPr algn="l">
              <a:spcAft>
                <a:spcPts val="400"/>
              </a:spcAft>
            </a:pPr>
            <a:r>
              <a:rPr sz="5400">
                <a:solidFill>
                  <a:srgbClr val="0020BB"/>
                </a:solidFill>
                <a:latin typeface="Zalando Sans ExtraLight"/>
              </a:rPr>
              <a:t>20</a:t>
            </a:r>
          </a:p>
        </p:txBody>
      </p:sp>
      <p:sp>
        <p:nvSpPr>
          <p:cNvPr id="8" name="TextBox 7"/>
          <p:cNvSpPr txBox="1"/>
          <p:nvPr/>
        </p:nvSpPr>
        <p:spPr>
          <a:xfrm>
            <a:off x="2679192" y="2377440"/>
            <a:ext cx="1645920" cy="914400"/>
          </a:xfrm>
          <a:prstGeom prst="rect">
            <a:avLst/>
          </a:prstGeom>
          <a:noFill/>
        </p:spPr>
        <p:txBody>
          <a:bodyPr wrap="square" anchor="t" lIns="0" rIns="0" tIns="0" bIns="0">
            <a:spAutoFit/>
          </a:bodyPr>
          <a:lstStyle/>
          <a:p>
            <a:pPr algn="l">
              <a:spcAft>
                <a:spcPts val="400"/>
              </a:spcAft>
            </a:pPr>
            <a:r>
              <a:rPr sz="1300">
                <a:solidFill>
                  <a:srgbClr val="011126"/>
                </a:solidFill>
                <a:latin typeface="Zalando Sans Medium"/>
              </a:rPr>
              <a:t>contact hours</a:t>
            </a:r>
          </a:p>
          <a:p>
            <a:pPr algn="l">
              <a:spcAft>
                <a:spcPts val="400"/>
              </a:spcAft>
            </a:pPr>
            <a:r>
              <a:rPr sz="1100">
                <a:solidFill>
                  <a:srgbClr val="3C3C3C"/>
                </a:solidFill>
                <a:latin typeface="Zalando Sans Light"/>
              </a:rPr>
              <a:t>plus practice after class</a:t>
            </a:r>
          </a:p>
        </p:txBody>
      </p:sp>
      <p:sp>
        <p:nvSpPr>
          <p:cNvPr id="9" name="Rounded Rectangle 8"/>
          <p:cNvSpPr/>
          <p:nvPr/>
        </p:nvSpPr>
        <p:spPr>
          <a:xfrm>
            <a:off x="4626864" y="1234440"/>
            <a:ext cx="1947672" cy="2194560"/>
          </a:xfrm>
          <a:prstGeom prst="roundRect">
            <a:avLst>
              <a:gd name="adj" fmla="val 3755"/>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809744" y="1371600"/>
            <a:ext cx="1645920" cy="914400"/>
          </a:xfrm>
          <a:prstGeom prst="rect">
            <a:avLst/>
          </a:prstGeom>
          <a:noFill/>
        </p:spPr>
        <p:txBody>
          <a:bodyPr wrap="square" anchor="t" lIns="0" rIns="0" tIns="0" bIns="0">
            <a:spAutoFit/>
          </a:bodyPr>
          <a:lstStyle/>
          <a:p>
            <a:pPr algn="l">
              <a:spcAft>
                <a:spcPts val="400"/>
              </a:spcAft>
            </a:pPr>
            <a:r>
              <a:rPr sz="5400">
                <a:solidFill>
                  <a:srgbClr val="0020BB"/>
                </a:solidFill>
                <a:latin typeface="Zalando Sans ExtraLight"/>
              </a:rPr>
              <a:t>1</a:t>
            </a:r>
          </a:p>
        </p:txBody>
      </p:sp>
      <p:sp>
        <p:nvSpPr>
          <p:cNvPr id="11" name="TextBox 10"/>
          <p:cNvSpPr txBox="1"/>
          <p:nvPr/>
        </p:nvSpPr>
        <p:spPr>
          <a:xfrm>
            <a:off x="4809744" y="2377440"/>
            <a:ext cx="1645920" cy="914400"/>
          </a:xfrm>
          <a:prstGeom prst="rect">
            <a:avLst/>
          </a:prstGeom>
          <a:noFill/>
        </p:spPr>
        <p:txBody>
          <a:bodyPr wrap="square" anchor="t" lIns="0" rIns="0" tIns="0" bIns="0">
            <a:spAutoFit/>
          </a:bodyPr>
          <a:lstStyle/>
          <a:p>
            <a:pPr algn="l">
              <a:spcAft>
                <a:spcPts val="400"/>
              </a:spcAft>
            </a:pPr>
            <a:r>
              <a:rPr sz="1300">
                <a:solidFill>
                  <a:srgbClr val="011126"/>
                </a:solidFill>
                <a:latin typeface="Zalando Sans Medium"/>
              </a:rPr>
              <a:t>platform you build</a:t>
            </a:r>
          </a:p>
          <a:p>
            <a:pPr algn="l">
              <a:spcAft>
                <a:spcPts val="400"/>
              </a:spcAft>
            </a:pPr>
            <a:r>
              <a:rPr sz="1100">
                <a:solidFill>
                  <a:srgbClr val="3C3C3C"/>
                </a:solidFill>
                <a:latin typeface="Zalando Sans Light"/>
              </a:rPr>
              <a:t>agents, tools, identity, console</a:t>
            </a:r>
          </a:p>
        </p:txBody>
      </p:sp>
      <p:sp>
        <p:nvSpPr>
          <p:cNvPr id="12" name="Rounded Rectangle 11"/>
          <p:cNvSpPr/>
          <p:nvPr/>
        </p:nvSpPr>
        <p:spPr>
          <a:xfrm>
            <a:off x="6757416" y="1234440"/>
            <a:ext cx="1947672" cy="2194560"/>
          </a:xfrm>
          <a:prstGeom prst="roundRect">
            <a:avLst>
              <a:gd name="adj" fmla="val 3755"/>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940296" y="1371600"/>
            <a:ext cx="1645920" cy="914400"/>
          </a:xfrm>
          <a:prstGeom prst="rect">
            <a:avLst/>
          </a:prstGeom>
          <a:noFill/>
        </p:spPr>
        <p:txBody>
          <a:bodyPr wrap="square" anchor="t" lIns="0" rIns="0" tIns="0" bIns="0">
            <a:spAutoFit/>
          </a:bodyPr>
          <a:lstStyle/>
          <a:p>
            <a:pPr algn="l">
              <a:spcAft>
                <a:spcPts val="400"/>
              </a:spcAft>
            </a:pPr>
            <a:r>
              <a:rPr sz="5400">
                <a:solidFill>
                  <a:srgbClr val="0020BB"/>
                </a:solidFill>
                <a:latin typeface="Zalando Sans ExtraLight"/>
              </a:rPr>
              <a:t>0</a:t>
            </a:r>
          </a:p>
        </p:txBody>
      </p:sp>
      <p:sp>
        <p:nvSpPr>
          <p:cNvPr id="14" name="TextBox 13"/>
          <p:cNvSpPr txBox="1"/>
          <p:nvPr/>
        </p:nvSpPr>
        <p:spPr>
          <a:xfrm>
            <a:off x="6940296" y="2377440"/>
            <a:ext cx="1645920" cy="914400"/>
          </a:xfrm>
          <a:prstGeom prst="rect">
            <a:avLst/>
          </a:prstGeom>
          <a:noFill/>
        </p:spPr>
        <p:txBody>
          <a:bodyPr wrap="square" anchor="t" lIns="0" rIns="0" tIns="0" bIns="0">
            <a:spAutoFit/>
          </a:bodyPr>
          <a:lstStyle/>
          <a:p>
            <a:pPr algn="l">
              <a:spcAft>
                <a:spcPts val="400"/>
              </a:spcAft>
            </a:pPr>
            <a:r>
              <a:rPr sz="1300">
                <a:solidFill>
                  <a:srgbClr val="011126"/>
                </a:solidFill>
                <a:latin typeface="Zalando Sans Medium"/>
              </a:rPr>
              <a:t>API keys needed</a:t>
            </a:r>
          </a:p>
          <a:p>
            <a:pPr algn="l">
              <a:spcAft>
                <a:spcPts val="400"/>
              </a:spcAft>
            </a:pPr>
            <a:r>
              <a:rPr sz="1100">
                <a:solidFill>
                  <a:srgbClr val="3C3C3C"/>
                </a:solidFill>
                <a:latin typeface="Zalando Sans Light"/>
              </a:rPr>
              <a:t>offline mock model</a:t>
            </a:r>
          </a:p>
        </p:txBody>
      </p:sp>
      <p:sp>
        <p:nvSpPr>
          <p:cNvPr id="15" name="TextBox 14"/>
          <p:cNvSpPr txBox="1"/>
          <p:nvPr/>
        </p:nvSpPr>
        <p:spPr>
          <a:xfrm>
            <a:off x="365760" y="3749039"/>
            <a:ext cx="8229600" cy="548640"/>
          </a:xfrm>
          <a:prstGeom prst="rect">
            <a:avLst/>
          </a:prstGeom>
          <a:noFill/>
        </p:spPr>
        <p:txBody>
          <a:bodyPr wrap="square" anchor="t" lIns="0" rIns="0" tIns="0" bIns="0">
            <a:spAutoFit/>
          </a:bodyPr>
          <a:lstStyle/>
          <a:p>
            <a:pPr algn="l">
              <a:spcAft>
                <a:spcPts val="400"/>
              </a:spcAft>
            </a:pPr>
            <a:r>
              <a:rPr sz="1200">
                <a:solidFill>
                  <a:srgbClr val="3C3C3C"/>
                </a:solidFill>
                <a:latin typeface="Zalando Sans Light"/>
              </a:rPr>
              <a:t>From one agent loop to an orchestrated, governed platform: agents that use tools, delegate to other agents, talk to independent agent services, and run under identity, policy and evaluation you can show evidence for.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agentic platforms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Beyond one agent</a:t>
            </a:r>
          </a:p>
        </p:txBody>
      </p:sp>
      <p:sp>
        <p:nvSpPr>
          <p:cNvPr id="3" name="TextBox 2"/>
          <p:cNvSpPr txBox="1"/>
          <p:nvPr/>
        </p:nvSpPr>
        <p:spPr>
          <a:xfrm>
            <a:off x="365760" y="804672"/>
            <a:ext cx="7680960" cy="457200"/>
          </a:xfrm>
          <a:prstGeom prst="rect">
            <a:avLst/>
          </a:prstGeom>
          <a:noFill/>
        </p:spPr>
        <p:txBody>
          <a:bodyPr wrap="square" anchor="t" lIns="0" rIns="0" tIns="0" bIns="0">
            <a:spAutoFit/>
          </a:bodyPr>
          <a:lstStyle/>
          <a:p>
            <a:pPr algn="l">
              <a:spcAft>
                <a:spcPts val="400"/>
              </a:spcAft>
            </a:pPr>
            <a:r>
              <a:rPr sz="1300">
                <a:solidFill>
                  <a:srgbClr val="3C3C3C"/>
                </a:solidFill>
                <a:latin typeface="Zalando Sans Light"/>
              </a:rPr>
              <a:t>Single agents are everyday tools. Enterprise work needs agents that work together.</a:t>
            </a:r>
          </a:p>
        </p:txBody>
      </p:sp>
      <p:sp>
        <p:nvSpPr>
          <p:cNvPr id="4" name="Rounded Rectangle 3"/>
          <p:cNvSpPr/>
          <p:nvPr/>
        </p:nvSpPr>
        <p:spPr>
          <a:xfrm>
            <a:off x="3063240" y="1417320"/>
            <a:ext cx="3017520" cy="731520"/>
          </a:xfrm>
          <a:prstGeom prst="roundRect">
            <a:avLst>
              <a:gd name="adj" fmla="val 10000"/>
            </a:avLst>
          </a:prstGeom>
          <a:solidFill>
            <a:srgbClr val="E6EAFE"/>
          </a:solidFill>
          <a:ln w="15875">
            <a:solidFill>
              <a:srgbClr val="0020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3063240" y="1463040"/>
            <a:ext cx="3017520" cy="685800"/>
          </a:xfrm>
          <a:prstGeom prst="rect">
            <a:avLst/>
          </a:prstGeom>
          <a:noFill/>
        </p:spPr>
        <p:txBody>
          <a:bodyPr wrap="square" anchor="ctr" lIns="0" rIns="0" tIns="0" bIns="0">
            <a:spAutoFit/>
          </a:bodyPr>
          <a:lstStyle/>
          <a:p>
            <a:pPr algn="ctr">
              <a:spcAft>
                <a:spcPts val="400"/>
              </a:spcAft>
            </a:pPr>
            <a:r>
              <a:rPr sz="1400">
                <a:solidFill>
                  <a:srgbClr val="011126"/>
                </a:solidFill>
                <a:latin typeface="Zalando Sans Medium"/>
              </a:rPr>
              <a:t>Orchestrator</a:t>
            </a:r>
          </a:p>
          <a:p>
            <a:pPr algn="ctr">
              <a:spcAft>
                <a:spcPts val="400"/>
              </a:spcAft>
            </a:pPr>
            <a:r>
              <a:rPr sz="900">
                <a:solidFill>
                  <a:srgbClr val="6B7280"/>
                </a:solidFill>
                <a:latin typeface="IBM Plex Mono"/>
              </a:rPr>
              <a:t>plans · delegates · reviews · combines</a:t>
            </a:r>
          </a:p>
        </p:txBody>
      </p:sp>
      <p:sp>
        <p:nvSpPr>
          <p:cNvPr id="6" name="Rounded Rectangle 5"/>
          <p:cNvSpPr/>
          <p:nvPr/>
        </p:nvSpPr>
        <p:spPr>
          <a:xfrm>
            <a:off x="502920" y="2880360"/>
            <a:ext cx="2606040" cy="777240"/>
          </a:xfrm>
          <a:prstGeom prst="roundRect">
            <a:avLst>
              <a:gd name="adj" fmla="val 9411"/>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02920" y="2926080"/>
            <a:ext cx="2606040" cy="731520"/>
          </a:xfrm>
          <a:prstGeom prst="rect">
            <a:avLst/>
          </a:prstGeom>
          <a:noFill/>
        </p:spPr>
        <p:txBody>
          <a:bodyPr wrap="square" anchor="ctr" lIns="0" rIns="0" tIns="0" bIns="0">
            <a:spAutoFit/>
          </a:bodyPr>
          <a:lstStyle/>
          <a:p>
            <a:pPr algn="ctr">
              <a:spcAft>
                <a:spcPts val="400"/>
              </a:spcAft>
            </a:pPr>
            <a:r>
              <a:rPr sz="1200">
                <a:solidFill>
                  <a:srgbClr val="011126"/>
                </a:solidFill>
                <a:latin typeface="Zalando Sans Medium"/>
              </a:rPr>
              <a:t>Subagent: API change</a:t>
            </a:r>
          </a:p>
          <a:p>
            <a:pPr algn="ctr">
              <a:spcAft>
                <a:spcPts val="400"/>
              </a:spcAft>
            </a:pPr>
            <a:r>
              <a:rPr sz="900">
                <a:solidFill>
                  <a:srgbClr val="6B7280"/>
                </a:solidFill>
                <a:latin typeface="IBM Plex Mono"/>
              </a:rPr>
              <a:t>own context · fast model</a:t>
            </a:r>
          </a:p>
        </p:txBody>
      </p:sp>
      <p:cxnSp>
        <p:nvCxnSpPr>
          <p:cNvPr id="8" name="Connector 7"/>
          <p:cNvCxnSpPr/>
          <p:nvPr/>
        </p:nvCxnSpPr>
        <p:spPr>
          <a:xfrm flipH="1">
            <a:off x="1805940" y="2148840"/>
            <a:ext cx="2766060" cy="704088"/>
          </a:xfrm>
          <a:prstGeom prst="line">
            <a:avLst/>
          </a:prstGeom>
          <a:ln w="15875">
            <a:solidFill>
              <a:srgbClr val="0111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3291839" y="2880360"/>
            <a:ext cx="2606040" cy="777240"/>
          </a:xfrm>
          <a:prstGeom prst="roundRect">
            <a:avLst>
              <a:gd name="adj" fmla="val 9411"/>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291839" y="2926080"/>
            <a:ext cx="2606040" cy="731520"/>
          </a:xfrm>
          <a:prstGeom prst="rect">
            <a:avLst/>
          </a:prstGeom>
          <a:noFill/>
        </p:spPr>
        <p:txBody>
          <a:bodyPr wrap="square" anchor="ctr" lIns="0" rIns="0" tIns="0" bIns="0">
            <a:spAutoFit/>
          </a:bodyPr>
          <a:lstStyle/>
          <a:p>
            <a:pPr algn="ctr">
              <a:spcAft>
                <a:spcPts val="400"/>
              </a:spcAft>
            </a:pPr>
            <a:r>
              <a:rPr sz="1200">
                <a:solidFill>
                  <a:srgbClr val="011126"/>
                </a:solidFill>
                <a:latin typeface="Zalando Sans Medium"/>
              </a:rPr>
              <a:t>Subagent: data migration</a:t>
            </a:r>
          </a:p>
          <a:p>
            <a:pPr algn="ctr">
              <a:spcAft>
                <a:spcPts val="400"/>
              </a:spcAft>
            </a:pPr>
            <a:r>
              <a:rPr sz="900">
                <a:solidFill>
                  <a:srgbClr val="6B7280"/>
                </a:solidFill>
                <a:latin typeface="IBM Plex Mono"/>
              </a:rPr>
              <a:t>own context · DB access only</a:t>
            </a:r>
          </a:p>
        </p:txBody>
      </p:sp>
      <p:cxnSp>
        <p:nvCxnSpPr>
          <p:cNvPr id="11" name="Connector 10"/>
          <p:cNvCxnSpPr/>
          <p:nvPr/>
        </p:nvCxnSpPr>
        <p:spPr>
          <a:xfrm>
            <a:off x="4572000" y="2148840"/>
            <a:ext cx="22859" cy="704088"/>
          </a:xfrm>
          <a:prstGeom prst="line">
            <a:avLst/>
          </a:prstGeom>
          <a:ln w="15875">
            <a:solidFill>
              <a:srgbClr val="0111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080759" y="2880360"/>
            <a:ext cx="2606040" cy="777240"/>
          </a:xfrm>
          <a:prstGeom prst="roundRect">
            <a:avLst>
              <a:gd name="adj" fmla="val 9411"/>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080759" y="2926080"/>
            <a:ext cx="2606040" cy="731520"/>
          </a:xfrm>
          <a:prstGeom prst="rect">
            <a:avLst/>
          </a:prstGeom>
          <a:noFill/>
        </p:spPr>
        <p:txBody>
          <a:bodyPr wrap="square" anchor="ctr" lIns="0" rIns="0" tIns="0" bIns="0">
            <a:spAutoFit/>
          </a:bodyPr>
          <a:lstStyle/>
          <a:p>
            <a:pPr algn="ctr">
              <a:spcAft>
                <a:spcPts val="400"/>
              </a:spcAft>
            </a:pPr>
            <a:r>
              <a:rPr sz="1200">
                <a:solidFill>
                  <a:srgbClr val="011126"/>
                </a:solidFill>
                <a:latin typeface="Zalando Sans Medium"/>
              </a:rPr>
              <a:t>Subagent: tests</a:t>
            </a:r>
          </a:p>
          <a:p>
            <a:pPr algn="ctr">
              <a:spcAft>
                <a:spcPts val="400"/>
              </a:spcAft>
            </a:pPr>
            <a:r>
              <a:rPr sz="900">
                <a:solidFill>
                  <a:srgbClr val="6B7280"/>
                </a:solidFill>
                <a:latin typeface="IBM Plex Mono"/>
              </a:rPr>
              <a:t>own context · runs in parallel</a:t>
            </a:r>
          </a:p>
        </p:txBody>
      </p:sp>
      <p:cxnSp>
        <p:nvCxnSpPr>
          <p:cNvPr id="14" name="Connector 13"/>
          <p:cNvCxnSpPr/>
          <p:nvPr/>
        </p:nvCxnSpPr>
        <p:spPr>
          <a:xfrm>
            <a:off x="4572000" y="2148840"/>
            <a:ext cx="2811779" cy="704088"/>
          </a:xfrm>
          <a:prstGeom prst="line">
            <a:avLst/>
          </a:prstGeom>
          <a:ln w="15875">
            <a:solidFill>
              <a:srgbClr val="0111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365760" y="3886200"/>
            <a:ext cx="8229600" cy="365760"/>
          </a:xfrm>
          <a:prstGeom prst="rect">
            <a:avLst/>
          </a:prstGeom>
          <a:noFill/>
        </p:spPr>
        <p:txBody>
          <a:bodyPr wrap="square" anchor="t" lIns="0" rIns="0" tIns="0" bIns="0">
            <a:spAutoFit/>
          </a:bodyPr>
          <a:lstStyle/>
          <a:p>
            <a:pPr algn="ctr">
              <a:spcAft>
                <a:spcPts val="400"/>
              </a:spcAft>
            </a:pPr>
            <a:r>
              <a:rPr sz="1050">
                <a:solidFill>
                  <a:srgbClr val="6B7280"/>
                </a:solidFill>
                <a:latin typeface="Zalando Sans Light"/>
              </a:rPr>
              <a:t>The orchestration pattern from coding agents. The same shape appears in support, operations, finance and research work.</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When do you need more agents?</a:t>
            </a:r>
          </a:p>
        </p:txBody>
      </p:sp>
      <p:sp>
        <p:nvSpPr>
          <p:cNvPr id="3" name="Rounded Rectangle 2"/>
          <p:cNvSpPr/>
          <p:nvPr/>
        </p:nvSpPr>
        <p:spPr>
          <a:xfrm>
            <a:off x="365760" y="960120"/>
            <a:ext cx="4069080" cy="1572768"/>
          </a:xfrm>
          <a:prstGeom prst="roundRect">
            <a:avLst>
              <a:gd name="adj" fmla="val 4651"/>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069848"/>
            <a:ext cx="3794760" cy="1389888"/>
          </a:xfrm>
          <a:prstGeom prst="rect">
            <a:avLst/>
          </a:prstGeom>
          <a:noFill/>
        </p:spPr>
        <p:txBody>
          <a:bodyPr wrap="square" anchor="t" lIns="0" rIns="0" tIns="0" bIns="0">
            <a:spAutoFit/>
          </a:bodyPr>
          <a:lstStyle/>
          <a:p>
            <a:pPr algn="l">
              <a:spcAft>
                <a:spcPts val="500"/>
              </a:spcAft>
            </a:pPr>
            <a:r>
              <a:rPr sz="1300">
                <a:solidFill>
                  <a:srgbClr val="0020BB"/>
                </a:solidFill>
                <a:latin typeface="Zalando Sans Medium"/>
              </a:rPr>
              <a:t>The work outgrows one context</a:t>
            </a:r>
          </a:p>
          <a:p>
            <a:pPr algn="l">
              <a:spcAft>
                <a:spcPts val="500"/>
              </a:spcAft>
            </a:pPr>
            <a:r>
              <a:rPr sz="1100">
                <a:solidFill>
                  <a:srgbClr val="3C3C3C"/>
                </a:solidFill>
                <a:latin typeface="Zalando Sans Light"/>
              </a:rPr>
              <a:t>It will not fit one context window, and step-by-step compaction does not help because the work splits into parallel parts that each need their own context.</a:t>
            </a:r>
          </a:p>
          <a:p>
            <a:pPr algn="l">
              <a:spcAft>
                <a:spcPts val="500"/>
              </a:spcAft>
            </a:pPr>
            <a:r>
              <a:rPr sz="900">
                <a:solidFill>
                  <a:srgbClr val="143BFC"/>
                </a:solidFill>
                <a:latin typeface="IBM Plex Mono"/>
              </a:rPr>
              <a:t>supervisor and subagents</a:t>
            </a:r>
          </a:p>
        </p:txBody>
      </p:sp>
      <p:sp>
        <p:nvSpPr>
          <p:cNvPr id="5" name="Rounded Rectangle 4"/>
          <p:cNvSpPr/>
          <p:nvPr/>
        </p:nvSpPr>
        <p:spPr>
          <a:xfrm>
            <a:off x="4617720" y="960120"/>
            <a:ext cx="4069080" cy="1572768"/>
          </a:xfrm>
          <a:prstGeom prst="roundRect">
            <a:avLst>
              <a:gd name="adj" fmla="val 4651"/>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754880" y="1069848"/>
            <a:ext cx="3794760" cy="1389888"/>
          </a:xfrm>
          <a:prstGeom prst="rect">
            <a:avLst/>
          </a:prstGeom>
          <a:noFill/>
        </p:spPr>
        <p:txBody>
          <a:bodyPr wrap="square" anchor="t" lIns="0" rIns="0" tIns="0" bIns="0">
            <a:spAutoFit/>
          </a:bodyPr>
          <a:lstStyle/>
          <a:p>
            <a:pPr algn="l">
              <a:spcAft>
                <a:spcPts val="500"/>
              </a:spcAft>
            </a:pPr>
            <a:r>
              <a:rPr sz="1300">
                <a:solidFill>
                  <a:srgbClr val="0020BB"/>
                </a:solidFill>
                <a:latin typeface="Zalando Sans Medium"/>
              </a:rPr>
              <a:t>It is better done in a clean context</a:t>
            </a:r>
          </a:p>
          <a:p>
            <a:pPr algn="l">
              <a:spcAft>
                <a:spcPts val="500"/>
              </a:spcAft>
            </a:pPr>
            <a:r>
              <a:rPr sz="1100">
                <a:solidFill>
                  <a:srgbClr val="3C3C3C"/>
                </a:solidFill>
                <a:latin typeface="Zalando Sans Light"/>
              </a:rPr>
              <a:t>Even when it fits, a sub-task goes better in a fresh context without unrelated history, other branches of the work or earlier mistakes.</a:t>
            </a:r>
          </a:p>
          <a:p>
            <a:pPr algn="l">
              <a:spcAft>
                <a:spcPts val="500"/>
              </a:spcAft>
            </a:pPr>
            <a:r>
              <a:rPr sz="900">
                <a:solidFill>
                  <a:srgbClr val="143BFC"/>
                </a:solidFill>
                <a:latin typeface="IBM Plex Mono"/>
              </a:rPr>
              <a:t>scoped subagents</a:t>
            </a:r>
          </a:p>
        </p:txBody>
      </p:sp>
      <p:sp>
        <p:nvSpPr>
          <p:cNvPr id="7" name="Rounded Rectangle 6"/>
          <p:cNvSpPr/>
          <p:nvPr/>
        </p:nvSpPr>
        <p:spPr>
          <a:xfrm>
            <a:off x="365760" y="2697480"/>
            <a:ext cx="4069080" cy="1572768"/>
          </a:xfrm>
          <a:prstGeom prst="roundRect">
            <a:avLst>
              <a:gd name="adj" fmla="val 4651"/>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02920" y="2807208"/>
            <a:ext cx="3794760" cy="1389888"/>
          </a:xfrm>
          <a:prstGeom prst="rect">
            <a:avLst/>
          </a:prstGeom>
          <a:noFill/>
        </p:spPr>
        <p:txBody>
          <a:bodyPr wrap="square" anchor="t" lIns="0" rIns="0" tIns="0" bIns="0">
            <a:spAutoFit/>
          </a:bodyPr>
          <a:lstStyle/>
          <a:p>
            <a:pPr algn="l">
              <a:spcAft>
                <a:spcPts val="500"/>
              </a:spcAft>
            </a:pPr>
            <a:r>
              <a:rPr sz="1300">
                <a:solidFill>
                  <a:srgbClr val="0020BB"/>
                </a:solidFill>
                <a:latin typeface="Zalando Sans Medium"/>
              </a:rPr>
              <a:t>Each sub-task needs a different model</a:t>
            </a:r>
          </a:p>
          <a:p>
            <a:pPr algn="l">
              <a:spcAft>
                <a:spcPts val="500"/>
              </a:spcAft>
            </a:pPr>
            <a:r>
              <a:rPr sz="1100">
                <a:solidFill>
                  <a:srgbClr val="3C3C3C"/>
                </a:solidFill>
                <a:latin typeface="Zalando Sans Light"/>
              </a:rPr>
              <a:t>A strong model plans and judges; faster, cheaper models handle routine sub-tasks. Switching changes quality, cost and latency.</a:t>
            </a:r>
          </a:p>
          <a:p>
            <a:pPr algn="l">
              <a:spcAft>
                <a:spcPts val="500"/>
              </a:spcAft>
            </a:pPr>
            <a:r>
              <a:rPr sz="900">
                <a:solidFill>
                  <a:srgbClr val="143BFC"/>
                </a:solidFill>
                <a:latin typeface="IBM Plex Mono"/>
              </a:rPr>
              <a:t>model routing</a:t>
            </a:r>
          </a:p>
        </p:txBody>
      </p:sp>
      <p:sp>
        <p:nvSpPr>
          <p:cNvPr id="9" name="Rounded Rectangle 8"/>
          <p:cNvSpPr/>
          <p:nvPr/>
        </p:nvSpPr>
        <p:spPr>
          <a:xfrm>
            <a:off x="4617720" y="2697480"/>
            <a:ext cx="4069080" cy="1572768"/>
          </a:xfrm>
          <a:prstGeom prst="roundRect">
            <a:avLst>
              <a:gd name="adj" fmla="val 4651"/>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754880" y="2807208"/>
            <a:ext cx="3794760" cy="1389888"/>
          </a:xfrm>
          <a:prstGeom prst="rect">
            <a:avLst/>
          </a:prstGeom>
          <a:noFill/>
        </p:spPr>
        <p:txBody>
          <a:bodyPr wrap="square" anchor="t" lIns="0" rIns="0" tIns="0" bIns="0">
            <a:spAutoFit/>
          </a:bodyPr>
          <a:lstStyle/>
          <a:p>
            <a:pPr algn="l">
              <a:spcAft>
                <a:spcPts val="500"/>
              </a:spcAft>
            </a:pPr>
            <a:r>
              <a:rPr sz="1300">
                <a:solidFill>
                  <a:srgbClr val="0020BB"/>
                </a:solidFill>
                <a:latin typeface="Zalando Sans Medium"/>
              </a:rPr>
              <a:t>Access must be isolated</a:t>
            </a:r>
          </a:p>
          <a:p>
            <a:pPr algn="l">
              <a:spcAft>
                <a:spcPts val="500"/>
              </a:spcAft>
            </a:pPr>
            <a:r>
              <a:rPr sz="1100">
                <a:solidFill>
                  <a:srgbClr val="3C3C3C"/>
                </a:solidFill>
                <a:latin typeface="Zalando Sans Light"/>
              </a:rPr>
              <a:t>An agent is bound to one system or service, or acts for one person, and sees only that system's data and that person's permissions.</a:t>
            </a:r>
          </a:p>
          <a:p>
            <a:pPr algn="l">
              <a:spcAft>
                <a:spcPts val="500"/>
              </a:spcAft>
            </a:pPr>
            <a:r>
              <a:rPr sz="900">
                <a:solidFill>
                  <a:srgbClr val="143BFC"/>
                </a:solidFill>
                <a:latin typeface="IBM Plex Mono"/>
              </a:rPr>
              <a:t>A2A · gateway · identity</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If none of these applies, one agent is the right design. Every agent you add has to earn its place.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platform is the natural next step</a:t>
            </a:r>
          </a:p>
        </p:txBody>
      </p:sp>
      <p:sp>
        <p:nvSpPr>
          <p:cNvPr id="3" name="TextBox 2"/>
          <p:cNvSpPr txBox="1"/>
          <p:nvPr/>
        </p:nvSpPr>
        <p:spPr>
          <a:xfrm>
            <a:off x="365760" y="804672"/>
            <a:ext cx="7680960" cy="457200"/>
          </a:xfrm>
          <a:prstGeom prst="rect">
            <a:avLst/>
          </a:prstGeom>
          <a:noFill/>
        </p:spPr>
        <p:txBody>
          <a:bodyPr wrap="square" anchor="t" lIns="0" rIns="0" tIns="0" bIns="0">
            <a:spAutoFit/>
          </a:bodyPr>
          <a:lstStyle/>
          <a:p>
            <a:pPr algn="l">
              <a:spcAft>
                <a:spcPts val="400"/>
              </a:spcAft>
            </a:pPr>
            <a:r>
              <a:rPr sz="1300">
                <a:solidFill>
                  <a:srgbClr val="3C3C3C"/>
                </a:solidFill>
                <a:latin typeface="Zalando Sans Light"/>
              </a:rPr>
              <a:t>Something has to spawn, configure, host and manage the agents, and answer six questions for every run.</a:t>
            </a:r>
          </a:p>
        </p:txBody>
      </p:sp>
      <p:sp>
        <p:nvSpPr>
          <p:cNvPr id="4" name="Rounded Rectangle 3"/>
          <p:cNvSpPr/>
          <p:nvPr/>
        </p:nvSpPr>
        <p:spPr>
          <a:xfrm>
            <a:off x="365760" y="1417320"/>
            <a:ext cx="2697480" cy="1371600"/>
          </a:xfrm>
          <a:prstGeom prst="roundRect">
            <a:avLst>
              <a:gd name="adj" fmla="val 5333"/>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02920" y="1527048"/>
            <a:ext cx="2423160" cy="1188720"/>
          </a:xfrm>
          <a:prstGeom prst="rect">
            <a:avLst/>
          </a:prstGeom>
          <a:noFill/>
        </p:spPr>
        <p:txBody>
          <a:bodyPr wrap="square" anchor="t" lIns="0" rIns="0" tIns="0" bIns="0">
            <a:spAutoFit/>
          </a:bodyPr>
          <a:lstStyle/>
          <a:p>
            <a:pPr algn="l">
              <a:spcAft>
                <a:spcPts val="500"/>
              </a:spcAft>
            </a:pPr>
            <a:r>
              <a:rPr sz="1300">
                <a:solidFill>
                  <a:srgbClr val="0020BB"/>
                </a:solidFill>
                <a:latin typeface="Zalando Sans Medium"/>
              </a:rPr>
              <a:t>Who called what?</a:t>
            </a:r>
          </a:p>
          <a:p>
            <a:pPr algn="l">
              <a:spcAft>
                <a:spcPts val="500"/>
              </a:spcAft>
            </a:pPr>
            <a:r>
              <a:rPr sz="1050">
                <a:solidFill>
                  <a:srgbClr val="3C3C3C"/>
                </a:solidFill>
                <a:latin typeface="Zalando Sans Light"/>
              </a:rPr>
              <a:t>Every tool call passes one policy check and lands in one audit record.</a:t>
            </a:r>
          </a:p>
          <a:p>
            <a:pPr algn="l">
              <a:spcAft>
                <a:spcPts val="500"/>
              </a:spcAft>
            </a:pPr>
            <a:r>
              <a:rPr sz="900">
                <a:solidFill>
                  <a:srgbClr val="143BFC"/>
                </a:solidFill>
                <a:latin typeface="IBM Plex Mono"/>
              </a:rPr>
              <a:t>tool gateway · audit</a:t>
            </a:r>
          </a:p>
        </p:txBody>
      </p:sp>
      <p:sp>
        <p:nvSpPr>
          <p:cNvPr id="6" name="Rounded Rectangle 5"/>
          <p:cNvSpPr/>
          <p:nvPr/>
        </p:nvSpPr>
        <p:spPr>
          <a:xfrm>
            <a:off x="3200400" y="1417320"/>
            <a:ext cx="2697480" cy="1371600"/>
          </a:xfrm>
          <a:prstGeom prst="roundRect">
            <a:avLst>
              <a:gd name="adj" fmla="val 5333"/>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337560" y="1527048"/>
            <a:ext cx="2423160" cy="1188720"/>
          </a:xfrm>
          <a:prstGeom prst="rect">
            <a:avLst/>
          </a:prstGeom>
          <a:noFill/>
        </p:spPr>
        <p:txBody>
          <a:bodyPr wrap="square" anchor="t" lIns="0" rIns="0" tIns="0" bIns="0">
            <a:spAutoFit/>
          </a:bodyPr>
          <a:lstStyle/>
          <a:p>
            <a:pPr algn="l">
              <a:spcAft>
                <a:spcPts val="500"/>
              </a:spcAft>
            </a:pPr>
            <a:r>
              <a:rPr sz="1300">
                <a:solidFill>
                  <a:srgbClr val="0020BB"/>
                </a:solidFill>
                <a:latin typeface="Zalando Sans Medium"/>
              </a:rPr>
              <a:t>On whose behalf?</a:t>
            </a:r>
          </a:p>
          <a:p>
            <a:pPr algn="l">
              <a:spcAft>
                <a:spcPts val="500"/>
              </a:spcAft>
            </a:pPr>
            <a:r>
              <a:rPr sz="1050">
                <a:solidFill>
                  <a:srgbClr val="3C3C3C"/>
                </a:solidFill>
                <a:latin typeface="Zalando Sans Light"/>
              </a:rPr>
              <a:t>Each agent acts for a known person, with narrow, short-lived credentials.</a:t>
            </a:r>
          </a:p>
          <a:p>
            <a:pPr algn="l">
              <a:spcAft>
                <a:spcPts val="500"/>
              </a:spcAft>
            </a:pPr>
            <a:r>
              <a:rPr sz="900">
                <a:solidFill>
                  <a:srgbClr val="143BFC"/>
                </a:solidFill>
                <a:latin typeface="IBM Plex Mono"/>
              </a:rPr>
              <a:t>identity · approvals</a:t>
            </a:r>
          </a:p>
        </p:txBody>
      </p:sp>
      <p:sp>
        <p:nvSpPr>
          <p:cNvPr id="8" name="Rounded Rectangle 7"/>
          <p:cNvSpPr/>
          <p:nvPr/>
        </p:nvSpPr>
        <p:spPr>
          <a:xfrm>
            <a:off x="6035040" y="1417320"/>
            <a:ext cx="2697480" cy="1371600"/>
          </a:xfrm>
          <a:prstGeom prst="roundRect">
            <a:avLst>
              <a:gd name="adj" fmla="val 5333"/>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172200" y="1527048"/>
            <a:ext cx="2423160" cy="1188720"/>
          </a:xfrm>
          <a:prstGeom prst="rect">
            <a:avLst/>
          </a:prstGeom>
          <a:noFill/>
        </p:spPr>
        <p:txBody>
          <a:bodyPr wrap="square" anchor="t" lIns="0" rIns="0" tIns="0" bIns="0">
            <a:spAutoFit/>
          </a:bodyPr>
          <a:lstStyle/>
          <a:p>
            <a:pPr algn="l">
              <a:spcAft>
                <a:spcPts val="500"/>
              </a:spcAft>
            </a:pPr>
            <a:r>
              <a:rPr sz="1300">
                <a:solidFill>
                  <a:srgbClr val="0020BB"/>
                </a:solidFill>
                <a:latin typeface="Zalando Sans Medium"/>
              </a:rPr>
              <a:t>When does it stop?</a:t>
            </a:r>
          </a:p>
          <a:p>
            <a:pPr algn="l">
              <a:spcAft>
                <a:spcPts val="500"/>
              </a:spcAft>
            </a:pPr>
            <a:r>
              <a:rPr sz="1050">
                <a:solidFill>
                  <a:srgbClr val="3C3C3C"/>
                </a:solidFill>
                <a:latin typeface="Zalando Sans Light"/>
              </a:rPr>
              <a:t>Every run has step, token and time limits.</a:t>
            </a:r>
          </a:p>
          <a:p>
            <a:pPr algn="l">
              <a:spcAft>
                <a:spcPts val="500"/>
              </a:spcAft>
            </a:pPr>
            <a:r>
              <a:rPr sz="900">
                <a:solidFill>
                  <a:srgbClr val="143BFC"/>
                </a:solidFill>
                <a:latin typeface="IBM Plex Mono"/>
              </a:rPr>
              <a:t>bounded runtime</a:t>
            </a:r>
          </a:p>
        </p:txBody>
      </p:sp>
      <p:sp>
        <p:nvSpPr>
          <p:cNvPr id="10" name="Rounded Rectangle 9"/>
          <p:cNvSpPr/>
          <p:nvPr/>
        </p:nvSpPr>
        <p:spPr>
          <a:xfrm>
            <a:off x="365760" y="2953512"/>
            <a:ext cx="2697480" cy="1371600"/>
          </a:xfrm>
          <a:prstGeom prst="roundRect">
            <a:avLst>
              <a:gd name="adj" fmla="val 5333"/>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02920" y="3063240"/>
            <a:ext cx="2423160" cy="1188720"/>
          </a:xfrm>
          <a:prstGeom prst="rect">
            <a:avLst/>
          </a:prstGeom>
          <a:noFill/>
        </p:spPr>
        <p:txBody>
          <a:bodyPr wrap="square" anchor="t" lIns="0" rIns="0" tIns="0" bIns="0">
            <a:spAutoFit/>
          </a:bodyPr>
          <a:lstStyle/>
          <a:p>
            <a:pPr algn="l">
              <a:spcAft>
                <a:spcPts val="500"/>
              </a:spcAft>
            </a:pPr>
            <a:r>
              <a:rPr sz="1300">
                <a:solidFill>
                  <a:srgbClr val="0020BB"/>
                </a:solidFill>
                <a:latin typeface="Zalando Sans Medium"/>
              </a:rPr>
              <a:t>Is version 2 better?</a:t>
            </a:r>
          </a:p>
          <a:p>
            <a:pPr algn="l">
              <a:spcAft>
                <a:spcPts val="500"/>
              </a:spcAft>
            </a:pPr>
            <a:r>
              <a:rPr sz="1050">
                <a:solidFill>
                  <a:srgbClr val="3C3C3C"/>
                </a:solidFill>
                <a:latin typeface="Zalando Sans Light"/>
              </a:rPr>
              <a:t>Changes ship on measured quality, cost and latency.</a:t>
            </a:r>
          </a:p>
          <a:p>
            <a:pPr algn="l">
              <a:spcAft>
                <a:spcPts val="500"/>
              </a:spcAft>
            </a:pPr>
            <a:r>
              <a:rPr sz="900">
                <a:solidFill>
                  <a:srgbClr val="143BFC"/>
                </a:solidFill>
                <a:latin typeface="IBM Plex Mono"/>
              </a:rPr>
              <a:t>evaluation · release gates</a:t>
            </a:r>
          </a:p>
        </p:txBody>
      </p:sp>
      <p:sp>
        <p:nvSpPr>
          <p:cNvPr id="12" name="Rounded Rectangle 11"/>
          <p:cNvSpPr/>
          <p:nvPr/>
        </p:nvSpPr>
        <p:spPr>
          <a:xfrm>
            <a:off x="3200400" y="2953512"/>
            <a:ext cx="2697480" cy="1371600"/>
          </a:xfrm>
          <a:prstGeom prst="roundRect">
            <a:avLst>
              <a:gd name="adj" fmla="val 5333"/>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337560" y="3063240"/>
            <a:ext cx="2423160" cy="1188720"/>
          </a:xfrm>
          <a:prstGeom prst="rect">
            <a:avLst/>
          </a:prstGeom>
          <a:noFill/>
        </p:spPr>
        <p:txBody>
          <a:bodyPr wrap="square" anchor="t" lIns="0" rIns="0" tIns="0" bIns="0">
            <a:spAutoFit/>
          </a:bodyPr>
          <a:lstStyle/>
          <a:p>
            <a:pPr algn="l">
              <a:spcAft>
                <a:spcPts val="500"/>
              </a:spcAft>
            </a:pPr>
            <a:r>
              <a:rPr sz="1300">
                <a:solidFill>
                  <a:srgbClr val="0020BB"/>
                </a:solidFill>
                <a:latin typeface="Zalando Sans Medium"/>
              </a:rPr>
              <a:t>How do agents work together?</a:t>
            </a:r>
          </a:p>
          <a:p>
            <a:pPr algn="l">
              <a:spcAft>
                <a:spcPts val="500"/>
              </a:spcAft>
            </a:pPr>
            <a:r>
              <a:rPr sz="1050">
                <a:solidFill>
                  <a:srgbClr val="3C3C3C"/>
                </a:solidFill>
                <a:latin typeface="Zalando Sans Light"/>
              </a:rPr>
              <a:t>A supervisor delegates inside; A2A reaches other teams' agents.</a:t>
            </a:r>
          </a:p>
          <a:p>
            <a:pPr algn="l">
              <a:spcAft>
                <a:spcPts val="500"/>
              </a:spcAft>
            </a:pPr>
            <a:r>
              <a:rPr sz="900">
                <a:solidFill>
                  <a:srgbClr val="143BFC"/>
                </a:solidFill>
                <a:latin typeface="IBM Plex Mono"/>
              </a:rPr>
              <a:t>orchestration · A2A</a:t>
            </a:r>
          </a:p>
        </p:txBody>
      </p:sp>
      <p:sp>
        <p:nvSpPr>
          <p:cNvPr id="14" name="Rounded Rectangle 13"/>
          <p:cNvSpPr/>
          <p:nvPr/>
        </p:nvSpPr>
        <p:spPr>
          <a:xfrm>
            <a:off x="6035040" y="2953512"/>
            <a:ext cx="2697480" cy="1371600"/>
          </a:xfrm>
          <a:prstGeom prst="roundRect">
            <a:avLst>
              <a:gd name="adj" fmla="val 5333"/>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172200" y="3063240"/>
            <a:ext cx="2423160" cy="1188720"/>
          </a:xfrm>
          <a:prstGeom prst="rect">
            <a:avLst/>
          </a:prstGeom>
          <a:noFill/>
        </p:spPr>
        <p:txBody>
          <a:bodyPr wrap="square" anchor="t" lIns="0" rIns="0" tIns="0" bIns="0">
            <a:spAutoFit/>
          </a:bodyPr>
          <a:lstStyle/>
          <a:p>
            <a:pPr algn="l">
              <a:spcAft>
                <a:spcPts val="500"/>
              </a:spcAft>
            </a:pPr>
            <a:r>
              <a:rPr sz="1300">
                <a:solidFill>
                  <a:srgbClr val="0020BB"/>
                </a:solidFill>
                <a:latin typeface="Zalando Sans Medium"/>
              </a:rPr>
              <a:t>What actually happened?</a:t>
            </a:r>
          </a:p>
          <a:p>
            <a:pPr algn="l">
              <a:spcAft>
                <a:spcPts val="500"/>
              </a:spcAft>
            </a:pPr>
            <a:r>
              <a:rPr sz="1050">
                <a:solidFill>
                  <a:srgbClr val="3C3C3C"/>
                </a:solidFill>
                <a:latin typeface="Zalando Sans Light"/>
              </a:rPr>
              <a:t>Which version ran, every decision and every failure.</a:t>
            </a:r>
          </a:p>
          <a:p>
            <a:pPr algn="l">
              <a:spcAft>
                <a:spcPts val="500"/>
              </a:spcAft>
            </a:pPr>
            <a:r>
              <a:rPr sz="900">
                <a:solidFill>
                  <a:srgbClr val="143BFC"/>
                </a:solidFill>
                <a:latin typeface="IBM Plex Mono"/>
              </a:rPr>
              <a:t>traces · registry · console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main parts of a platform</a:t>
            </a:r>
          </a:p>
        </p:txBody>
      </p:sp>
      <p:graphicFrame>
        <p:nvGraphicFramePr>
          <p:cNvPr id="3" name="Table 2"/>
          <p:cNvGraphicFramePr>
            <a:graphicFrameLocks noGrp="1"/>
          </p:cNvGraphicFramePr>
          <p:nvPr/>
        </p:nvGraphicFramePr>
        <p:xfrm>
          <a:off x="365760" y="868680"/>
          <a:ext cx="8229600" cy="3685032"/>
        </p:xfrm>
        <a:graphic>
          <a:graphicData uri="http://schemas.openxmlformats.org/drawingml/2006/table">
            <a:tbl>
              <a:tblPr firstRow="0" bandRow="0"/>
              <a:tblGrid>
                <a:gridCol w="2377440"/>
                <a:gridCol w="5852160"/>
              </a:tblGrid>
              <a:tr h="283464">
                <a:tc>
                  <a:txBody>
                    <a:bodyPr wrap="square"/>
                    <a:lstStyle/>
                    <a:p>
                      <a:r>
                        <a:rPr sz="950">
                          <a:solidFill>
                            <a:srgbClr val="FFFFFF"/>
                          </a:solidFill>
                          <a:latin typeface="Zalando Sans Medium"/>
                        </a:rPr>
                        <a:t>Part</a:t>
                      </a:r>
                    </a:p>
                  </a:txBody>
                  <a:tcPr marL="73152" marR="73152" marT="27432" marB="27432" anchor="ctr">
                    <a:solidFill>
                      <a:srgbClr val="0020BB"/>
                    </a:solidFill>
                  </a:tcPr>
                </a:tc>
                <a:tc>
                  <a:txBody>
                    <a:bodyPr wrap="square"/>
                    <a:lstStyle/>
                    <a:p>
                      <a:r>
                        <a:rPr sz="950">
                          <a:solidFill>
                            <a:srgbClr val="FFFFFF"/>
                          </a:solidFill>
                          <a:latin typeface="Zalando Sans Medium"/>
                        </a:rPr>
                        <a:t>The question it answers</a:t>
                      </a:r>
                    </a:p>
                  </a:txBody>
                  <a:tcPr marL="73152" marR="73152" marT="27432" marB="27432" anchor="ctr">
                    <a:solidFill>
                      <a:srgbClr val="0020BB"/>
                    </a:solidFill>
                  </a:tcPr>
                </a:tc>
              </a:tr>
              <a:tr h="283464">
                <a:tc>
                  <a:txBody>
                    <a:bodyPr wrap="square"/>
                    <a:lstStyle/>
                    <a:p>
                      <a:r>
                        <a:rPr sz="950">
                          <a:solidFill>
                            <a:srgbClr val="011126"/>
                          </a:solidFill>
                          <a:latin typeface="Zalando Sans Medium"/>
                        </a:rPr>
                        <a:t>Agent runtime · today</a:t>
                      </a:r>
                    </a:p>
                  </a:txBody>
                  <a:tcPr marL="73152" marR="73152" marT="27432" marB="27432" anchor="ctr">
                    <a:solidFill>
                      <a:srgbClr val="E6FFF7"/>
                    </a:solidFill>
                  </a:tcPr>
                </a:tc>
                <a:tc>
                  <a:txBody>
                    <a:bodyPr wrap="square"/>
                    <a:lstStyle/>
                    <a:p>
                      <a:r>
                        <a:rPr sz="950">
                          <a:solidFill>
                            <a:srgbClr val="011126"/>
                          </a:solidFill>
                          <a:latin typeface="Zalando Sans Light"/>
                        </a:rPr>
                        <a:t>How does one agent act, and how is it forced to stop?</a:t>
                      </a:r>
                    </a:p>
                  </a:txBody>
                  <a:tcPr marL="73152" marR="73152" marT="27432" marB="27432" anchor="ctr">
                    <a:solidFill>
                      <a:srgbClr val="E6FFF7"/>
                    </a:solidFill>
                  </a:tcPr>
                </a:tc>
              </a:tr>
              <a:tr h="283464">
                <a:tc>
                  <a:txBody>
                    <a:bodyPr wrap="square"/>
                    <a:lstStyle/>
                    <a:p>
                      <a:r>
                        <a:rPr sz="950">
                          <a:solidFill>
                            <a:srgbClr val="011126"/>
                          </a:solidFill>
                          <a:latin typeface="Zalando Sans Medium"/>
                        </a:rPr>
                        <a:t>Tools and MCP</a:t>
                      </a:r>
                    </a:p>
                  </a:txBody>
                  <a:tcPr marL="73152" marR="73152" marT="27432" marB="27432" anchor="ctr">
                    <a:solidFill>
                      <a:srgbClr val="F3F5F9"/>
                    </a:solidFill>
                  </a:tcPr>
                </a:tc>
                <a:tc>
                  <a:txBody>
                    <a:bodyPr wrap="square"/>
                    <a:lstStyle/>
                    <a:p>
                      <a:r>
                        <a:rPr sz="950">
                          <a:solidFill>
                            <a:srgbClr val="011126"/>
                          </a:solidFill>
                          <a:latin typeface="Zalando Sans Light"/>
                        </a:rPr>
                        <a:t>How do agents use real systems through reliable, permissioned contracts?</a:t>
                      </a:r>
                    </a:p>
                  </a:txBody>
                  <a:tcPr marL="73152" marR="73152" marT="27432" marB="27432" anchor="ctr">
                    <a:solidFill>
                      <a:srgbClr val="F3F5F9"/>
                    </a:solidFill>
                  </a:tcPr>
                </a:tc>
              </a:tr>
              <a:tr h="283464">
                <a:tc>
                  <a:txBody>
                    <a:bodyPr wrap="square"/>
                    <a:lstStyle/>
                    <a:p>
                      <a:r>
                        <a:rPr sz="950">
                          <a:solidFill>
                            <a:srgbClr val="011126"/>
                          </a:solidFill>
                          <a:latin typeface="Zalando Sans Medium"/>
                        </a:rPr>
                        <a:t>Context and memory</a:t>
                      </a:r>
                    </a:p>
                  </a:txBody>
                  <a:tcPr marL="73152" marR="73152" marT="27432" marB="27432" anchor="ctr">
                    <a:solidFill>
                      <a:srgbClr val="FFFFFF"/>
                    </a:solidFill>
                  </a:tcPr>
                </a:tc>
                <a:tc>
                  <a:txBody>
                    <a:bodyPr wrap="square"/>
                    <a:lstStyle/>
                    <a:p>
                      <a:r>
                        <a:rPr sz="950">
                          <a:solidFill>
                            <a:srgbClr val="011126"/>
                          </a:solidFill>
                          <a:latin typeface="Zalando Sans Light"/>
                        </a:rPr>
                        <a:t>What does the agent know, from which sources, and for how long?</a:t>
                      </a:r>
                    </a:p>
                  </a:txBody>
                  <a:tcPr marL="73152" marR="73152" marT="27432" marB="27432" anchor="ctr">
                    <a:solidFill>
                      <a:srgbClr val="FFFFFF"/>
                    </a:solidFill>
                  </a:tcPr>
                </a:tc>
              </a:tr>
              <a:tr h="283464">
                <a:tc>
                  <a:txBody>
                    <a:bodyPr wrap="square"/>
                    <a:lstStyle/>
                    <a:p>
                      <a:r>
                        <a:rPr sz="950">
                          <a:solidFill>
                            <a:srgbClr val="011126"/>
                          </a:solidFill>
                          <a:latin typeface="Zalando Sans Medium"/>
                        </a:rPr>
                        <a:t>Evaluation</a:t>
                      </a:r>
                    </a:p>
                  </a:txBody>
                  <a:tcPr marL="73152" marR="73152" marT="27432" marB="27432" anchor="ctr">
                    <a:solidFill>
                      <a:srgbClr val="F3F5F9"/>
                    </a:solidFill>
                  </a:tcPr>
                </a:tc>
                <a:tc>
                  <a:txBody>
                    <a:bodyPr wrap="square"/>
                    <a:lstStyle/>
                    <a:p>
                      <a:r>
                        <a:rPr sz="950">
                          <a:solidFill>
                            <a:srgbClr val="011126"/>
                          </a:solidFill>
                          <a:latin typeface="Zalando Sans Light"/>
                        </a:rPr>
                        <a:t>Is it actually good, and better than the last version?</a:t>
                      </a:r>
                    </a:p>
                  </a:txBody>
                  <a:tcPr marL="73152" marR="73152" marT="27432" marB="27432" anchor="ctr">
                    <a:solidFill>
                      <a:srgbClr val="F3F5F9"/>
                    </a:solidFill>
                  </a:tcPr>
                </a:tc>
              </a:tr>
              <a:tr h="283464">
                <a:tc>
                  <a:txBody>
                    <a:bodyPr wrap="square"/>
                    <a:lstStyle/>
                    <a:p>
                      <a:r>
                        <a:rPr sz="950">
                          <a:solidFill>
                            <a:srgbClr val="011126"/>
                          </a:solidFill>
                          <a:latin typeface="Zalando Sans Medium"/>
                        </a:rPr>
                        <a:t>Durability and approval</a:t>
                      </a:r>
                    </a:p>
                  </a:txBody>
                  <a:tcPr marL="73152" marR="73152" marT="27432" marB="27432" anchor="ctr">
                    <a:solidFill>
                      <a:srgbClr val="FFFFFF"/>
                    </a:solidFill>
                  </a:tcPr>
                </a:tc>
                <a:tc>
                  <a:txBody>
                    <a:bodyPr wrap="square"/>
                    <a:lstStyle/>
                    <a:p>
                      <a:r>
                        <a:rPr sz="950">
                          <a:solidFill>
                            <a:srgbClr val="011126"/>
                          </a:solidFill>
                          <a:latin typeface="Zalando Sans Light"/>
                        </a:rPr>
                        <a:t>What survives a crash, and who signs off before an effect happens?</a:t>
                      </a:r>
                    </a:p>
                  </a:txBody>
                  <a:tcPr marL="73152" marR="73152" marT="27432" marB="27432" anchor="ctr">
                    <a:solidFill>
                      <a:srgbClr val="FFFFFF"/>
                    </a:solidFill>
                  </a:tcPr>
                </a:tc>
              </a:tr>
              <a:tr h="283464">
                <a:tc>
                  <a:txBody>
                    <a:bodyPr wrap="square"/>
                    <a:lstStyle/>
                    <a:p>
                      <a:r>
                        <a:rPr sz="950">
                          <a:solidFill>
                            <a:srgbClr val="011126"/>
                          </a:solidFill>
                          <a:latin typeface="Zalando Sans Medium"/>
                        </a:rPr>
                        <a:t>Orchestration</a:t>
                      </a:r>
                    </a:p>
                  </a:txBody>
                  <a:tcPr marL="73152" marR="73152" marT="27432" marB="27432" anchor="ctr">
                    <a:solidFill>
                      <a:srgbClr val="F3F5F9"/>
                    </a:solidFill>
                  </a:tcPr>
                </a:tc>
                <a:tc>
                  <a:txBody>
                    <a:bodyPr wrap="square"/>
                    <a:lstStyle/>
                    <a:p>
                      <a:r>
                        <a:rPr sz="950">
                          <a:solidFill>
                            <a:srgbClr val="011126"/>
                          </a:solidFill>
                          <a:latin typeface="Zalando Sans Light"/>
                        </a:rPr>
                        <a:t>How does a supervisor split work across scoped subagents?</a:t>
                      </a:r>
                    </a:p>
                  </a:txBody>
                  <a:tcPr marL="73152" marR="73152" marT="27432" marB="27432" anchor="ctr">
                    <a:solidFill>
                      <a:srgbClr val="F3F5F9"/>
                    </a:solidFill>
                  </a:tcPr>
                </a:tc>
              </a:tr>
              <a:tr h="283464">
                <a:tc>
                  <a:txBody>
                    <a:bodyPr wrap="square"/>
                    <a:lstStyle/>
                    <a:p>
                      <a:r>
                        <a:rPr sz="950">
                          <a:solidFill>
                            <a:srgbClr val="011126"/>
                          </a:solidFill>
                          <a:latin typeface="Zalando Sans Medium"/>
                        </a:rPr>
                        <a:t>Agent-to-agent (A2A)</a:t>
                      </a:r>
                    </a:p>
                  </a:txBody>
                  <a:tcPr marL="73152" marR="73152" marT="27432" marB="27432" anchor="ctr">
                    <a:solidFill>
                      <a:srgbClr val="FFFFFF"/>
                    </a:solidFill>
                  </a:tcPr>
                </a:tc>
                <a:tc>
                  <a:txBody>
                    <a:bodyPr wrap="square"/>
                    <a:lstStyle/>
                    <a:p>
                      <a:r>
                        <a:rPr sz="950">
                          <a:solidFill>
                            <a:srgbClr val="011126"/>
                          </a:solidFill>
                          <a:latin typeface="Zalando Sans Light"/>
                        </a:rPr>
                        <a:t>How do independent agent services discover and call each other?</a:t>
                      </a:r>
                    </a:p>
                  </a:txBody>
                  <a:tcPr marL="73152" marR="73152" marT="27432" marB="27432" anchor="ctr">
                    <a:solidFill>
                      <a:srgbClr val="FFFFFF"/>
                    </a:solidFill>
                  </a:tcPr>
                </a:tc>
              </a:tr>
              <a:tr h="283464">
                <a:tc>
                  <a:txBody>
                    <a:bodyPr wrap="square"/>
                    <a:lstStyle/>
                    <a:p>
                      <a:r>
                        <a:rPr sz="950">
                          <a:solidFill>
                            <a:srgbClr val="011126"/>
                          </a:solidFill>
                          <a:latin typeface="Zalando Sans Medium"/>
                        </a:rPr>
                        <a:t>Registry and console</a:t>
                      </a:r>
                    </a:p>
                  </a:txBody>
                  <a:tcPr marL="73152" marR="73152" marT="27432" marB="27432" anchor="ctr">
                    <a:solidFill>
                      <a:srgbClr val="F3F5F9"/>
                    </a:solidFill>
                  </a:tcPr>
                </a:tc>
                <a:tc>
                  <a:txBody>
                    <a:bodyPr wrap="square"/>
                    <a:lstStyle/>
                    <a:p>
                      <a:r>
                        <a:rPr sz="950">
                          <a:solidFill>
                            <a:srgbClr val="011126"/>
                          </a:solidFill>
                          <a:latin typeface="Zalando Sans Light"/>
                        </a:rPr>
                        <a:t>Which agents exist, which version ran, and what happened?</a:t>
                      </a:r>
                    </a:p>
                  </a:txBody>
                  <a:tcPr marL="73152" marR="73152" marT="27432" marB="27432" anchor="ctr">
                    <a:solidFill>
                      <a:srgbClr val="F3F5F9"/>
                    </a:solidFill>
                  </a:tcPr>
                </a:tc>
              </a:tr>
              <a:tr h="283464">
                <a:tc>
                  <a:txBody>
                    <a:bodyPr wrap="square"/>
                    <a:lstStyle/>
                    <a:p>
                      <a:r>
                        <a:rPr sz="950">
                          <a:solidFill>
                            <a:srgbClr val="011126"/>
                          </a:solidFill>
                          <a:latin typeface="Zalando Sans Medium"/>
                        </a:rPr>
                        <a:t>Tool gateway</a:t>
                      </a:r>
                    </a:p>
                  </a:txBody>
                  <a:tcPr marL="73152" marR="73152" marT="27432" marB="27432" anchor="ctr">
                    <a:solidFill>
                      <a:srgbClr val="FFFFFF"/>
                    </a:solidFill>
                  </a:tcPr>
                </a:tc>
                <a:tc>
                  <a:txBody>
                    <a:bodyPr wrap="square"/>
                    <a:lstStyle/>
                    <a:p>
                      <a:r>
                        <a:rPr sz="950">
                          <a:solidFill>
                            <a:srgbClr val="011126"/>
                          </a:solidFill>
                          <a:latin typeface="Zalando Sans Light"/>
                        </a:rPr>
                        <a:t>Is every tool call checked against one policy and recorded?</a:t>
                      </a:r>
                    </a:p>
                  </a:txBody>
                  <a:tcPr marL="73152" marR="73152" marT="27432" marB="27432" anchor="ctr">
                    <a:solidFill>
                      <a:srgbClr val="FFFFFF"/>
                    </a:solidFill>
                  </a:tcPr>
                </a:tc>
              </a:tr>
              <a:tr h="283464">
                <a:tc>
                  <a:txBody>
                    <a:bodyPr wrap="square"/>
                    <a:lstStyle/>
                    <a:p>
                      <a:r>
                        <a:rPr sz="950">
                          <a:solidFill>
                            <a:srgbClr val="011126"/>
                          </a:solidFill>
                          <a:latin typeface="Zalando Sans Medium"/>
                        </a:rPr>
                        <a:t>Identity and credentials</a:t>
                      </a:r>
                    </a:p>
                  </a:txBody>
                  <a:tcPr marL="73152" marR="73152" marT="27432" marB="27432" anchor="ctr">
                    <a:solidFill>
                      <a:srgbClr val="F3F5F9"/>
                    </a:solidFill>
                  </a:tcPr>
                </a:tc>
                <a:tc>
                  <a:txBody>
                    <a:bodyPr wrap="square"/>
                    <a:lstStyle/>
                    <a:p>
                      <a:r>
                        <a:rPr sz="950">
                          <a:solidFill>
                            <a:srgbClr val="011126"/>
                          </a:solidFill>
                          <a:latin typeface="Zalando Sans Light"/>
                        </a:rPr>
                        <a:t>On whose behalf does each agent act, and with which secrets?</a:t>
                      </a:r>
                    </a:p>
                  </a:txBody>
                  <a:tcPr marL="73152" marR="73152" marT="27432" marB="27432" anchor="ctr">
                    <a:solidFill>
                      <a:srgbClr val="F3F5F9"/>
                    </a:solidFill>
                  </a:tcPr>
                </a:tc>
              </a:tr>
              <a:tr h="283464">
                <a:tc>
                  <a:txBody>
                    <a:bodyPr wrap="square"/>
                    <a:lstStyle/>
                    <a:p>
                      <a:r>
                        <a:rPr sz="950">
                          <a:solidFill>
                            <a:srgbClr val="011126"/>
                          </a:solidFill>
                          <a:latin typeface="Zalando Sans Medium"/>
                        </a:rPr>
                        <a:t>Operations and releases</a:t>
                      </a:r>
                    </a:p>
                  </a:txBody>
                  <a:tcPr marL="73152" marR="73152" marT="27432" marB="27432" anchor="ctr">
                    <a:solidFill>
                      <a:srgbClr val="FFFFFF"/>
                    </a:solidFill>
                  </a:tcPr>
                </a:tc>
                <a:tc>
                  <a:txBody>
                    <a:bodyPr wrap="square"/>
                    <a:lstStyle/>
                    <a:p>
                      <a:r>
                        <a:rPr sz="950">
                          <a:solidFill>
                            <a:srgbClr val="011126"/>
                          </a:solidFill>
                          <a:latin typeface="Zalando Sans Light"/>
                        </a:rPr>
                        <a:t>Can we trace, throttle, roll out and roll back safely?</a:t>
                      </a:r>
                    </a:p>
                  </a:txBody>
                  <a:tcPr marL="73152" marR="73152" marT="27432" marB="27432" anchor="ctr">
                    <a:solidFill>
                      <a:srgbClr val="FFFFFF"/>
                    </a:solidFill>
                  </a:tcPr>
                </a:tc>
              </a:tr>
              <a:tr h="283464">
                <a:tc>
                  <a:txBody>
                    <a:bodyPr wrap="square"/>
                    <a:lstStyle/>
                    <a:p>
                      <a:r>
                        <a:rPr sz="950">
                          <a:solidFill>
                            <a:srgbClr val="011126"/>
                          </a:solidFill>
                          <a:latin typeface="Zalando Sans Medium"/>
                        </a:rPr>
                        <a:t>Capstone</a:t>
                      </a:r>
                    </a:p>
                  </a:txBody>
                  <a:tcPr marL="73152" marR="73152" marT="27432" marB="27432" anchor="ctr">
                    <a:solidFill>
                      <a:srgbClr val="F3F5F9"/>
                    </a:solidFill>
                  </a:tcPr>
                </a:tc>
                <a:tc>
                  <a:txBody>
                    <a:bodyPr wrap="square"/>
                    <a:lstStyle/>
                    <a:p>
                      <a:r>
                        <a:rPr sz="950">
                          <a:solidFill>
                            <a:srgbClr val="011126"/>
                          </a:solidFill>
                          <a:latin typeface="Zalando Sans Light"/>
                        </a:rPr>
                        <a:t>Can you show a measured improvement and defend your design?</a:t>
                      </a:r>
                    </a:p>
                  </a:txBody>
                  <a:tcPr marL="73152" marR="73152" marT="27432" marB="27432" anchor="ctr">
                    <a:solidFill>
                      <a:srgbClr val="F3F5F9"/>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platform we build</a:t>
            </a:r>
          </a:p>
        </p:txBody>
      </p:sp>
      <p:sp>
        <p:nvSpPr>
          <p:cNvPr id="3" name="Rounded Rectangle 2"/>
          <p:cNvSpPr/>
          <p:nvPr/>
        </p:nvSpPr>
        <p:spPr>
          <a:xfrm>
            <a:off x="548640" y="868680"/>
            <a:ext cx="8046720" cy="640080"/>
          </a:xfrm>
          <a:prstGeom prst="roundRect">
            <a:avLst>
              <a:gd name="adj" fmla="val 11428"/>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31520" y="914400"/>
            <a:ext cx="7680960" cy="566928"/>
          </a:xfrm>
          <a:prstGeom prst="rect">
            <a:avLst/>
          </a:prstGeom>
          <a:noFill/>
        </p:spPr>
        <p:txBody>
          <a:bodyPr wrap="square" anchor="t" lIns="0" rIns="0" tIns="0" bIns="0">
            <a:spAutoFit/>
          </a:bodyPr>
          <a:lstStyle/>
          <a:p>
            <a:pPr algn="l">
              <a:spcAft>
                <a:spcPts val="400"/>
              </a:spcAft>
            </a:pPr>
            <a:r>
              <a:rPr sz="1300">
                <a:solidFill>
                  <a:srgbClr val="011126"/>
                </a:solidFill>
                <a:latin typeface="Zalando Sans Medium"/>
              </a:rPr>
              <a:t>Platform console</a:t>
            </a:r>
          </a:p>
          <a:p>
            <a:pPr algn="l">
              <a:spcAft>
                <a:spcPts val="400"/>
              </a:spcAft>
            </a:pPr>
            <a:r>
              <a:rPr sz="900">
                <a:solidFill>
                  <a:srgbClr val="6B7280"/>
                </a:solidFill>
                <a:latin typeface="IBM Plex Mono"/>
              </a:rPr>
              <a:t>registry · runs · approvals · gateway audit · identity · operations</a:t>
            </a:r>
          </a:p>
        </p:txBody>
      </p:sp>
      <p:sp>
        <p:nvSpPr>
          <p:cNvPr id="5" name="Rounded Rectangle 4"/>
          <p:cNvSpPr/>
          <p:nvPr/>
        </p:nvSpPr>
        <p:spPr>
          <a:xfrm>
            <a:off x="548640" y="1783080"/>
            <a:ext cx="2286000" cy="1828800"/>
          </a:xfrm>
          <a:prstGeom prst="roundRect">
            <a:avLst>
              <a:gd name="adj" fmla="val 4000"/>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13232" y="1874519"/>
            <a:ext cx="1965960" cy="1691640"/>
          </a:xfrm>
          <a:prstGeom prst="rect">
            <a:avLst/>
          </a:prstGeom>
          <a:noFill/>
        </p:spPr>
        <p:txBody>
          <a:bodyPr wrap="square" anchor="t" lIns="0" rIns="0" tIns="0" bIns="0">
            <a:spAutoFit/>
          </a:bodyPr>
          <a:lstStyle/>
          <a:p>
            <a:pPr algn="l">
              <a:spcAft>
                <a:spcPts val="400"/>
              </a:spcAft>
            </a:pPr>
            <a:r>
              <a:rPr sz="1300">
                <a:solidFill>
                  <a:srgbClr val="011126"/>
                </a:solidFill>
                <a:latin typeface="Zalando Sans Medium"/>
              </a:rPr>
              <a:t>Agent registry</a:t>
            </a:r>
          </a:p>
          <a:p>
            <a:pPr algn="l">
              <a:spcAft>
                <a:spcPts val="400"/>
              </a:spcAft>
            </a:pPr>
            <a:r>
              <a:rPr sz="1000">
                <a:solidFill>
                  <a:srgbClr val="6B7280"/>
                </a:solidFill>
                <a:latin typeface="Zalando Sans Light"/>
              </a:rPr>
              <a:t>versioned agents, remote agents, tool servers</a:t>
            </a:r>
          </a:p>
          <a:p>
            <a:pPr algn="l">
              <a:spcAft>
                <a:spcPts val="400"/>
              </a:spcAft>
            </a:pPr>
            <a:r>
              <a:rPr sz="1200">
                <a:solidFill>
                  <a:srgbClr val="3C3C3C"/>
                </a:solidFill>
                <a:latin typeface="Zalando Sans Light"/>
              </a:rPr>
              <a:t> </a:t>
            </a:r>
          </a:p>
          <a:p>
            <a:pPr algn="l">
              <a:spcAft>
                <a:spcPts val="400"/>
              </a:spcAft>
            </a:pPr>
            <a:r>
              <a:rPr sz="1300">
                <a:solidFill>
                  <a:srgbClr val="011126"/>
                </a:solidFill>
                <a:latin typeface="Zalando Sans Medium"/>
              </a:rPr>
              <a:t>Supervisor + A2A</a:t>
            </a:r>
          </a:p>
          <a:p>
            <a:pPr algn="l">
              <a:spcAft>
                <a:spcPts val="400"/>
              </a:spcAft>
            </a:pPr>
            <a:r>
              <a:rPr sz="1000">
                <a:solidFill>
                  <a:srgbClr val="6B7280"/>
                </a:solidFill>
                <a:latin typeface="Zalando Sans Light"/>
              </a:rPr>
              <a:t>subagents, remote specialists</a:t>
            </a:r>
          </a:p>
        </p:txBody>
      </p:sp>
      <p:sp>
        <p:nvSpPr>
          <p:cNvPr id="7" name="Rounded Rectangle 6"/>
          <p:cNvSpPr/>
          <p:nvPr/>
        </p:nvSpPr>
        <p:spPr>
          <a:xfrm>
            <a:off x="6309360" y="1783080"/>
            <a:ext cx="2286000" cy="1828800"/>
          </a:xfrm>
          <a:prstGeom prst="roundRect">
            <a:avLst>
              <a:gd name="adj" fmla="val 4000"/>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473952" y="1874519"/>
            <a:ext cx="1965960" cy="1691640"/>
          </a:xfrm>
          <a:prstGeom prst="rect">
            <a:avLst/>
          </a:prstGeom>
          <a:noFill/>
        </p:spPr>
        <p:txBody>
          <a:bodyPr wrap="square" anchor="t" lIns="0" rIns="0" tIns="0" bIns="0">
            <a:spAutoFit/>
          </a:bodyPr>
          <a:lstStyle/>
          <a:p>
            <a:pPr algn="l">
              <a:spcAft>
                <a:spcPts val="400"/>
              </a:spcAft>
            </a:pPr>
            <a:r>
              <a:rPr sz="1300">
                <a:solidFill>
                  <a:srgbClr val="011126"/>
                </a:solidFill>
                <a:latin typeface="Zalando Sans Medium"/>
              </a:rPr>
              <a:t>MCP tool gateway</a:t>
            </a:r>
          </a:p>
          <a:p>
            <a:pPr algn="l">
              <a:spcAft>
                <a:spcPts val="400"/>
              </a:spcAft>
            </a:pPr>
            <a:r>
              <a:rPr sz="1000">
                <a:solidFill>
                  <a:srgbClr val="6B7280"/>
                </a:solidFill>
                <a:latin typeface="Zalando Sans Light"/>
              </a:rPr>
              <a:t>policy and audit on every tool call</a:t>
            </a:r>
          </a:p>
          <a:p>
            <a:pPr algn="l">
              <a:spcAft>
                <a:spcPts val="400"/>
              </a:spcAft>
            </a:pPr>
            <a:r>
              <a:rPr sz="1200">
                <a:solidFill>
                  <a:srgbClr val="3C3C3C"/>
                </a:solidFill>
                <a:latin typeface="Zalando Sans Light"/>
              </a:rPr>
              <a:t> </a:t>
            </a:r>
          </a:p>
          <a:p>
            <a:pPr algn="l">
              <a:spcAft>
                <a:spcPts val="400"/>
              </a:spcAft>
            </a:pPr>
            <a:r>
              <a:rPr sz="1300">
                <a:solidFill>
                  <a:srgbClr val="011126"/>
                </a:solidFill>
                <a:latin typeface="Zalando Sans Medium"/>
              </a:rPr>
              <a:t>Identity</a:t>
            </a:r>
          </a:p>
          <a:p>
            <a:pPr algn="l">
              <a:spcAft>
                <a:spcPts val="400"/>
              </a:spcAft>
            </a:pPr>
            <a:r>
              <a:rPr sz="1000">
                <a:solidFill>
                  <a:srgbClr val="6B7280"/>
                </a:solidFill>
                <a:latin typeface="Zalando Sans Light"/>
              </a:rPr>
              <a:t>delegated, short-lived credentials</a:t>
            </a:r>
          </a:p>
        </p:txBody>
      </p:sp>
      <p:sp>
        <p:nvSpPr>
          <p:cNvPr id="9" name="Rounded Rectangle 8"/>
          <p:cNvSpPr/>
          <p:nvPr/>
        </p:nvSpPr>
        <p:spPr>
          <a:xfrm>
            <a:off x="3246120" y="1874519"/>
            <a:ext cx="2651760" cy="1645920"/>
          </a:xfrm>
          <a:prstGeom prst="roundRect">
            <a:avLst>
              <a:gd name="adj" fmla="val 4444"/>
            </a:avLst>
          </a:prstGeom>
          <a:solidFill>
            <a:srgbClr val="E6EAFE"/>
          </a:solidFill>
          <a:ln w="19050">
            <a:solidFill>
              <a:srgbClr val="0020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429000" y="1965960"/>
            <a:ext cx="2286000" cy="1508760"/>
          </a:xfrm>
          <a:prstGeom prst="rect">
            <a:avLst/>
          </a:prstGeom>
          <a:noFill/>
        </p:spPr>
        <p:txBody>
          <a:bodyPr wrap="square" anchor="t" lIns="0" rIns="0" tIns="0" bIns="0">
            <a:spAutoFit/>
          </a:bodyPr>
          <a:lstStyle/>
          <a:p>
            <a:pPr algn="l">
              <a:spcAft>
                <a:spcPts val="400"/>
              </a:spcAft>
            </a:pPr>
            <a:r>
              <a:rPr sz="1400">
                <a:solidFill>
                  <a:srgbClr val="011126"/>
                </a:solidFill>
                <a:latin typeface="Zalando Sans Medium"/>
              </a:rPr>
              <a:t>Agent runtime</a:t>
            </a:r>
          </a:p>
          <a:p>
            <a:pPr algn="l">
              <a:spcAft>
                <a:spcPts val="400"/>
              </a:spcAft>
            </a:pPr>
            <a:r>
              <a:rPr sz="900">
                <a:solidFill>
                  <a:srgbClr val="6B7280"/>
                </a:solidFill>
                <a:latin typeface="IBM Plex Mono"/>
              </a:rPr>
              <a:t>bounded ReAct loop</a:t>
            </a:r>
          </a:p>
          <a:p>
            <a:pPr algn="l">
              <a:spcAft>
                <a:spcPts val="400"/>
              </a:spcAft>
            </a:pPr>
            <a:r>
              <a:rPr sz="900">
                <a:solidFill>
                  <a:srgbClr val="6B7280"/>
                </a:solidFill>
                <a:latin typeface="IBM Plex Mono"/>
              </a:rPr>
              <a:t>run contract · limits · events</a:t>
            </a:r>
          </a:p>
          <a:p>
            <a:pPr algn="l">
              <a:spcAft>
                <a:spcPts val="400"/>
              </a:spcAft>
            </a:pPr>
            <a:r>
              <a:rPr sz="1200">
                <a:solidFill>
                  <a:srgbClr val="3C3C3C"/>
                </a:solidFill>
                <a:latin typeface="Zalando Sans Light"/>
              </a:rPr>
              <a:t> </a:t>
            </a:r>
          </a:p>
          <a:p>
            <a:pPr algn="l">
              <a:spcAft>
                <a:spcPts val="400"/>
              </a:spcAft>
            </a:pPr>
            <a:r>
              <a:rPr sz="1100">
                <a:solidFill>
                  <a:srgbClr val="0020BB"/>
                </a:solidFill>
                <a:latin typeface="Zalando Sans Medium"/>
              </a:rPr>
              <a:t>TODAY</a:t>
            </a:r>
          </a:p>
        </p:txBody>
      </p:sp>
      <p:sp>
        <p:nvSpPr>
          <p:cNvPr id="11" name="Rounded Rectangle 10"/>
          <p:cNvSpPr/>
          <p:nvPr/>
        </p:nvSpPr>
        <p:spPr>
          <a:xfrm>
            <a:off x="548640" y="3840480"/>
            <a:ext cx="8046720" cy="640080"/>
          </a:xfrm>
          <a:prstGeom prst="roundRect">
            <a:avLst>
              <a:gd name="adj" fmla="val 11428"/>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31520" y="3886200"/>
            <a:ext cx="7680960" cy="566928"/>
          </a:xfrm>
          <a:prstGeom prst="rect">
            <a:avLst/>
          </a:prstGeom>
          <a:noFill/>
        </p:spPr>
        <p:txBody>
          <a:bodyPr wrap="square" anchor="t" lIns="0" rIns="0" tIns="0" bIns="0">
            <a:spAutoFit/>
          </a:bodyPr>
          <a:lstStyle/>
          <a:p>
            <a:pPr algn="l">
              <a:spcAft>
                <a:spcPts val="400"/>
              </a:spcAft>
            </a:pPr>
            <a:r>
              <a:rPr sz="1300">
                <a:solidFill>
                  <a:srgbClr val="011126"/>
                </a:solidFill>
                <a:latin typeface="Zalando Sans Medium"/>
              </a:rPr>
              <a:t>Context · evaluation · durability · operations</a:t>
            </a:r>
          </a:p>
          <a:p>
            <a:pPr algn="l">
              <a:spcAft>
                <a:spcPts val="400"/>
              </a:spcAft>
            </a:pPr>
            <a:r>
              <a:rPr sz="900">
                <a:solidFill>
                  <a:srgbClr val="6B7280"/>
                </a:solidFill>
                <a:latin typeface="IBM Plex Mono"/>
              </a:rPr>
              <a:t>memory · eval harness · checkpoints and approval · traces and releases · tuning</a:t>
            </a:r>
          </a:p>
        </p:txBody>
      </p:sp>
      <p:cxnSp>
        <p:nvCxnSpPr>
          <p:cNvPr id="13" name="Connector 12"/>
          <p:cNvCxnSpPr/>
          <p:nvPr/>
        </p:nvCxnSpPr>
        <p:spPr>
          <a:xfrm>
            <a:off x="2834640" y="2697480"/>
            <a:ext cx="384048" cy="0"/>
          </a:xfrm>
          <a:prstGeom prst="line">
            <a:avLst/>
          </a:prstGeom>
          <a:ln w="15875">
            <a:solidFill>
              <a:srgbClr val="01112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5925312" y="2697480"/>
            <a:ext cx="384048" cy="0"/>
          </a:xfrm>
          <a:prstGeom prst="line">
            <a:avLst/>
          </a:prstGeom>
          <a:ln w="15875">
            <a:solidFill>
              <a:srgbClr val="01112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572000" y="1536192"/>
            <a:ext cx="0" cy="338327"/>
          </a:xfrm>
          <a:prstGeom prst="line">
            <a:avLst/>
          </a:prstGeom>
          <a:ln w="15875">
            <a:solidFill>
              <a:srgbClr val="01112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4572000" y="3520440"/>
            <a:ext cx="0" cy="292608"/>
          </a:xfrm>
          <a:prstGeom prst="line">
            <a:avLst/>
          </a:prstGeom>
          <a:ln w="15875">
            <a:solidFill>
              <a:srgbClr val="011126"/>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we work in this course</a:t>
            </a:r>
          </a:p>
        </p:txBody>
      </p:sp>
      <p:sp>
        <p:nvSpPr>
          <p:cNvPr id="3" name="Rounded Rectangle 2"/>
          <p:cNvSpPr/>
          <p:nvPr/>
        </p:nvSpPr>
        <p:spPr>
          <a:xfrm>
            <a:off x="365760" y="960120"/>
            <a:ext cx="4069080" cy="1417320"/>
          </a:xfrm>
          <a:prstGeom prst="roundRect">
            <a:avLst>
              <a:gd name="adj" fmla="val 5161"/>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069848"/>
            <a:ext cx="3794760" cy="1234440"/>
          </a:xfrm>
          <a:prstGeom prst="rect">
            <a:avLst/>
          </a:prstGeom>
          <a:noFill/>
        </p:spPr>
        <p:txBody>
          <a:bodyPr wrap="square" anchor="t" lIns="0" rIns="0" tIns="0" bIns="0">
            <a:spAutoFit/>
          </a:bodyPr>
          <a:lstStyle/>
          <a:p>
            <a:pPr algn="l">
              <a:spcAft>
                <a:spcPts val="500"/>
              </a:spcAft>
            </a:pPr>
            <a:r>
              <a:rPr sz="1300">
                <a:solidFill>
                  <a:srgbClr val="0020BB"/>
                </a:solidFill>
                <a:latin typeface="Zalando Sans Medium"/>
              </a:rPr>
              <a:t>You direct a coding agent</a:t>
            </a:r>
          </a:p>
          <a:p>
            <a:pPr algn="l">
              <a:spcAft>
                <a:spcPts val="500"/>
              </a:spcAft>
            </a:pPr>
            <a:r>
              <a:rPr sz="1100">
                <a:solidFill>
                  <a:srgbClr val="3C3C3C"/>
                </a:solidFill>
                <a:latin typeface="Zalando Sans Light"/>
              </a:rPr>
              <a:t>You set scope, read the change and judge the evidence. The agent types the code and runs the checks.</a:t>
            </a:r>
          </a:p>
        </p:txBody>
      </p:sp>
      <p:sp>
        <p:nvSpPr>
          <p:cNvPr id="5" name="Rounded Rectangle 4"/>
          <p:cNvSpPr/>
          <p:nvPr/>
        </p:nvSpPr>
        <p:spPr>
          <a:xfrm>
            <a:off x="4617720" y="960120"/>
            <a:ext cx="4069080" cy="1417320"/>
          </a:xfrm>
          <a:prstGeom prst="roundRect">
            <a:avLst>
              <a:gd name="adj" fmla="val 5161"/>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754880" y="1069848"/>
            <a:ext cx="3794760" cy="1234440"/>
          </a:xfrm>
          <a:prstGeom prst="rect">
            <a:avLst/>
          </a:prstGeom>
          <a:noFill/>
        </p:spPr>
        <p:txBody>
          <a:bodyPr wrap="square" anchor="t" lIns="0" rIns="0" tIns="0" bIns="0">
            <a:spAutoFit/>
          </a:bodyPr>
          <a:lstStyle/>
          <a:p>
            <a:pPr algn="l">
              <a:spcAft>
                <a:spcPts val="500"/>
              </a:spcAft>
            </a:pPr>
            <a:r>
              <a:rPr sz="1300">
                <a:solidFill>
                  <a:srgbClr val="0020BB"/>
                </a:solidFill>
                <a:latin typeface="Zalando Sans Medium"/>
              </a:rPr>
              <a:t>Every session ends runnable</a:t>
            </a:r>
          </a:p>
          <a:p>
            <a:pPr algn="l">
              <a:spcAft>
                <a:spcPts val="500"/>
              </a:spcAft>
            </a:pPr>
            <a:r>
              <a:rPr sz="1100">
                <a:solidFill>
                  <a:srgbClr val="3C3C3C"/>
                </a:solidFill>
                <a:latin typeface="Zalando Sans Light"/>
              </a:rPr>
              <a:t>Each session finishes at a checkpoint with tests that pass, pushed to your GitLab repository.</a:t>
            </a:r>
          </a:p>
        </p:txBody>
      </p:sp>
      <p:sp>
        <p:nvSpPr>
          <p:cNvPr id="7" name="Rounded Rectangle 6"/>
          <p:cNvSpPr/>
          <p:nvPr/>
        </p:nvSpPr>
        <p:spPr>
          <a:xfrm>
            <a:off x="365760" y="2560320"/>
            <a:ext cx="4069080" cy="1417320"/>
          </a:xfrm>
          <a:prstGeom prst="roundRect">
            <a:avLst>
              <a:gd name="adj" fmla="val 5161"/>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02920" y="2670048"/>
            <a:ext cx="3794760" cy="1234440"/>
          </a:xfrm>
          <a:prstGeom prst="rect">
            <a:avLst/>
          </a:prstGeom>
          <a:noFill/>
        </p:spPr>
        <p:txBody>
          <a:bodyPr wrap="square" anchor="t" lIns="0" rIns="0" tIns="0" bIns="0">
            <a:spAutoFit/>
          </a:bodyPr>
          <a:lstStyle/>
          <a:p>
            <a:pPr algn="l">
              <a:spcAft>
                <a:spcPts val="500"/>
              </a:spcAft>
            </a:pPr>
            <a:r>
              <a:rPr sz="1300">
                <a:solidFill>
                  <a:srgbClr val="0020BB"/>
                </a:solidFill>
                <a:latin typeface="Zalando Sans Medium"/>
              </a:rPr>
              <a:t>Evidence, not claims</a:t>
            </a:r>
          </a:p>
          <a:p>
            <a:pPr algn="l">
              <a:spcAft>
                <a:spcPts val="500"/>
              </a:spcAft>
            </a:pPr>
            <a:r>
              <a:rPr sz="1100">
                <a:solidFill>
                  <a:srgbClr val="3C3C3C"/>
                </a:solidFill>
                <a:latin typeface="Zalando Sans Light"/>
              </a:rPr>
              <a:t>A coding agent saying "done" proves nothing. We look at diffs, test output and run events.</a:t>
            </a:r>
          </a:p>
        </p:txBody>
      </p:sp>
      <p:sp>
        <p:nvSpPr>
          <p:cNvPr id="9" name="Rounded Rectangle 8"/>
          <p:cNvSpPr/>
          <p:nvPr/>
        </p:nvSpPr>
        <p:spPr>
          <a:xfrm>
            <a:off x="4617720" y="2560320"/>
            <a:ext cx="4069080" cy="1417320"/>
          </a:xfrm>
          <a:prstGeom prst="roundRect">
            <a:avLst>
              <a:gd name="adj" fmla="val 5161"/>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754880" y="2670048"/>
            <a:ext cx="3794760" cy="1234440"/>
          </a:xfrm>
          <a:prstGeom prst="rect">
            <a:avLst/>
          </a:prstGeom>
          <a:noFill/>
        </p:spPr>
        <p:txBody>
          <a:bodyPr wrap="square" anchor="t" lIns="0" rIns="0" tIns="0" bIns="0">
            <a:spAutoFit/>
          </a:bodyPr>
          <a:lstStyle/>
          <a:p>
            <a:pPr algn="l">
              <a:spcAft>
                <a:spcPts val="500"/>
              </a:spcAft>
            </a:pPr>
            <a:r>
              <a:rPr sz="1300">
                <a:solidFill>
                  <a:srgbClr val="0020BB"/>
                </a:solidFill>
                <a:latin typeface="Zalando Sans Medium"/>
              </a:rPr>
              <a:t>Offline and synthetic</a:t>
            </a:r>
          </a:p>
          <a:p>
            <a:pPr algn="l">
              <a:spcAft>
                <a:spcPts val="500"/>
              </a:spcAft>
            </a:pPr>
            <a:r>
              <a:rPr sz="1100">
                <a:solidFill>
                  <a:srgbClr val="3C3C3C"/>
                </a:solidFill>
                <a:latin typeface="Zalando Sans Light"/>
              </a:rPr>
              <a:t>A deterministic mock model and invented data: same behaviour for everyone, no keys, no cost.</a:t>
            </a:r>
          </a:p>
        </p:txBody>
      </p:sp>
      <p:sp>
        <p:nvSpPr>
          <p:cNvPr id="11" name="TextBox 10"/>
          <p:cNvSpPr txBox="1"/>
          <p:nvPr/>
        </p:nvSpPr>
        <p:spPr>
          <a:xfrm>
            <a:off x="365760" y="4206240"/>
            <a:ext cx="8229600" cy="320040"/>
          </a:xfrm>
          <a:prstGeom prst="rect">
            <a:avLst/>
          </a:prstGeom>
          <a:noFill/>
        </p:spPr>
        <p:txBody>
          <a:bodyPr wrap="square" anchor="t" lIns="0" rIns="0" tIns="0" bIns="0">
            <a:spAutoFit/>
          </a:bodyPr>
          <a:lstStyle/>
          <a:p>
            <a:pPr algn="l">
              <a:spcAft>
                <a:spcPts val="400"/>
              </a:spcAft>
            </a:pPr>
            <a:r>
              <a:rPr sz="1100">
                <a:solidFill>
                  <a:srgbClr val="6B7280"/>
                </a:solidFill>
                <a:latin typeface="Zalando Sans Light"/>
              </a:rPr>
              <a:t>Capstone: your own tuned platform, a runbook, a live demo, and a before/after comparison of quality, cost and latency.</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premise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platform investigates incidents</a:t>
            </a:r>
          </a:p>
        </p:txBody>
      </p:sp>
      <p:sp>
        <p:nvSpPr>
          <p:cNvPr id="3" name="TextBox 2"/>
          <p:cNvSpPr txBox="1"/>
          <p:nvPr/>
        </p:nvSpPr>
        <p:spPr>
          <a:xfrm>
            <a:off x="365760" y="804672"/>
            <a:ext cx="7680960" cy="457200"/>
          </a:xfrm>
          <a:prstGeom prst="rect">
            <a:avLst/>
          </a:prstGeom>
          <a:noFill/>
        </p:spPr>
        <p:txBody>
          <a:bodyPr wrap="square" anchor="t" lIns="0" rIns="0" tIns="0" bIns="0">
            <a:spAutoFit/>
          </a:bodyPr>
          <a:lstStyle/>
          <a:p>
            <a:pPr algn="l">
              <a:spcAft>
                <a:spcPts val="400"/>
              </a:spcAft>
            </a:pPr>
            <a:r>
              <a:rPr sz="1300">
                <a:solidFill>
                  <a:srgbClr val="3C3C3C"/>
                </a:solidFill>
                <a:latin typeface="Zalando Sans Light"/>
              </a:rPr>
              <a:t>The payments team reports slow checkout. An investigation agent picks up the ticket, reads, and must cite its evidence.</a:t>
            </a:r>
          </a:p>
        </p:txBody>
      </p:sp>
      <p:sp>
        <p:nvSpPr>
          <p:cNvPr id="4" name="Rounded Rectangle 3"/>
          <p:cNvSpPr/>
          <p:nvPr/>
        </p:nvSpPr>
        <p:spPr>
          <a:xfrm>
            <a:off x="365760" y="1463040"/>
            <a:ext cx="2697480" cy="2103120"/>
          </a:xfrm>
          <a:prstGeom prst="roundRect">
            <a:avLst>
              <a:gd name="adj" fmla="val 3478"/>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02920" y="1572768"/>
            <a:ext cx="2423160" cy="1920239"/>
          </a:xfrm>
          <a:prstGeom prst="rect">
            <a:avLst/>
          </a:prstGeom>
          <a:noFill/>
        </p:spPr>
        <p:txBody>
          <a:bodyPr wrap="square" anchor="t" lIns="0" rIns="0" tIns="0" bIns="0">
            <a:spAutoFit/>
          </a:bodyPr>
          <a:lstStyle/>
          <a:p>
            <a:pPr algn="l">
              <a:spcAft>
                <a:spcPts val="500"/>
              </a:spcAft>
            </a:pPr>
            <a:r>
              <a:rPr sz="1300">
                <a:solidFill>
                  <a:srgbClr val="0020BB"/>
                </a:solidFill>
                <a:latin typeface="Zalando Sans Medium"/>
              </a:rPr>
              <a:t>Ticket</a:t>
            </a:r>
          </a:p>
          <a:p>
            <a:pPr algn="l">
              <a:spcAft>
                <a:spcPts val="500"/>
              </a:spcAft>
            </a:pPr>
            <a:r>
              <a:rPr sz="1100">
                <a:solidFill>
                  <a:srgbClr val="3C3C3C"/>
                </a:solidFill>
                <a:latin typeface="Zalando Sans Light"/>
              </a:rPr>
              <a:t>The report from the business: which service, what people noticed, and an ID such as INC-001. It is the agent's task.</a:t>
            </a:r>
          </a:p>
        </p:txBody>
      </p:sp>
      <p:sp>
        <p:nvSpPr>
          <p:cNvPr id="6" name="Rounded Rectangle 5"/>
          <p:cNvSpPr/>
          <p:nvPr/>
        </p:nvSpPr>
        <p:spPr>
          <a:xfrm>
            <a:off x="3200400" y="1463040"/>
            <a:ext cx="2697480" cy="2103120"/>
          </a:xfrm>
          <a:prstGeom prst="roundRect">
            <a:avLst>
              <a:gd name="adj" fmla="val 3478"/>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337560" y="1572768"/>
            <a:ext cx="2423160" cy="1920239"/>
          </a:xfrm>
          <a:prstGeom prst="rect">
            <a:avLst/>
          </a:prstGeom>
          <a:noFill/>
        </p:spPr>
        <p:txBody>
          <a:bodyPr wrap="square" anchor="t" lIns="0" rIns="0" tIns="0" bIns="0">
            <a:spAutoFit/>
          </a:bodyPr>
          <a:lstStyle/>
          <a:p>
            <a:pPr algn="l">
              <a:spcAft>
                <a:spcPts val="500"/>
              </a:spcAft>
            </a:pPr>
            <a:r>
              <a:rPr sz="1300">
                <a:solidFill>
                  <a:srgbClr val="0020BB"/>
                </a:solidFill>
                <a:latin typeface="Zalando Sans Medium"/>
              </a:rPr>
              <a:t>Log record</a:t>
            </a:r>
          </a:p>
          <a:p>
            <a:pPr algn="l">
              <a:spcAft>
                <a:spcPts val="500"/>
              </a:spcAft>
            </a:pPr>
            <a:r>
              <a:rPr sz="1100">
                <a:solidFill>
                  <a:srgbClr val="3C3C3C"/>
                </a:solidFill>
                <a:latin typeface="Zalando Sans Light"/>
              </a:rPr>
              <a:t>What monitoring captured. log_lookup returns the service, the signal (a 900 ms database wait after a deployment) and a suspected cause.</a:t>
            </a:r>
          </a:p>
        </p:txBody>
      </p:sp>
      <p:sp>
        <p:nvSpPr>
          <p:cNvPr id="8" name="Rounded Rectangle 7"/>
          <p:cNvSpPr/>
          <p:nvPr/>
        </p:nvSpPr>
        <p:spPr>
          <a:xfrm>
            <a:off x="6035040" y="1463040"/>
            <a:ext cx="2697480" cy="2103120"/>
          </a:xfrm>
          <a:prstGeom prst="roundRect">
            <a:avLst>
              <a:gd name="adj" fmla="val 3478"/>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172200" y="1572768"/>
            <a:ext cx="2423160" cy="1920239"/>
          </a:xfrm>
          <a:prstGeom prst="rect">
            <a:avLst/>
          </a:prstGeom>
          <a:noFill/>
        </p:spPr>
        <p:txBody>
          <a:bodyPr wrap="square" anchor="t" lIns="0" rIns="0" tIns="0" bIns="0">
            <a:spAutoFit/>
          </a:bodyPr>
          <a:lstStyle/>
          <a:p>
            <a:pPr algn="l">
              <a:spcAft>
                <a:spcPts val="500"/>
              </a:spcAft>
            </a:pPr>
            <a:r>
              <a:rPr sz="1300">
                <a:solidFill>
                  <a:srgbClr val="0020BB"/>
                </a:solidFill>
                <a:latin typeface="Zalando Sans Medium"/>
              </a:rPr>
              <a:t>Runbook</a:t>
            </a:r>
          </a:p>
          <a:p>
            <a:pPr algn="l">
              <a:spcAft>
                <a:spcPts val="500"/>
              </a:spcAft>
            </a:pPr>
            <a:r>
              <a:rPr sz="1100">
                <a:solidFill>
                  <a:srgbClr val="3C3C3C"/>
                </a:solidFill>
                <a:latin typeface="Zalando Sans Light"/>
              </a:rPr>
              <a:t>A team's written procedure for a known failure: how to recognise it, its usual cause, what to do. Read as evidence, never executed.</a:t>
            </a:r>
          </a:p>
        </p:txBody>
      </p:sp>
      <p:sp>
        <p:nvSpPr>
          <p:cNvPr id="10" name="TextBox 9"/>
          <p:cNvSpPr txBox="1"/>
          <p:nvPr/>
        </p:nvSpPr>
        <p:spPr>
          <a:xfrm>
            <a:off x="365760" y="3794760"/>
            <a:ext cx="8229600" cy="457200"/>
          </a:xfrm>
          <a:prstGeom prst="rect">
            <a:avLst/>
          </a:prstGeom>
          <a:noFill/>
        </p:spPr>
        <p:txBody>
          <a:bodyPr wrap="square" anchor="t" lIns="0" rIns="0" tIns="0" bIns="0">
            <a:spAutoFit/>
          </a:bodyPr>
          <a:lstStyle/>
          <a:p>
            <a:pPr algn="l">
              <a:spcAft>
                <a:spcPts val="400"/>
              </a:spcAft>
            </a:pPr>
            <a:r>
              <a:rPr sz="1100">
                <a:solidFill>
                  <a:srgbClr val="6B7280"/>
                </a:solidFill>
                <a:latin typeface="Zalando Sans Light"/>
              </a:rPr>
              <a:t>A good teaching case: tools, evidence, tenants that must not see each other's data, approvals before any effect, and more than one agent. All data are synthetic; no real system is touched.</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Astro's tickets, and case one</a:t>
            </a:r>
          </a:p>
        </p:txBody>
      </p:sp>
      <p:graphicFrame>
        <p:nvGraphicFramePr>
          <p:cNvPr id="3" name="Table 2"/>
          <p:cNvGraphicFramePr>
            <a:graphicFrameLocks noGrp="1"/>
          </p:cNvGraphicFramePr>
          <p:nvPr/>
        </p:nvGraphicFramePr>
        <p:xfrm>
          <a:off x="365760" y="914400"/>
          <a:ext cx="8229600" cy="1536192"/>
        </p:xfrm>
        <a:graphic>
          <a:graphicData uri="http://schemas.openxmlformats.org/drawingml/2006/table">
            <a:tbl>
              <a:tblPr firstRow="0" bandRow="0"/>
              <a:tblGrid>
                <a:gridCol w="1371600"/>
                <a:gridCol w="1005840"/>
                <a:gridCol w="2743200"/>
                <a:gridCol w="3108960"/>
              </a:tblGrid>
              <a:tr h="384048">
                <a:tc>
                  <a:txBody>
                    <a:bodyPr wrap="square"/>
                    <a:lstStyle/>
                    <a:p>
                      <a:r>
                        <a:rPr sz="1000">
                          <a:solidFill>
                            <a:srgbClr val="FFFFFF"/>
                          </a:solidFill>
                          <a:latin typeface="Zalando Sans Medium"/>
                        </a:rPr>
                        <a:t>Ticket</a:t>
                      </a:r>
                    </a:p>
                  </a:txBody>
                  <a:tcPr marL="73152" marR="73152" marT="27432" marB="27432" anchor="ctr">
                    <a:solidFill>
                      <a:srgbClr val="0020BB"/>
                    </a:solidFill>
                  </a:tcPr>
                </a:tc>
                <a:tc>
                  <a:txBody>
                    <a:bodyPr wrap="square"/>
                    <a:lstStyle/>
                    <a:p>
                      <a:r>
                        <a:rPr sz="1000">
                          <a:solidFill>
                            <a:srgbClr val="FFFFFF"/>
                          </a:solidFill>
                          <a:latin typeface="Zalando Sans Medium"/>
                        </a:rPr>
                        <a:t>Service</a:t>
                      </a:r>
                    </a:p>
                  </a:txBody>
                  <a:tcPr marL="73152" marR="73152" marT="27432" marB="27432" anchor="ctr">
                    <a:solidFill>
                      <a:srgbClr val="0020BB"/>
                    </a:solidFill>
                  </a:tcPr>
                </a:tc>
                <a:tc>
                  <a:txBody>
                    <a:bodyPr wrap="square"/>
                    <a:lstStyle/>
                    <a:p>
                      <a:r>
                        <a:rPr sz="1000">
                          <a:solidFill>
                            <a:srgbClr val="FFFFFF"/>
                          </a:solidFill>
                          <a:latin typeface="Zalando Sans Medium"/>
                        </a:rPr>
                        <a:t>What the logs show</a:t>
                      </a:r>
                    </a:p>
                  </a:txBody>
                  <a:tcPr marL="73152" marR="73152" marT="27432" marB="27432" anchor="ctr">
                    <a:solidFill>
                      <a:srgbClr val="0020BB"/>
                    </a:solidFill>
                  </a:tcPr>
                </a:tc>
                <a:tc>
                  <a:txBody>
                    <a:bodyPr wrap="square"/>
                    <a:lstStyle/>
                    <a:p>
                      <a:r>
                        <a:rPr sz="1000">
                          <a:solidFill>
                            <a:srgbClr val="FFFFFF"/>
                          </a:solidFill>
                          <a:latin typeface="Zalando Sans Medium"/>
                        </a:rPr>
                        <a:t>What a good agent concludes</a:t>
                      </a:r>
                    </a:p>
                  </a:txBody>
                  <a:tcPr marL="73152" marR="73152" marT="27432" marB="27432" anchor="ctr">
                    <a:solidFill>
                      <a:srgbClr val="0020BB"/>
                    </a:solidFill>
                  </a:tcPr>
                </a:tc>
              </a:tr>
              <a:tr h="384048">
                <a:tc>
                  <a:txBody>
                    <a:bodyPr wrap="square"/>
                    <a:lstStyle/>
                    <a:p>
                      <a:r>
                        <a:rPr sz="1000">
                          <a:solidFill>
                            <a:srgbClr val="011126"/>
                          </a:solidFill>
                          <a:latin typeface="Zalando Sans Medium"/>
                        </a:rPr>
                        <a:t>INC-001 · today</a:t>
                      </a:r>
                    </a:p>
                  </a:txBody>
                  <a:tcPr marL="73152" marR="73152" marT="27432" marB="27432" anchor="ctr">
                    <a:solidFill>
                      <a:srgbClr val="E6FFF7"/>
                    </a:solidFill>
                  </a:tcPr>
                </a:tc>
                <a:tc>
                  <a:txBody>
                    <a:bodyPr wrap="square"/>
                    <a:lstStyle/>
                    <a:p>
                      <a:r>
                        <a:rPr sz="1000">
                          <a:solidFill>
                            <a:srgbClr val="011126"/>
                          </a:solidFill>
                          <a:latin typeface="Zalando Sans Light"/>
                        </a:rPr>
                        <a:t>payments</a:t>
                      </a:r>
                    </a:p>
                  </a:txBody>
                  <a:tcPr marL="73152" marR="73152" marT="27432" marB="27432" anchor="ctr">
                    <a:solidFill>
                      <a:srgbClr val="E6FFF7"/>
                    </a:solidFill>
                  </a:tcPr>
                </a:tc>
                <a:tc>
                  <a:txBody>
                    <a:bodyPr wrap="square"/>
                    <a:lstStyle/>
                    <a:p>
                      <a:r>
                        <a:rPr sz="1000">
                          <a:solidFill>
                            <a:srgbClr val="011126"/>
                          </a:solidFill>
                          <a:latin typeface="Zalando Sans Light"/>
                        </a:rPr>
                        <a:t>DB pool wait 900 ms after deploy d42</a:t>
                      </a:r>
                    </a:p>
                  </a:txBody>
                  <a:tcPr marL="73152" marR="73152" marT="27432" marB="27432" anchor="ctr">
                    <a:solidFill>
                      <a:srgbClr val="E6FFF7"/>
                    </a:solidFill>
                  </a:tcPr>
                </a:tc>
                <a:tc>
                  <a:txBody>
                    <a:bodyPr wrap="square"/>
                    <a:lstStyle/>
                    <a:p>
                      <a:r>
                        <a:rPr sz="1000">
                          <a:solidFill>
                            <a:srgbClr val="011126"/>
                          </a:solidFill>
                          <a:latin typeface="Zalando Sans Light"/>
                        </a:rPr>
                        <a:t>connection pool exhaustion, with a matching runbook</a:t>
                      </a:r>
                    </a:p>
                  </a:txBody>
                  <a:tcPr marL="73152" marR="73152" marT="27432" marB="27432" anchor="ctr">
                    <a:solidFill>
                      <a:srgbClr val="E6FFF7"/>
                    </a:solidFill>
                  </a:tcPr>
                </a:tc>
              </a:tr>
              <a:tr h="384048">
                <a:tc>
                  <a:txBody>
                    <a:bodyPr wrap="square"/>
                    <a:lstStyle/>
                    <a:p>
                      <a:r>
                        <a:rPr sz="1000">
                          <a:solidFill>
                            <a:srgbClr val="011126"/>
                          </a:solidFill>
                          <a:latin typeface="Zalando Sans Medium"/>
                        </a:rPr>
                        <a:t>INC-002</a:t>
                      </a:r>
                    </a:p>
                  </a:txBody>
                  <a:tcPr marL="73152" marR="73152" marT="27432" marB="27432" anchor="ctr">
                    <a:solidFill>
                      <a:srgbClr val="F3F5F9"/>
                    </a:solidFill>
                  </a:tcPr>
                </a:tc>
                <a:tc>
                  <a:txBody>
                    <a:bodyPr wrap="square"/>
                    <a:lstStyle/>
                    <a:p>
                      <a:r>
                        <a:rPr sz="1000">
                          <a:solidFill>
                            <a:srgbClr val="011126"/>
                          </a:solidFill>
                          <a:latin typeface="Zalando Sans Light"/>
                        </a:rPr>
                        <a:t>login</a:t>
                      </a:r>
                    </a:p>
                  </a:txBody>
                  <a:tcPr marL="73152" marR="73152" marT="27432" marB="27432" anchor="ctr">
                    <a:solidFill>
                      <a:srgbClr val="F3F5F9"/>
                    </a:solidFill>
                  </a:tcPr>
                </a:tc>
                <a:tc>
                  <a:txBody>
                    <a:bodyPr wrap="square"/>
                    <a:lstStyle/>
                    <a:p>
                      <a:r>
                        <a:rPr sz="1000">
                          <a:solidFill>
                            <a:srgbClr val="011126"/>
                          </a:solidFill>
                          <a:latin typeface="Zalando Sans Light"/>
                        </a:rPr>
                        <a:t>token expiry errors; host clock +180 s</a:t>
                      </a:r>
                    </a:p>
                  </a:txBody>
                  <a:tcPr marL="73152" marR="73152" marT="27432" marB="27432" anchor="ctr">
                    <a:solidFill>
                      <a:srgbClr val="F3F5F9"/>
                    </a:solidFill>
                  </a:tcPr>
                </a:tc>
                <a:tc>
                  <a:txBody>
                    <a:bodyPr wrap="square"/>
                    <a:lstStyle/>
                    <a:p>
                      <a:r>
                        <a:rPr sz="1000">
                          <a:solidFill>
                            <a:srgbClr val="011126"/>
                          </a:solidFill>
                          <a:latin typeface="Zalando Sans Light"/>
                        </a:rPr>
                        <a:t>clock skew, with a matching runbook</a:t>
                      </a:r>
                    </a:p>
                  </a:txBody>
                  <a:tcPr marL="73152" marR="73152" marT="27432" marB="27432" anchor="ctr">
                    <a:solidFill>
                      <a:srgbClr val="F3F5F9"/>
                    </a:solidFill>
                  </a:tcPr>
                </a:tc>
              </a:tr>
              <a:tr h="384048">
                <a:tc>
                  <a:txBody>
                    <a:bodyPr wrap="square"/>
                    <a:lstStyle/>
                    <a:p>
                      <a:r>
                        <a:rPr sz="1000">
                          <a:solidFill>
                            <a:srgbClr val="011126"/>
                          </a:solidFill>
                          <a:latin typeface="Zalando Sans Medium"/>
                        </a:rPr>
                        <a:t>INC-003</a:t>
                      </a:r>
                    </a:p>
                  </a:txBody>
                  <a:tcPr marL="73152" marR="73152" marT="27432" marB="27432" anchor="ctr">
                    <a:solidFill>
                      <a:srgbClr val="FFFFFF"/>
                    </a:solidFill>
                  </a:tcPr>
                </a:tc>
                <a:tc>
                  <a:txBody>
                    <a:bodyPr wrap="square"/>
                    <a:lstStyle/>
                    <a:p>
                      <a:r>
                        <a:rPr sz="1000">
                          <a:solidFill>
                            <a:srgbClr val="011126"/>
                          </a:solidFill>
                          <a:latin typeface="Zalando Sans Light"/>
                        </a:rPr>
                        <a:t>payments</a:t>
                      </a:r>
                    </a:p>
                  </a:txBody>
                  <a:tcPr marL="73152" marR="73152" marT="27432" marB="27432" anchor="ctr">
                    <a:solidFill>
                      <a:srgbClr val="FFFFFF"/>
                    </a:solidFill>
                  </a:tcPr>
                </a:tc>
                <a:tc>
                  <a:txBody>
                    <a:bodyPr wrap="square"/>
                    <a:lstStyle/>
                    <a:p>
                      <a:r>
                        <a:rPr sz="1000">
                          <a:solidFill>
                            <a:srgbClr val="011126"/>
                          </a:solidFill>
                          <a:latin typeface="Zalando Sans Light"/>
                        </a:rPr>
                        <a:t>latency elevated; no diagnostic logs</a:t>
                      </a:r>
                    </a:p>
                  </a:txBody>
                  <a:tcPr marL="73152" marR="73152" marT="27432" marB="27432" anchor="ctr">
                    <a:solidFill>
                      <a:srgbClr val="FFFFFF"/>
                    </a:solidFill>
                  </a:tcPr>
                </a:tc>
                <a:tc>
                  <a:txBody>
                    <a:bodyPr wrap="square"/>
                    <a:lstStyle/>
                    <a:p>
                      <a:r>
                        <a:rPr sz="1000">
                          <a:solidFill>
                            <a:srgbClr val="011126"/>
                          </a:solidFill>
                          <a:latin typeface="Zalando Sans Light"/>
                        </a:rPr>
                        <a:t>"not enough evidence": nothing supports a cause</a:t>
                      </a:r>
                    </a:p>
                  </a:txBody>
                  <a:tcPr marL="73152" marR="73152" marT="27432" marB="27432" anchor="ctr">
                    <a:solidFill>
                      <a:srgbClr val="FFFFFF"/>
                    </a:solidFill>
                  </a:tcPr>
                </a:tc>
              </a:tr>
            </a:tbl>
          </a:graphicData>
        </a:graphic>
      </p:graphicFrame>
      <p:sp>
        <p:nvSpPr>
          <p:cNvPr id="4" name="Rounded Rectangle 3"/>
          <p:cNvSpPr/>
          <p:nvPr/>
        </p:nvSpPr>
        <p:spPr>
          <a:xfrm>
            <a:off x="365760" y="2743200"/>
            <a:ext cx="8229600" cy="1554480"/>
          </a:xfrm>
          <a:prstGeom prst="roundRect">
            <a:avLst>
              <a:gd name="adj" fmla="val 4705"/>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2834640"/>
            <a:ext cx="7863840" cy="1417320"/>
          </a:xfrm>
          <a:prstGeom prst="rect">
            <a:avLst/>
          </a:prstGeom>
          <a:noFill/>
        </p:spPr>
        <p:txBody>
          <a:bodyPr wrap="square" anchor="t" lIns="0" rIns="0" tIns="0" bIns="0">
            <a:spAutoFit/>
          </a:bodyPr>
          <a:lstStyle/>
          <a:p>
            <a:pPr algn="l">
              <a:spcAft>
                <a:spcPts val="300"/>
              </a:spcAft>
            </a:pPr>
            <a:r>
              <a:rPr sz="1050">
                <a:solidFill>
                  <a:srgbClr val="0020BB"/>
                </a:solidFill>
                <a:latin typeface="IBM Plex Mono"/>
              </a:rPr>
              <a:t>INC-001 · tenant astro · payments latency</a:t>
            </a:r>
          </a:p>
          <a:p>
            <a:pPr algn="l">
              <a:spcAft>
                <a:spcPts val="300"/>
              </a:spcAft>
            </a:pPr>
            <a:r>
              <a:rPr sz="1150">
                <a:solidFill>
                  <a:srgbClr val="3C3C3C"/>
                </a:solidFill>
                <a:latin typeface="Zalando Sans Medium"/>
              </a:rPr>
              <a:t>Reported by  </a:t>
            </a:r>
            <a:r>
              <a:rPr sz="1150">
                <a:solidFill>
                  <a:srgbClr val="3C3C3C"/>
                </a:solidFill>
                <a:latin typeface="Zalando Sans Light"/>
              </a:rPr>
              <a:t>the payments team, via the service desk</a:t>
            </a:r>
          </a:p>
          <a:p>
            <a:pPr algn="l">
              <a:spcAft>
                <a:spcPts val="300"/>
              </a:spcAft>
            </a:pPr>
            <a:r>
              <a:rPr sz="1150">
                <a:solidFill>
                  <a:srgbClr val="3C3C3C"/>
                </a:solidFill>
                <a:latin typeface="Zalando Sans Medium"/>
              </a:rPr>
              <a:t>Symptom  </a:t>
            </a:r>
            <a:r>
              <a:rPr sz="1150">
                <a:solidFill>
                  <a:srgbClr val="3C3C3C"/>
                </a:solidFill>
                <a:latin typeface="Zalando Sans Light"/>
              </a:rPr>
              <a:t>checkout is slow since this morning's deployment</a:t>
            </a:r>
          </a:p>
          <a:p>
            <a:pPr algn="l">
              <a:spcAft>
                <a:spcPts val="300"/>
              </a:spcAft>
            </a:pPr>
            <a:r>
              <a:rPr sz="1150">
                <a:solidFill>
                  <a:srgbClr val="3C3C3C"/>
                </a:solidFill>
                <a:latin typeface="Zalando Sans Medium"/>
              </a:rPr>
              <a:t>Agent can use  </a:t>
            </a:r>
            <a:r>
              <a:rPr sz="1150">
                <a:solidFill>
                  <a:srgbClr val="3C3C3C"/>
                </a:solidFill>
                <a:latin typeface="Zalando Sans Light"/>
              </a:rPr>
              <a:t>log_lookup and runbook_search, read-only, Astro's data only</a:t>
            </a:r>
          </a:p>
          <a:p>
            <a:pPr algn="l">
              <a:spcAft>
                <a:spcPts val="300"/>
              </a:spcAft>
            </a:pPr>
            <a:r>
              <a:rPr sz="1150">
                <a:solidFill>
                  <a:srgbClr val="3C3C3C"/>
                </a:solidFill>
                <a:latin typeface="Zalando Sans Medium"/>
              </a:rPr>
              <a:t>We want  </a:t>
            </a:r>
            <a:r>
              <a:rPr sz="1150">
                <a:solidFill>
                  <a:srgbClr val="3C3C3C"/>
                </a:solidFill>
                <a:latin typeface="Zalando Sans Light"/>
              </a:rPr>
              <a:t>a likely cause, with the evidence it came from</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makes a good investigation?</a:t>
            </a:r>
          </a:p>
        </p:txBody>
      </p:sp>
      <p:sp>
        <p:nvSpPr>
          <p:cNvPr id="3" name="Rounded Rectangle 2"/>
          <p:cNvSpPr/>
          <p:nvPr/>
        </p:nvSpPr>
        <p:spPr>
          <a:xfrm>
            <a:off x="365760" y="1188720"/>
            <a:ext cx="2697480" cy="1737360"/>
          </a:xfrm>
          <a:prstGeom prst="roundRect">
            <a:avLst>
              <a:gd name="adj" fmla="val 4210"/>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1280160"/>
            <a:ext cx="731520" cy="548640"/>
          </a:xfrm>
          <a:prstGeom prst="rect">
            <a:avLst/>
          </a:prstGeom>
          <a:noFill/>
        </p:spPr>
        <p:txBody>
          <a:bodyPr wrap="square" anchor="t" lIns="0" rIns="0" tIns="0" bIns="0">
            <a:spAutoFit/>
          </a:bodyPr>
          <a:lstStyle/>
          <a:p>
            <a:pPr algn="l">
              <a:spcAft>
                <a:spcPts val="400"/>
              </a:spcAft>
            </a:pPr>
            <a:r>
              <a:rPr sz="3000">
                <a:solidFill>
                  <a:srgbClr val="0020BB"/>
                </a:solidFill>
                <a:latin typeface="Zalando Sans ExtraLight"/>
              </a:rPr>
              <a:t>01</a:t>
            </a:r>
          </a:p>
        </p:txBody>
      </p:sp>
      <p:sp>
        <p:nvSpPr>
          <p:cNvPr id="5" name="TextBox 4"/>
          <p:cNvSpPr txBox="1"/>
          <p:nvPr/>
        </p:nvSpPr>
        <p:spPr>
          <a:xfrm>
            <a:off x="548640" y="1874519"/>
            <a:ext cx="2377440" cy="1005840"/>
          </a:xfrm>
          <a:prstGeom prst="rect">
            <a:avLst/>
          </a:prstGeom>
          <a:noFill/>
        </p:spPr>
        <p:txBody>
          <a:bodyPr wrap="square" anchor="t" lIns="0" rIns="0" tIns="0" bIns="0">
            <a:spAutoFit/>
          </a:bodyPr>
          <a:lstStyle/>
          <a:p>
            <a:pPr algn="l">
              <a:spcAft>
                <a:spcPts val="400"/>
              </a:spcAft>
            </a:pPr>
            <a:r>
              <a:rPr sz="1300">
                <a:solidFill>
                  <a:srgbClr val="011126"/>
                </a:solidFill>
                <a:latin typeface="Zalando Sans Medium"/>
              </a:rPr>
              <a:t>A likely cause</a:t>
            </a:r>
          </a:p>
          <a:p>
            <a:pPr algn="l">
              <a:spcAft>
                <a:spcPts val="400"/>
              </a:spcAft>
            </a:pPr>
            <a:r>
              <a:rPr sz="1100">
                <a:solidFill>
                  <a:srgbClr val="3C3C3C"/>
                </a:solidFill>
                <a:latin typeface="Zalando Sans Light"/>
              </a:rPr>
              <a:t>stated plainly, not hedged into nothing.</a:t>
            </a:r>
          </a:p>
        </p:txBody>
      </p:sp>
      <p:sp>
        <p:nvSpPr>
          <p:cNvPr id="6" name="Rounded Rectangle 5"/>
          <p:cNvSpPr/>
          <p:nvPr/>
        </p:nvSpPr>
        <p:spPr>
          <a:xfrm>
            <a:off x="3200400" y="1188720"/>
            <a:ext cx="2697480" cy="1737360"/>
          </a:xfrm>
          <a:prstGeom prst="roundRect">
            <a:avLst>
              <a:gd name="adj" fmla="val 4210"/>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383280" y="1280160"/>
            <a:ext cx="731520" cy="548640"/>
          </a:xfrm>
          <a:prstGeom prst="rect">
            <a:avLst/>
          </a:prstGeom>
          <a:noFill/>
        </p:spPr>
        <p:txBody>
          <a:bodyPr wrap="square" anchor="t" lIns="0" rIns="0" tIns="0" bIns="0">
            <a:spAutoFit/>
          </a:bodyPr>
          <a:lstStyle/>
          <a:p>
            <a:pPr algn="l">
              <a:spcAft>
                <a:spcPts val="400"/>
              </a:spcAft>
            </a:pPr>
            <a:r>
              <a:rPr sz="3000">
                <a:solidFill>
                  <a:srgbClr val="0020BB"/>
                </a:solidFill>
                <a:latin typeface="Zalando Sans ExtraLight"/>
              </a:rPr>
              <a:t>02</a:t>
            </a:r>
          </a:p>
        </p:txBody>
      </p:sp>
      <p:sp>
        <p:nvSpPr>
          <p:cNvPr id="8" name="TextBox 7"/>
          <p:cNvSpPr txBox="1"/>
          <p:nvPr/>
        </p:nvSpPr>
        <p:spPr>
          <a:xfrm>
            <a:off x="3383280" y="1874519"/>
            <a:ext cx="2377440" cy="1005840"/>
          </a:xfrm>
          <a:prstGeom prst="rect">
            <a:avLst/>
          </a:prstGeom>
          <a:noFill/>
        </p:spPr>
        <p:txBody>
          <a:bodyPr wrap="square" anchor="t" lIns="0" rIns="0" tIns="0" bIns="0">
            <a:spAutoFit/>
          </a:bodyPr>
          <a:lstStyle/>
          <a:p>
            <a:pPr algn="l">
              <a:spcAft>
                <a:spcPts val="400"/>
              </a:spcAft>
            </a:pPr>
            <a:r>
              <a:rPr sz="1300">
                <a:solidFill>
                  <a:srgbClr val="011126"/>
                </a:solidFill>
                <a:latin typeface="Zalando Sans Medium"/>
              </a:rPr>
              <a:t>The source of that claim</a:t>
            </a:r>
          </a:p>
          <a:p>
            <a:pPr algn="l">
              <a:spcAft>
                <a:spcPts val="400"/>
              </a:spcAft>
            </a:pPr>
            <a:r>
              <a:rPr sz="1100">
                <a:solidFill>
                  <a:srgbClr val="3C3C3C"/>
                </a:solidFill>
                <a:latin typeface="Zalando Sans Light"/>
              </a:rPr>
              <a:t>the log or runbook IDs it actually read.</a:t>
            </a:r>
          </a:p>
        </p:txBody>
      </p:sp>
      <p:sp>
        <p:nvSpPr>
          <p:cNvPr id="9" name="Rounded Rectangle 8"/>
          <p:cNvSpPr/>
          <p:nvPr/>
        </p:nvSpPr>
        <p:spPr>
          <a:xfrm>
            <a:off x="6035040" y="1188720"/>
            <a:ext cx="2697480" cy="1737360"/>
          </a:xfrm>
          <a:prstGeom prst="roundRect">
            <a:avLst>
              <a:gd name="adj" fmla="val 4210"/>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217920" y="1280160"/>
            <a:ext cx="731520" cy="548640"/>
          </a:xfrm>
          <a:prstGeom prst="rect">
            <a:avLst/>
          </a:prstGeom>
          <a:noFill/>
        </p:spPr>
        <p:txBody>
          <a:bodyPr wrap="square" anchor="t" lIns="0" rIns="0" tIns="0" bIns="0">
            <a:spAutoFit/>
          </a:bodyPr>
          <a:lstStyle/>
          <a:p>
            <a:pPr algn="l">
              <a:spcAft>
                <a:spcPts val="400"/>
              </a:spcAft>
            </a:pPr>
            <a:r>
              <a:rPr sz="3000">
                <a:solidFill>
                  <a:srgbClr val="0020BB"/>
                </a:solidFill>
                <a:latin typeface="Zalando Sans ExtraLight"/>
              </a:rPr>
              <a:t>03</a:t>
            </a:r>
          </a:p>
        </p:txBody>
      </p:sp>
      <p:sp>
        <p:nvSpPr>
          <p:cNvPr id="11" name="TextBox 10"/>
          <p:cNvSpPr txBox="1"/>
          <p:nvPr/>
        </p:nvSpPr>
        <p:spPr>
          <a:xfrm>
            <a:off x="6217920" y="1874519"/>
            <a:ext cx="2377440" cy="1005840"/>
          </a:xfrm>
          <a:prstGeom prst="rect">
            <a:avLst/>
          </a:prstGeom>
          <a:noFill/>
        </p:spPr>
        <p:txBody>
          <a:bodyPr wrap="square" anchor="t" lIns="0" rIns="0" tIns="0" bIns="0">
            <a:spAutoFit/>
          </a:bodyPr>
          <a:lstStyle/>
          <a:p>
            <a:pPr algn="l">
              <a:spcAft>
                <a:spcPts val="400"/>
              </a:spcAft>
            </a:pPr>
            <a:r>
              <a:rPr sz="1300">
                <a:solidFill>
                  <a:srgbClr val="011126"/>
                </a:solidFill>
                <a:latin typeface="Zalando Sans Medium"/>
              </a:rPr>
              <a:t>An honest "not enough evidence"</a:t>
            </a:r>
          </a:p>
          <a:p>
            <a:pPr algn="l">
              <a:spcAft>
                <a:spcPts val="400"/>
              </a:spcAft>
            </a:pPr>
            <a:r>
              <a:rPr sz="1100">
                <a:solidFill>
                  <a:srgbClr val="3C3C3C"/>
                </a:solidFill>
                <a:latin typeface="Zalando Sans Light"/>
              </a:rPr>
              <a:t>when the data does not support a cause.</a:t>
            </a:r>
          </a:p>
        </p:txBody>
      </p:sp>
      <p:sp>
        <p:nvSpPr>
          <p:cNvPr id="12" name="Rounded Rectangle 11"/>
          <p:cNvSpPr/>
          <p:nvPr/>
        </p:nvSpPr>
        <p:spPr>
          <a:xfrm>
            <a:off x="365760" y="3246120"/>
            <a:ext cx="8229600" cy="822960"/>
          </a:xfrm>
          <a:prstGeom prst="roundRect">
            <a:avLst>
              <a:gd name="adj" fmla="val 8888"/>
            </a:avLst>
          </a:prstGeom>
          <a:solidFill>
            <a:srgbClr val="01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48640" y="3246120"/>
            <a:ext cx="7863840" cy="822960"/>
          </a:xfrm>
          <a:prstGeom prst="rect">
            <a:avLst/>
          </a:prstGeom>
          <a:noFill/>
        </p:spPr>
        <p:txBody>
          <a:bodyPr wrap="square" anchor="ctr" lIns="0" rIns="0" tIns="0" bIns="0">
            <a:spAutoFit/>
          </a:bodyPr>
          <a:lstStyle/>
          <a:p>
            <a:pPr algn="l">
              <a:spcAft>
                <a:spcPts val="400"/>
              </a:spcAft>
            </a:pPr>
            <a:r>
              <a:rPr sz="1800">
                <a:solidFill>
                  <a:srgbClr val="FFFFFF"/>
                </a:solidFill>
                <a:latin typeface="Zalando Sans Light"/>
              </a:rPr>
              <a:t>A fluent paragraph is not an acceptance test.</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ReAct loop</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Reason, act, observe</a:t>
            </a:r>
          </a:p>
        </p:txBody>
      </p:sp>
      <p:sp>
        <p:nvSpPr>
          <p:cNvPr id="3" name="Rounded Rectangle 2"/>
          <p:cNvSpPr/>
          <p:nvPr/>
        </p:nvSpPr>
        <p:spPr>
          <a:xfrm>
            <a:off x="457200" y="1097280"/>
            <a:ext cx="2286000" cy="1600200"/>
          </a:xfrm>
          <a:prstGeom prst="roundRect">
            <a:avLst>
              <a:gd name="adj" fmla="val 4571"/>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621792" y="1188720"/>
            <a:ext cx="2011680" cy="1463040"/>
          </a:xfrm>
          <a:prstGeom prst="rect">
            <a:avLst/>
          </a:prstGeom>
          <a:noFill/>
        </p:spPr>
        <p:txBody>
          <a:bodyPr wrap="square" anchor="t" lIns="0" rIns="0" tIns="0" bIns="0">
            <a:spAutoFit/>
          </a:bodyPr>
          <a:lstStyle/>
          <a:p>
            <a:pPr algn="l">
              <a:spcAft>
                <a:spcPts val="300"/>
              </a:spcAft>
            </a:pPr>
            <a:r>
              <a:rPr sz="1400">
                <a:solidFill>
                  <a:srgbClr val="011126"/>
                </a:solidFill>
                <a:latin typeface="Zalando Sans Medium"/>
              </a:rPr>
              <a:t>Model</a:t>
            </a:r>
          </a:p>
          <a:p>
            <a:pPr algn="l">
              <a:spcAft>
                <a:spcPts val="300"/>
              </a:spcAft>
            </a:pPr>
            <a:r>
              <a:rPr sz="950">
                <a:solidFill>
                  <a:srgbClr val="6B7280"/>
                </a:solidFill>
                <a:latin typeface="IBM Plex Mono"/>
              </a:rPr>
              <a:t>reasons and proposes</a:t>
            </a:r>
          </a:p>
          <a:p>
            <a:pPr algn="l">
              <a:spcAft>
                <a:spcPts val="300"/>
              </a:spcAft>
            </a:pPr>
            <a:r>
              <a:rPr sz="950">
                <a:solidFill>
                  <a:srgbClr val="6B7280"/>
                </a:solidFill>
                <a:latin typeface="IBM Plex Mono"/>
              </a:rPr>
              <a:t>a tool call or an answer</a:t>
            </a:r>
          </a:p>
        </p:txBody>
      </p:sp>
      <p:sp>
        <p:nvSpPr>
          <p:cNvPr id="5" name="Rounded Rectangle 4"/>
          <p:cNvSpPr/>
          <p:nvPr/>
        </p:nvSpPr>
        <p:spPr>
          <a:xfrm>
            <a:off x="3429000" y="1097280"/>
            <a:ext cx="2286000" cy="1600200"/>
          </a:xfrm>
          <a:prstGeom prst="roundRect">
            <a:avLst>
              <a:gd name="adj" fmla="val 4571"/>
            </a:avLst>
          </a:prstGeom>
          <a:solidFill>
            <a:srgbClr val="E6EAFE"/>
          </a:solidFill>
          <a:ln w="19050">
            <a:solidFill>
              <a:srgbClr val="0020B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593592" y="1188720"/>
            <a:ext cx="2011680" cy="1463040"/>
          </a:xfrm>
          <a:prstGeom prst="rect">
            <a:avLst/>
          </a:prstGeom>
          <a:noFill/>
        </p:spPr>
        <p:txBody>
          <a:bodyPr wrap="square" anchor="t" lIns="0" rIns="0" tIns="0" bIns="0">
            <a:spAutoFit/>
          </a:bodyPr>
          <a:lstStyle/>
          <a:p>
            <a:pPr algn="l">
              <a:spcAft>
                <a:spcPts val="300"/>
              </a:spcAft>
            </a:pPr>
            <a:r>
              <a:rPr sz="1400">
                <a:solidFill>
                  <a:srgbClr val="011126"/>
                </a:solidFill>
                <a:latin typeface="Zalando Sans Medium"/>
              </a:rPr>
              <a:t>Runtime</a:t>
            </a:r>
          </a:p>
          <a:p>
            <a:pPr algn="l">
              <a:spcAft>
                <a:spcPts val="300"/>
              </a:spcAft>
            </a:pPr>
            <a:r>
              <a:rPr sz="950">
                <a:solidFill>
                  <a:srgbClr val="6B7280"/>
                </a:solidFill>
                <a:latin typeface="IBM Plex Mono"/>
              </a:rPr>
              <a:t>checks limits, permits</a:t>
            </a:r>
          </a:p>
          <a:p>
            <a:pPr algn="l">
              <a:spcAft>
                <a:spcPts val="300"/>
              </a:spcAft>
            </a:pPr>
            <a:r>
              <a:rPr sz="950">
                <a:solidFill>
                  <a:srgbClr val="6B7280"/>
                </a:solidFill>
                <a:latin typeface="IBM Plex Mono"/>
              </a:rPr>
              <a:t>records the pending call</a:t>
            </a:r>
          </a:p>
          <a:p>
            <a:pPr algn="l">
              <a:spcAft>
                <a:spcPts val="300"/>
              </a:spcAft>
            </a:pPr>
            <a:r>
              <a:rPr sz="950">
                <a:solidFill>
                  <a:srgbClr val="6B7280"/>
                </a:solidFill>
                <a:latin typeface="IBM Plex Mono"/>
              </a:rPr>
              <a:t>executes, appends result</a:t>
            </a:r>
          </a:p>
        </p:txBody>
      </p:sp>
      <p:sp>
        <p:nvSpPr>
          <p:cNvPr id="7" name="Rounded Rectangle 6"/>
          <p:cNvSpPr/>
          <p:nvPr/>
        </p:nvSpPr>
        <p:spPr>
          <a:xfrm>
            <a:off x="6400800" y="1097280"/>
            <a:ext cx="2286000" cy="1600200"/>
          </a:xfrm>
          <a:prstGeom prst="roundRect">
            <a:avLst>
              <a:gd name="adj" fmla="val 4571"/>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565392" y="1188720"/>
            <a:ext cx="2011680" cy="1463040"/>
          </a:xfrm>
          <a:prstGeom prst="rect">
            <a:avLst/>
          </a:prstGeom>
          <a:noFill/>
        </p:spPr>
        <p:txBody>
          <a:bodyPr wrap="square" anchor="t" lIns="0" rIns="0" tIns="0" bIns="0">
            <a:spAutoFit/>
          </a:bodyPr>
          <a:lstStyle/>
          <a:p>
            <a:pPr algn="l">
              <a:spcAft>
                <a:spcPts val="300"/>
              </a:spcAft>
            </a:pPr>
            <a:r>
              <a:rPr sz="1400">
                <a:solidFill>
                  <a:srgbClr val="011126"/>
                </a:solidFill>
                <a:latin typeface="Zalando Sans Medium"/>
              </a:rPr>
              <a:t>Tools</a:t>
            </a:r>
          </a:p>
          <a:p>
            <a:pPr algn="l">
              <a:spcAft>
                <a:spcPts val="300"/>
              </a:spcAft>
            </a:pPr>
            <a:r>
              <a:rPr sz="950">
                <a:solidFill>
                  <a:srgbClr val="6B7280"/>
                </a:solidFill>
                <a:latin typeface="IBM Plex Mono"/>
              </a:rPr>
              <a:t>log_lookup</a:t>
            </a:r>
          </a:p>
          <a:p>
            <a:pPr algn="l">
              <a:spcAft>
                <a:spcPts val="300"/>
              </a:spcAft>
            </a:pPr>
            <a:r>
              <a:rPr sz="950">
                <a:solidFill>
                  <a:srgbClr val="6B7280"/>
                </a:solidFill>
                <a:latin typeface="IBM Plex Mono"/>
              </a:rPr>
              <a:t>runbook_search</a:t>
            </a:r>
          </a:p>
        </p:txBody>
      </p:sp>
      <p:cxnSp>
        <p:nvCxnSpPr>
          <p:cNvPr id="9" name="Connector 8"/>
          <p:cNvCxnSpPr/>
          <p:nvPr/>
        </p:nvCxnSpPr>
        <p:spPr>
          <a:xfrm>
            <a:off x="2761488" y="1600200"/>
            <a:ext cx="640080" cy="0"/>
          </a:xfrm>
          <a:prstGeom prst="line">
            <a:avLst/>
          </a:prstGeom>
          <a:ln w="15875">
            <a:solidFill>
              <a:srgbClr val="01112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733288" y="1600200"/>
            <a:ext cx="640080" cy="0"/>
          </a:xfrm>
          <a:prstGeom prst="line">
            <a:avLst/>
          </a:prstGeom>
          <a:ln w="15875">
            <a:solidFill>
              <a:srgbClr val="01112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5733288" y="2240280"/>
            <a:ext cx="640080" cy="0"/>
          </a:xfrm>
          <a:prstGeom prst="line">
            <a:avLst/>
          </a:prstGeom>
          <a:ln w="15875">
            <a:solidFill>
              <a:srgbClr val="01112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2761488" y="2240280"/>
            <a:ext cx="640080" cy="0"/>
          </a:xfrm>
          <a:prstGeom prst="line">
            <a:avLst/>
          </a:prstGeom>
          <a:ln w="15875">
            <a:solidFill>
              <a:srgbClr val="0111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606040" y="1298448"/>
            <a:ext cx="960120" cy="274320"/>
          </a:xfrm>
          <a:prstGeom prst="rect">
            <a:avLst/>
          </a:prstGeom>
          <a:noFill/>
        </p:spPr>
        <p:txBody>
          <a:bodyPr wrap="square" anchor="t" lIns="0" rIns="0" tIns="0" bIns="0">
            <a:spAutoFit/>
          </a:bodyPr>
          <a:lstStyle/>
          <a:p>
            <a:pPr algn="ctr">
              <a:spcAft>
                <a:spcPts val="400"/>
              </a:spcAft>
            </a:pPr>
            <a:r>
              <a:rPr sz="750">
                <a:solidFill>
                  <a:srgbClr val="6B7280"/>
                </a:solidFill>
                <a:latin typeface="IBM Plex Mono"/>
              </a:rPr>
              <a:t>proposal</a:t>
            </a:r>
          </a:p>
        </p:txBody>
      </p:sp>
      <p:sp>
        <p:nvSpPr>
          <p:cNvPr id="14" name="TextBox 13"/>
          <p:cNvSpPr txBox="1"/>
          <p:nvPr/>
        </p:nvSpPr>
        <p:spPr>
          <a:xfrm>
            <a:off x="5577840" y="1298448"/>
            <a:ext cx="960120" cy="274320"/>
          </a:xfrm>
          <a:prstGeom prst="rect">
            <a:avLst/>
          </a:prstGeom>
          <a:noFill/>
        </p:spPr>
        <p:txBody>
          <a:bodyPr wrap="square" anchor="t" lIns="0" rIns="0" tIns="0" bIns="0">
            <a:spAutoFit/>
          </a:bodyPr>
          <a:lstStyle/>
          <a:p>
            <a:pPr algn="ctr">
              <a:spcAft>
                <a:spcPts val="400"/>
              </a:spcAft>
            </a:pPr>
            <a:r>
              <a:rPr sz="750">
                <a:solidFill>
                  <a:srgbClr val="6B7280"/>
                </a:solidFill>
                <a:latin typeface="IBM Plex Mono"/>
              </a:rPr>
              <a:t>execute</a:t>
            </a:r>
          </a:p>
        </p:txBody>
      </p:sp>
      <p:sp>
        <p:nvSpPr>
          <p:cNvPr id="15" name="TextBox 14"/>
          <p:cNvSpPr txBox="1"/>
          <p:nvPr/>
        </p:nvSpPr>
        <p:spPr>
          <a:xfrm>
            <a:off x="5577840" y="2304288"/>
            <a:ext cx="960120" cy="274320"/>
          </a:xfrm>
          <a:prstGeom prst="rect">
            <a:avLst/>
          </a:prstGeom>
          <a:noFill/>
        </p:spPr>
        <p:txBody>
          <a:bodyPr wrap="square" anchor="t" lIns="0" rIns="0" tIns="0" bIns="0">
            <a:spAutoFit/>
          </a:bodyPr>
          <a:lstStyle/>
          <a:p>
            <a:pPr algn="ctr">
              <a:spcAft>
                <a:spcPts val="400"/>
              </a:spcAft>
            </a:pPr>
            <a:r>
              <a:rPr sz="750">
                <a:solidFill>
                  <a:srgbClr val="6B7280"/>
                </a:solidFill>
                <a:latin typeface="IBM Plex Mono"/>
              </a:rPr>
              <a:t>observation</a:t>
            </a:r>
          </a:p>
        </p:txBody>
      </p:sp>
      <p:sp>
        <p:nvSpPr>
          <p:cNvPr id="16" name="TextBox 15"/>
          <p:cNvSpPr txBox="1"/>
          <p:nvPr/>
        </p:nvSpPr>
        <p:spPr>
          <a:xfrm>
            <a:off x="2606040" y="2304288"/>
            <a:ext cx="960120" cy="274320"/>
          </a:xfrm>
          <a:prstGeom prst="rect">
            <a:avLst/>
          </a:prstGeom>
          <a:noFill/>
        </p:spPr>
        <p:txBody>
          <a:bodyPr wrap="square" anchor="t" lIns="0" rIns="0" tIns="0" bIns="0">
            <a:spAutoFit/>
          </a:bodyPr>
          <a:lstStyle/>
          <a:p>
            <a:pPr algn="ctr">
              <a:spcAft>
                <a:spcPts val="400"/>
              </a:spcAft>
            </a:pPr>
            <a:r>
              <a:rPr sz="750">
                <a:solidFill>
                  <a:srgbClr val="6B7280"/>
                </a:solidFill>
                <a:latin typeface="IBM Plex Mono"/>
              </a:rPr>
              <a:t>next turn</a:t>
            </a:r>
          </a:p>
        </p:txBody>
      </p:sp>
      <p:sp>
        <p:nvSpPr>
          <p:cNvPr id="17" name="Rounded Rectangle 16"/>
          <p:cNvSpPr/>
          <p:nvPr/>
        </p:nvSpPr>
        <p:spPr>
          <a:xfrm>
            <a:off x="457200" y="3063240"/>
            <a:ext cx="8229600" cy="1051560"/>
          </a:xfrm>
          <a:prstGeom prst="roundRect">
            <a:avLst>
              <a:gd name="adj" fmla="val 6956"/>
            </a:avLst>
          </a:prstGeom>
          <a:solidFill>
            <a:srgbClr val="F9FAFB"/>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 y="3154680"/>
            <a:ext cx="7863840" cy="914400"/>
          </a:xfrm>
          <a:prstGeom prst="rect">
            <a:avLst/>
          </a:prstGeom>
          <a:noFill/>
        </p:spPr>
        <p:txBody>
          <a:bodyPr wrap="square" anchor="t" lIns="0" rIns="0" tIns="0" bIns="0">
            <a:spAutoFit/>
          </a:bodyPr>
          <a:lstStyle/>
          <a:p>
            <a:pPr algn="l">
              <a:spcAft>
                <a:spcPts val="600"/>
              </a:spcAft>
            </a:pPr>
            <a:r>
              <a:rPr sz="1150">
                <a:solidFill>
                  <a:srgbClr val="0020BB"/>
                </a:solidFill>
                <a:latin typeface="Zalando Sans Medium"/>
              </a:rPr>
              <a:t>Thought</a:t>
            </a:r>
            <a:r>
              <a:rPr sz="1150">
                <a:solidFill>
                  <a:srgbClr val="3C3C3C"/>
                </a:solidFill>
                <a:latin typeface="Zalando Sans Light"/>
              </a:rPr>
              <a:t> the model's reasoning in its turn   </a:t>
            </a:r>
            <a:r>
              <a:rPr sz="1150">
                <a:solidFill>
                  <a:srgbClr val="0020BB"/>
                </a:solidFill>
                <a:latin typeface="Zalando Sans Medium"/>
              </a:rPr>
              <a:t>Action</a:t>
            </a:r>
            <a:r>
              <a:rPr sz="1150">
                <a:solidFill>
                  <a:srgbClr val="3C3C3C"/>
                </a:solidFill>
                <a:latin typeface="Zalando Sans Light"/>
              </a:rPr>
              <a:t> a tool call the runtime may run   </a:t>
            </a:r>
            <a:r>
              <a:rPr sz="1150">
                <a:solidFill>
                  <a:srgbClr val="0020BB"/>
                </a:solidFill>
                <a:latin typeface="Zalando Sans Medium"/>
              </a:rPr>
              <a:t>Observation</a:t>
            </a:r>
            <a:r>
              <a:rPr sz="1150">
                <a:solidFill>
                  <a:srgbClr val="3C3C3C"/>
                </a:solidFill>
                <a:latin typeface="Zalando Sans Light"/>
              </a:rPr>
              <a:t> the tool result, sent back</a:t>
            </a:r>
          </a:p>
          <a:p>
            <a:pPr algn="l">
              <a:spcAft>
                <a:spcPts val="600"/>
              </a:spcAft>
            </a:pPr>
            <a:r>
              <a:rPr sz="1150">
                <a:solidFill>
                  <a:srgbClr val="6B7280"/>
                </a:solidFill>
                <a:latin typeface="Zalando Sans Light"/>
              </a:rPr>
              <a:t>The model never calls code. It proposes; the runtime decides. That boundary is where authorization, limits and auditing live.</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the model can send back</a:t>
            </a:r>
          </a:p>
        </p:txBody>
      </p:sp>
      <p:graphicFrame>
        <p:nvGraphicFramePr>
          <p:cNvPr id="3" name="Table 2"/>
          <p:cNvGraphicFramePr>
            <a:graphicFrameLocks noGrp="1"/>
          </p:cNvGraphicFramePr>
          <p:nvPr/>
        </p:nvGraphicFramePr>
        <p:xfrm>
          <a:off x="365760" y="914400"/>
          <a:ext cx="8229600" cy="2514600"/>
        </p:xfrm>
        <a:graphic>
          <a:graphicData uri="http://schemas.openxmlformats.org/drawingml/2006/table">
            <a:tbl>
              <a:tblPr firstRow="0" bandRow="0"/>
              <a:tblGrid>
                <a:gridCol w="2011680"/>
                <a:gridCol w="2194560"/>
                <a:gridCol w="4023360"/>
              </a:tblGrid>
              <a:tr h="502920">
                <a:tc>
                  <a:txBody>
                    <a:bodyPr wrap="square"/>
                    <a:lstStyle/>
                    <a:p>
                      <a:r>
                        <a:rPr sz="1000">
                          <a:solidFill>
                            <a:srgbClr val="FFFFFF"/>
                          </a:solidFill>
                          <a:latin typeface="Zalando Sans Medium"/>
                        </a:rPr>
                        <a:t>The turn contains</a:t>
                      </a:r>
                    </a:p>
                  </a:txBody>
                  <a:tcPr marL="73152" marR="73152" marT="27432" marB="27432" anchor="ctr">
                    <a:solidFill>
                      <a:srgbClr val="0020BB"/>
                    </a:solidFill>
                  </a:tcPr>
                </a:tc>
                <a:tc>
                  <a:txBody>
                    <a:bodyPr wrap="square"/>
                    <a:lstStyle/>
                    <a:p>
                      <a:r>
                        <a:rPr sz="1000">
                          <a:solidFill>
                            <a:srgbClr val="FFFFFF"/>
                          </a:solidFill>
                          <a:latin typeface="Zalando Sans Medium"/>
                        </a:rPr>
                        <a:t>Ended because (OpenAI / Anthropic)</a:t>
                      </a:r>
                    </a:p>
                  </a:txBody>
                  <a:tcPr marL="73152" marR="73152" marT="27432" marB="27432" anchor="ctr">
                    <a:solidFill>
                      <a:srgbClr val="0020BB"/>
                    </a:solidFill>
                  </a:tcPr>
                </a:tc>
                <a:tc>
                  <a:txBody>
                    <a:bodyPr wrap="square"/>
                    <a:lstStyle/>
                    <a:p>
                      <a:r>
                        <a:rPr sz="1000">
                          <a:solidFill>
                            <a:srgbClr val="FFFFFF"/>
                          </a:solidFill>
                          <a:latin typeface="Zalando Sans Medium"/>
                        </a:rPr>
                        <a:t>What the runtime does</a:t>
                      </a:r>
                    </a:p>
                  </a:txBody>
                  <a:tcPr marL="73152" marR="73152" marT="27432" marB="27432" anchor="ctr">
                    <a:solidFill>
                      <a:srgbClr val="0020BB"/>
                    </a:solidFill>
                  </a:tcPr>
                </a:tc>
              </a:tr>
              <a:tr h="502920">
                <a:tc>
                  <a:txBody>
                    <a:bodyPr wrap="square"/>
                    <a:lstStyle/>
                    <a:p>
                      <a:r>
                        <a:rPr sz="1000">
                          <a:solidFill>
                            <a:srgbClr val="011126"/>
                          </a:solidFill>
                          <a:latin typeface="Zalando Sans Medium"/>
                        </a:rPr>
                        <a:t>One or more tool calls</a:t>
                      </a:r>
                    </a:p>
                  </a:txBody>
                  <a:tcPr marL="73152" marR="73152" marT="27432" marB="27432" anchor="ctr">
                    <a:solidFill>
                      <a:srgbClr val="FFFFFF"/>
                    </a:solidFill>
                  </a:tcPr>
                </a:tc>
                <a:tc>
                  <a:txBody>
                    <a:bodyPr wrap="square"/>
                    <a:lstStyle/>
                    <a:p>
                      <a:r>
                        <a:rPr sz="900">
                          <a:solidFill>
                            <a:srgbClr val="011126"/>
                          </a:solidFill>
                          <a:latin typeface="IBM Plex Mono"/>
                        </a:rPr>
                        <a:t>tool_calls / tool_use</a:t>
                      </a:r>
                    </a:p>
                  </a:txBody>
                  <a:tcPr marL="73152" marR="73152" marT="27432" marB="27432" anchor="ctr">
                    <a:solidFill>
                      <a:srgbClr val="FFFFFF"/>
                    </a:solidFill>
                  </a:tcPr>
                </a:tc>
                <a:tc>
                  <a:txBody>
                    <a:bodyPr wrap="square"/>
                    <a:lstStyle/>
                    <a:p>
                      <a:r>
                        <a:rPr sz="1000">
                          <a:solidFill>
                            <a:srgbClr val="011126"/>
                          </a:solidFill>
                          <a:latin typeface="Zalando Sans Light"/>
                        </a:rPr>
                        <a:t>Runs the permitted calls, appends each observation with the same call ID, calls the model again</a:t>
                      </a:r>
                    </a:p>
                  </a:txBody>
                  <a:tcPr marL="73152" marR="73152" marT="27432" marB="27432" anchor="ctr">
                    <a:solidFill>
                      <a:srgbClr val="FFFFFF"/>
                    </a:solidFill>
                  </a:tcPr>
                </a:tc>
              </a:tr>
              <a:tr h="502920">
                <a:tc>
                  <a:txBody>
                    <a:bodyPr wrap="square"/>
                    <a:lstStyle/>
                    <a:p>
                      <a:r>
                        <a:rPr sz="1000">
                          <a:solidFill>
                            <a:srgbClr val="011126"/>
                          </a:solidFill>
                          <a:latin typeface="Zalando Sans Medium"/>
                        </a:rPr>
                        <a:t>Text only</a:t>
                      </a:r>
                    </a:p>
                  </a:txBody>
                  <a:tcPr marL="73152" marR="73152" marT="27432" marB="27432" anchor="ctr">
                    <a:solidFill>
                      <a:srgbClr val="F3F5F9"/>
                    </a:solidFill>
                  </a:tcPr>
                </a:tc>
                <a:tc>
                  <a:txBody>
                    <a:bodyPr wrap="square"/>
                    <a:lstStyle/>
                    <a:p>
                      <a:r>
                        <a:rPr sz="900">
                          <a:solidFill>
                            <a:srgbClr val="011126"/>
                          </a:solidFill>
                          <a:latin typeface="IBM Plex Mono"/>
                        </a:rPr>
                        <a:t>stop / end_turn</a:t>
                      </a:r>
                    </a:p>
                  </a:txBody>
                  <a:tcPr marL="73152" marR="73152" marT="27432" marB="27432" anchor="ctr">
                    <a:solidFill>
                      <a:srgbClr val="F3F5F9"/>
                    </a:solidFill>
                  </a:tcPr>
                </a:tc>
                <a:tc>
                  <a:txBody>
                    <a:bodyPr wrap="square"/>
                    <a:lstStyle/>
                    <a:p>
                      <a:r>
                        <a:rPr sz="1000">
                          <a:solidFill>
                            <a:srgbClr val="011126"/>
                          </a:solidFill>
                          <a:latin typeface="Zalando Sans Light"/>
                        </a:rPr>
                        <a:t>A candidate final answer: checks shape and that every citation was observed</a:t>
                      </a:r>
                    </a:p>
                  </a:txBody>
                  <a:tcPr marL="73152" marR="73152" marT="27432" marB="27432" anchor="ctr">
                    <a:solidFill>
                      <a:srgbClr val="F3F5F9"/>
                    </a:solidFill>
                  </a:tcPr>
                </a:tc>
              </a:tr>
              <a:tr h="502920">
                <a:tc>
                  <a:txBody>
                    <a:bodyPr wrap="square"/>
                    <a:lstStyle/>
                    <a:p>
                      <a:r>
                        <a:rPr sz="1000">
                          <a:solidFill>
                            <a:srgbClr val="011126"/>
                          </a:solidFill>
                          <a:latin typeface="Zalando Sans Medium"/>
                        </a:rPr>
                        <a:t>Text that was cut off</a:t>
                      </a:r>
                    </a:p>
                  </a:txBody>
                  <a:tcPr marL="73152" marR="73152" marT="27432" marB="27432" anchor="ctr">
                    <a:solidFill>
                      <a:srgbClr val="FFFFFF"/>
                    </a:solidFill>
                  </a:tcPr>
                </a:tc>
                <a:tc>
                  <a:txBody>
                    <a:bodyPr wrap="square"/>
                    <a:lstStyle/>
                    <a:p>
                      <a:r>
                        <a:rPr sz="900">
                          <a:solidFill>
                            <a:srgbClr val="011126"/>
                          </a:solidFill>
                          <a:latin typeface="IBM Plex Mono"/>
                        </a:rPr>
                        <a:t>length / max_tokens</a:t>
                      </a:r>
                    </a:p>
                  </a:txBody>
                  <a:tcPr marL="73152" marR="73152" marT="27432" marB="27432" anchor="ctr">
                    <a:solidFill>
                      <a:srgbClr val="FFFFFF"/>
                    </a:solidFill>
                  </a:tcPr>
                </a:tc>
                <a:tc>
                  <a:txBody>
                    <a:bodyPr wrap="square"/>
                    <a:lstStyle/>
                    <a:p>
                      <a:r>
                        <a:rPr sz="1000">
                          <a:solidFill>
                            <a:srgbClr val="011126"/>
                          </a:solidFill>
                          <a:latin typeface="Zalando Sans Light"/>
                        </a:rPr>
                        <a:t>Not an answer: stop with a named reason, or continue with a larger budget</a:t>
                      </a:r>
                    </a:p>
                  </a:txBody>
                  <a:tcPr marL="73152" marR="73152" marT="27432" marB="27432" anchor="ctr">
                    <a:solidFill>
                      <a:srgbClr val="FFFFFF"/>
                    </a:solidFill>
                  </a:tcPr>
                </a:tc>
              </a:tr>
              <a:tr h="502920">
                <a:tc>
                  <a:txBody>
                    <a:bodyPr wrap="square"/>
                    <a:lstStyle/>
                    <a:p>
                      <a:r>
                        <a:rPr sz="1000">
                          <a:solidFill>
                            <a:srgbClr val="011126"/>
                          </a:solidFill>
                          <a:latin typeface="Zalando Sans Medium"/>
                        </a:rPr>
                        <a:t>A refusal or filtered output</a:t>
                      </a:r>
                    </a:p>
                  </a:txBody>
                  <a:tcPr marL="73152" marR="73152" marT="27432" marB="27432" anchor="ctr">
                    <a:solidFill>
                      <a:srgbClr val="F3F5F9"/>
                    </a:solidFill>
                  </a:tcPr>
                </a:tc>
                <a:tc>
                  <a:txBody>
                    <a:bodyPr wrap="square"/>
                    <a:lstStyle/>
                    <a:p>
                      <a:r>
                        <a:rPr sz="900">
                          <a:solidFill>
                            <a:srgbClr val="011126"/>
                          </a:solidFill>
                          <a:latin typeface="IBM Plex Mono"/>
                        </a:rPr>
                        <a:t>content_filter / refusal</a:t>
                      </a:r>
                    </a:p>
                  </a:txBody>
                  <a:tcPr marL="73152" marR="73152" marT="27432" marB="27432" anchor="ctr">
                    <a:solidFill>
                      <a:srgbClr val="F3F5F9"/>
                    </a:solidFill>
                  </a:tcPr>
                </a:tc>
                <a:tc>
                  <a:txBody>
                    <a:bodyPr wrap="square"/>
                    <a:lstStyle/>
                    <a:p>
                      <a:r>
                        <a:rPr sz="1000">
                          <a:solidFill>
                            <a:srgbClr val="011126"/>
                          </a:solidFill>
                          <a:latin typeface="Zalando Sans Light"/>
                        </a:rPr>
                        <a:t>Not an answer: stop with a named reason</a:t>
                      </a:r>
                    </a:p>
                  </a:txBody>
                  <a:tcPr marL="73152" marR="73152" marT="27432" marB="27432" anchor="ctr">
                    <a:solidFill>
                      <a:srgbClr val="F3F5F9"/>
                    </a:solidFill>
                  </a:tcPr>
                </a:tc>
              </a:tr>
            </a:tbl>
          </a:graphicData>
        </a:graphic>
      </p:graphicFrame>
      <p:sp>
        <p:nvSpPr>
          <p:cNvPr id="4" name="TextBox 3"/>
          <p:cNvSpPr txBox="1"/>
          <p:nvPr/>
        </p:nvSpPr>
        <p:spPr>
          <a:xfrm>
            <a:off x="365760" y="3657600"/>
            <a:ext cx="8229600" cy="640080"/>
          </a:xfrm>
          <a:prstGeom prst="rect">
            <a:avLst/>
          </a:prstGeom>
          <a:noFill/>
        </p:spPr>
        <p:txBody>
          <a:bodyPr wrap="square" anchor="t" lIns="0" rIns="0" tIns="0" bIns="0">
            <a:spAutoFit/>
          </a:bodyPr>
          <a:lstStyle/>
          <a:p>
            <a:pPr algn="l">
              <a:spcAft>
                <a:spcPts val="400"/>
              </a:spcAft>
            </a:pPr>
            <a:r>
              <a:rPr sz="1100">
                <a:solidFill>
                  <a:srgbClr val="011126"/>
                </a:solidFill>
                <a:latin typeface="Zalando Sans Medium"/>
              </a:rPr>
              <a:t>Reasoning is never an action and never evidence. </a:t>
            </a:r>
            <a:r>
              <a:rPr sz="1100">
                <a:solidFill>
                  <a:srgbClr val="6B7280"/>
                </a:solidFill>
                <a:latin typeface="Zalando Sans Light"/>
              </a:rPr>
              <a:t>Today's runtime handles the first two rows; the others fail without a named reason until we harden it for real models.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Agent vs hard-coded sequence</a:t>
            </a:r>
          </a:p>
        </p:txBody>
      </p:sp>
      <p:sp>
        <p:nvSpPr>
          <p:cNvPr id="3" name="Rounded Rectangle 2"/>
          <p:cNvSpPr/>
          <p:nvPr/>
        </p:nvSpPr>
        <p:spPr>
          <a:xfrm>
            <a:off x="365760" y="960120"/>
            <a:ext cx="4114800" cy="3291840"/>
          </a:xfrm>
          <a:prstGeom prst="roundRect">
            <a:avLst>
              <a:gd name="adj" fmla="val 2222"/>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94360" y="1097280"/>
            <a:ext cx="3657600" cy="3063240"/>
          </a:xfrm>
          <a:prstGeom prst="rect">
            <a:avLst/>
          </a:prstGeom>
          <a:noFill/>
        </p:spPr>
        <p:txBody>
          <a:bodyPr wrap="square" anchor="t" lIns="0" rIns="0" tIns="0" bIns="0">
            <a:spAutoFit/>
          </a:bodyPr>
          <a:lstStyle/>
          <a:p>
            <a:pPr algn="l">
              <a:spcAft>
                <a:spcPts val="400"/>
              </a:spcAft>
            </a:pPr>
            <a:r>
              <a:rPr sz="1500">
                <a:solidFill>
                  <a:srgbClr val="011126"/>
                </a:solidFill>
                <a:latin typeface="Zalando Sans Medium"/>
              </a:rPr>
              <a:t>A hard-coded sequence</a:t>
            </a:r>
          </a:p>
          <a:p>
            <a:pPr algn="l">
              <a:spcAft>
                <a:spcPts val="400"/>
              </a:spcAft>
            </a:pPr>
            <a:r>
              <a:rPr sz="1150">
                <a:solidFill>
                  <a:srgbClr val="6B7280"/>
                </a:solidFill>
                <a:latin typeface="Zalando Sans Light"/>
              </a:rPr>
              <a:t>The developer fixes every step in advance.</a:t>
            </a:r>
          </a:p>
          <a:p>
            <a:pPr algn="l">
              <a:spcAft>
                <a:spcPts val="400"/>
              </a:spcAft>
            </a:pPr>
            <a:r>
              <a:rPr sz="1150">
                <a:solidFill>
                  <a:srgbClr val="3C3C3C"/>
                </a:solidFill>
                <a:latin typeface="Zalando Sans Light"/>
              </a:rPr>
              <a:t> </a:t>
            </a:r>
          </a:p>
          <a:p>
            <a:pPr algn="l">
              <a:spcAft>
                <a:spcPts val="400"/>
              </a:spcAft>
            </a:pPr>
            <a:r>
              <a:rPr sz="1100">
                <a:solidFill>
                  <a:srgbClr val="0020BB"/>
                </a:solidFill>
                <a:latin typeface="IBM Plex Mono"/>
              </a:rPr>
              <a:t>1. read the log</a:t>
            </a:r>
          </a:p>
          <a:p>
            <a:pPr algn="l">
              <a:spcAft>
                <a:spcPts val="400"/>
              </a:spcAft>
            </a:pPr>
            <a:r>
              <a:rPr sz="1100">
                <a:solidFill>
                  <a:srgbClr val="0020BB"/>
                </a:solidFill>
                <a:latin typeface="IBM Plex Mono"/>
              </a:rPr>
              <a:t>2. search the runbook</a:t>
            </a:r>
          </a:p>
          <a:p>
            <a:pPr algn="l">
              <a:spcAft>
                <a:spcPts val="400"/>
              </a:spcAft>
            </a:pPr>
            <a:r>
              <a:rPr sz="1100">
                <a:solidFill>
                  <a:srgbClr val="0020BB"/>
                </a:solidFill>
                <a:latin typeface="IBM Plex Mono"/>
              </a:rPr>
              <a:t>3. write the summary</a:t>
            </a:r>
          </a:p>
          <a:p>
            <a:pPr algn="l">
              <a:spcAft>
                <a:spcPts val="400"/>
              </a:spcAft>
            </a:pPr>
            <a:r>
              <a:rPr sz="1150">
                <a:solidFill>
                  <a:srgbClr val="3C3C3C"/>
                </a:solidFill>
                <a:latin typeface="Zalando Sans Light"/>
              </a:rPr>
              <a:t> </a:t>
            </a:r>
          </a:p>
          <a:p>
            <a:pPr algn="l">
              <a:spcAft>
                <a:spcPts val="400"/>
              </a:spcAft>
            </a:pPr>
            <a:r>
              <a:rPr sz="1150">
                <a:solidFill>
                  <a:srgbClr val="011126"/>
                </a:solidFill>
                <a:latin typeface="Zalando Sans Light"/>
              </a:rPr>
              <a:t>Predictable, but it breaks on the first case that does not follow the script.</a:t>
            </a:r>
          </a:p>
        </p:txBody>
      </p:sp>
      <p:sp>
        <p:nvSpPr>
          <p:cNvPr id="5" name="Rounded Rectangle 4"/>
          <p:cNvSpPr/>
          <p:nvPr/>
        </p:nvSpPr>
        <p:spPr>
          <a:xfrm>
            <a:off x="4617720" y="960120"/>
            <a:ext cx="4114800" cy="3291840"/>
          </a:xfrm>
          <a:prstGeom prst="roundRect">
            <a:avLst>
              <a:gd name="adj" fmla="val 2222"/>
            </a:avLst>
          </a:prstGeom>
          <a:solidFill>
            <a:srgbClr val="01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846320" y="1097280"/>
            <a:ext cx="3657600" cy="3063240"/>
          </a:xfrm>
          <a:prstGeom prst="rect">
            <a:avLst/>
          </a:prstGeom>
          <a:noFill/>
        </p:spPr>
        <p:txBody>
          <a:bodyPr wrap="square" anchor="t" lIns="0" rIns="0" tIns="0" bIns="0">
            <a:spAutoFit/>
          </a:bodyPr>
          <a:lstStyle/>
          <a:p>
            <a:pPr algn="l">
              <a:spcAft>
                <a:spcPts val="400"/>
              </a:spcAft>
            </a:pPr>
            <a:r>
              <a:rPr sz="1500">
                <a:solidFill>
                  <a:srgbClr val="FFFFFF"/>
                </a:solidFill>
                <a:latin typeface="Zalando Sans Medium"/>
              </a:rPr>
              <a:t>An agent-driven investigation</a:t>
            </a:r>
          </a:p>
          <a:p>
            <a:pPr algn="l">
              <a:spcAft>
                <a:spcPts val="400"/>
              </a:spcAft>
            </a:pPr>
            <a:r>
              <a:rPr sz="1150">
                <a:solidFill>
                  <a:srgbClr val="C9D3F5"/>
                </a:solidFill>
                <a:latin typeface="Zalando Sans Light"/>
              </a:rPr>
              <a:t>The next permitted step is chosen from what was just observed.</a:t>
            </a:r>
          </a:p>
          <a:p>
            <a:pPr algn="l">
              <a:spcAft>
                <a:spcPts val="400"/>
              </a:spcAft>
            </a:pPr>
            <a:r>
              <a:rPr sz="1150">
                <a:solidFill>
                  <a:srgbClr val="3C3C3C"/>
                </a:solidFill>
                <a:latin typeface="Zalando Sans Light"/>
              </a:rPr>
              <a:t> </a:t>
            </a:r>
          </a:p>
          <a:p>
            <a:pPr algn="l">
              <a:spcAft>
                <a:spcPts val="400"/>
              </a:spcAft>
            </a:pPr>
            <a:r>
              <a:rPr sz="1100">
                <a:solidFill>
                  <a:srgbClr val="00FFBE"/>
                </a:solidFill>
                <a:latin typeface="IBM Plex Mono"/>
              </a:rPr>
              <a:t>1. propose → run → observe</a:t>
            </a:r>
          </a:p>
          <a:p>
            <a:pPr algn="l">
              <a:spcAft>
                <a:spcPts val="400"/>
              </a:spcAft>
            </a:pPr>
            <a:r>
              <a:rPr sz="1100">
                <a:solidFill>
                  <a:srgbClr val="00FFBE"/>
                </a:solidFill>
                <a:latin typeface="IBM Plex Mono"/>
              </a:rPr>
              <a:t>2. propose → run → observe</a:t>
            </a:r>
          </a:p>
          <a:p>
            <a:pPr algn="l">
              <a:spcAft>
                <a:spcPts val="400"/>
              </a:spcAft>
            </a:pPr>
            <a:r>
              <a:rPr sz="1100">
                <a:solidFill>
                  <a:srgbClr val="00FFBE"/>
                </a:solidFill>
                <a:latin typeface="IBM Plex Mono"/>
              </a:rPr>
              <a:t>3. … then answer, or stop</a:t>
            </a:r>
          </a:p>
          <a:p>
            <a:pPr algn="l">
              <a:spcAft>
                <a:spcPts val="400"/>
              </a:spcAft>
            </a:pPr>
            <a:r>
              <a:rPr sz="1150">
                <a:solidFill>
                  <a:srgbClr val="3C3C3C"/>
                </a:solidFill>
                <a:latin typeface="Zalando Sans Light"/>
              </a:rPr>
              <a:t> </a:t>
            </a:r>
          </a:p>
          <a:p>
            <a:pPr algn="l">
              <a:spcAft>
                <a:spcPts val="400"/>
              </a:spcAft>
            </a:pPr>
            <a:r>
              <a:rPr sz="1150">
                <a:solidFill>
                  <a:srgbClr val="FFFFFF"/>
                </a:solidFill>
                <a:latin typeface="Zalando Sans Light"/>
              </a:rPr>
              <a:t>Adapts to each case, so it needs limits, cited evidence and approval before any fix.</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One run of INC-001, step by step</a:t>
            </a:r>
          </a:p>
        </p:txBody>
      </p:sp>
      <p:graphicFrame>
        <p:nvGraphicFramePr>
          <p:cNvPr id="3" name="Table 2"/>
          <p:cNvGraphicFramePr>
            <a:graphicFrameLocks noGrp="1"/>
          </p:cNvGraphicFramePr>
          <p:nvPr/>
        </p:nvGraphicFramePr>
        <p:xfrm>
          <a:off x="365760" y="868680"/>
          <a:ext cx="8229600" cy="3209544"/>
        </p:xfrm>
        <a:graphic>
          <a:graphicData uri="http://schemas.openxmlformats.org/drawingml/2006/table">
            <a:tbl>
              <a:tblPr firstRow="0" bandRow="0"/>
              <a:tblGrid>
                <a:gridCol w="1325880"/>
                <a:gridCol w="6903720"/>
              </a:tblGrid>
              <a:tr h="356616">
                <a:tc>
                  <a:txBody>
                    <a:bodyPr wrap="square"/>
                    <a:lstStyle/>
                    <a:p>
                      <a:r>
                        <a:rPr sz="1000">
                          <a:solidFill>
                            <a:srgbClr val="FFFFFF"/>
                          </a:solidFill>
                          <a:latin typeface="Zalando Sans Medium"/>
                        </a:rPr>
                        <a:t>Who</a:t>
                      </a:r>
                    </a:p>
                  </a:txBody>
                  <a:tcPr marL="73152" marR="73152" marT="27432" marB="27432" anchor="ctr">
                    <a:solidFill>
                      <a:srgbClr val="0020BB"/>
                    </a:solidFill>
                  </a:tcPr>
                </a:tc>
                <a:tc>
                  <a:txBody>
                    <a:bodyPr wrap="square"/>
                    <a:lstStyle/>
                    <a:p>
                      <a:r>
                        <a:rPr sz="1000">
                          <a:solidFill>
                            <a:srgbClr val="FFFFFF"/>
                          </a:solidFill>
                          <a:latin typeface="Zalando Sans Medium"/>
                        </a:rPr>
                        <a:t>What happens</a:t>
                      </a:r>
                    </a:p>
                  </a:txBody>
                  <a:tcPr marL="73152" marR="73152" marT="27432" marB="27432" anchor="ctr">
                    <a:solidFill>
                      <a:srgbClr val="0020BB"/>
                    </a:solidFill>
                  </a:tcPr>
                </a:tc>
              </a:tr>
              <a:tr h="356616">
                <a:tc>
                  <a:txBody>
                    <a:bodyPr wrap="square"/>
                    <a:lstStyle/>
                    <a:p>
                      <a:r>
                        <a:rPr sz="1000">
                          <a:solidFill>
                            <a:srgbClr val="011126"/>
                          </a:solidFill>
                          <a:latin typeface="Zalando Sans Medium"/>
                        </a:rPr>
                        <a:t>Runtime</a:t>
                      </a:r>
                    </a:p>
                  </a:txBody>
                  <a:tcPr marL="73152" marR="73152" marT="27432" marB="27432" anchor="ctr">
                    <a:solidFill>
                      <a:srgbClr val="FFFFFF"/>
                    </a:solidFill>
                  </a:tcPr>
                </a:tc>
                <a:tc>
                  <a:txBody>
                    <a:bodyPr wrap="square"/>
                    <a:lstStyle/>
                    <a:p>
                      <a:r>
                        <a:rPr sz="1000">
                          <a:solidFill>
                            <a:srgbClr val="011126"/>
                          </a:solidFill>
                          <a:latin typeface="Zalando Sans Light"/>
                        </a:rPr>
                        <a:t>Sends the instructions, the task "Investigate INC-001" and the two tool definitions</a:t>
                      </a:r>
                    </a:p>
                  </a:txBody>
                  <a:tcPr marL="73152" marR="73152" marT="27432" marB="27432" anchor="ctr">
                    <a:solidFill>
                      <a:srgbClr val="FFFFFF"/>
                    </a:solidFill>
                  </a:tcPr>
                </a:tc>
              </a:tr>
              <a:tr h="356616">
                <a:tc>
                  <a:txBody>
                    <a:bodyPr wrap="square"/>
                    <a:lstStyle/>
                    <a:p>
                      <a:r>
                        <a:rPr sz="1000">
                          <a:solidFill>
                            <a:srgbClr val="011126"/>
                          </a:solidFill>
                          <a:latin typeface="Zalando Sans Medium"/>
                        </a:rPr>
                        <a:t>Model · 1</a:t>
                      </a:r>
                    </a:p>
                  </a:txBody>
                  <a:tcPr marL="73152" marR="73152" marT="27432" marB="27432" anchor="ctr">
                    <a:solidFill>
                      <a:srgbClr val="F3F5F9"/>
                    </a:solidFill>
                  </a:tcPr>
                </a:tc>
                <a:tc>
                  <a:txBody>
                    <a:bodyPr wrap="square"/>
                    <a:lstStyle/>
                    <a:p>
                      <a:r>
                        <a:rPr sz="900">
                          <a:solidFill>
                            <a:srgbClr val="011126"/>
                          </a:solidFill>
                          <a:latin typeface="IBM Plex Mono"/>
                        </a:rPr>
                        <a:t>tool_call call-0  log_lookup {"incident_id": "INC-001"}</a:t>
                      </a:r>
                    </a:p>
                  </a:txBody>
                  <a:tcPr marL="73152" marR="73152" marT="27432" marB="27432" anchor="ctr">
                    <a:solidFill>
                      <a:srgbClr val="F3F5F9"/>
                    </a:solidFill>
                  </a:tcPr>
                </a:tc>
              </a:tr>
              <a:tr h="356616">
                <a:tc>
                  <a:txBody>
                    <a:bodyPr wrap="square"/>
                    <a:lstStyle/>
                    <a:p>
                      <a:r>
                        <a:rPr sz="1000">
                          <a:solidFill>
                            <a:srgbClr val="011126"/>
                          </a:solidFill>
                          <a:latin typeface="Zalando Sans Medium"/>
                        </a:rPr>
                        <a:t>Runtime → Tool</a:t>
                      </a:r>
                    </a:p>
                  </a:txBody>
                  <a:tcPr marL="73152" marR="73152" marT="27432" marB="27432" anchor="ctr">
                    <a:solidFill>
                      <a:srgbClr val="FFFFFF"/>
                    </a:solidFill>
                  </a:tcPr>
                </a:tc>
                <a:tc>
                  <a:txBody>
                    <a:bodyPr wrap="square"/>
                    <a:lstStyle/>
                    <a:p>
                      <a:r>
                        <a:rPr sz="1000">
                          <a:solidFill>
                            <a:srgbClr val="011126"/>
                          </a:solidFill>
                          <a:latin typeface="Zalando Sans Light"/>
                        </a:rPr>
                        <a:t>Checks permission and budget, records call-0 as pending, runs it</a:t>
                      </a:r>
                    </a:p>
                  </a:txBody>
                  <a:tcPr marL="73152" marR="73152" marT="27432" marB="27432" anchor="ctr">
                    <a:solidFill>
                      <a:srgbClr val="FFFFFF"/>
                    </a:solidFill>
                  </a:tcPr>
                </a:tc>
              </a:tr>
              <a:tr h="356616">
                <a:tc>
                  <a:txBody>
                    <a:bodyPr wrap="square"/>
                    <a:lstStyle/>
                    <a:p>
                      <a:r>
                        <a:rPr sz="1000">
                          <a:solidFill>
                            <a:srgbClr val="011126"/>
                          </a:solidFill>
                          <a:latin typeface="Zalando Sans Medium"/>
                        </a:rPr>
                        <a:t>Tool</a:t>
                      </a:r>
                    </a:p>
                  </a:txBody>
                  <a:tcPr marL="73152" marR="73152" marT="27432" marB="27432" anchor="ctr">
                    <a:solidFill>
                      <a:srgbClr val="F3F5F9"/>
                    </a:solidFill>
                  </a:tcPr>
                </a:tc>
                <a:tc>
                  <a:txBody>
                    <a:bodyPr wrap="square"/>
                    <a:lstStyle/>
                    <a:p>
                      <a:r>
                        <a:rPr sz="900">
                          <a:solidFill>
                            <a:srgbClr val="011126"/>
                          </a:solidFill>
                          <a:latin typeface="IBM Plex Mono"/>
                        </a:rPr>
                        <a:t>call-0 → log-astro-001 · payments · DB pool wait 900ms after deploy d42</a:t>
                      </a:r>
                    </a:p>
                  </a:txBody>
                  <a:tcPr marL="73152" marR="73152" marT="27432" marB="27432" anchor="ctr">
                    <a:solidFill>
                      <a:srgbClr val="F3F5F9"/>
                    </a:solidFill>
                  </a:tcPr>
                </a:tc>
              </a:tr>
              <a:tr h="356616">
                <a:tc>
                  <a:txBody>
                    <a:bodyPr wrap="square"/>
                    <a:lstStyle/>
                    <a:p>
                      <a:r>
                        <a:rPr sz="1000">
                          <a:solidFill>
                            <a:srgbClr val="011126"/>
                          </a:solidFill>
                          <a:latin typeface="Zalando Sans Medium"/>
                        </a:rPr>
                        <a:t>Model · 2</a:t>
                      </a:r>
                    </a:p>
                  </a:txBody>
                  <a:tcPr marL="73152" marR="73152" marT="27432" marB="27432" anchor="ctr">
                    <a:solidFill>
                      <a:srgbClr val="FFFFFF"/>
                    </a:solidFill>
                  </a:tcPr>
                </a:tc>
                <a:tc>
                  <a:txBody>
                    <a:bodyPr wrap="square"/>
                    <a:lstStyle/>
                    <a:p>
                      <a:r>
                        <a:rPr sz="900">
                          <a:solidFill>
                            <a:srgbClr val="011126"/>
                          </a:solidFill>
                          <a:latin typeface="IBM Plex Mono"/>
                        </a:rPr>
                        <a:t>tool_call call-1  runbook_search {"query": "connection_pool_exhaustion"}</a:t>
                      </a:r>
                    </a:p>
                  </a:txBody>
                  <a:tcPr marL="73152" marR="73152" marT="27432" marB="27432" anchor="ctr">
                    <a:solidFill>
                      <a:srgbClr val="FFFFFF"/>
                    </a:solidFill>
                  </a:tcPr>
                </a:tc>
              </a:tr>
              <a:tr h="356616">
                <a:tc>
                  <a:txBody>
                    <a:bodyPr wrap="square"/>
                    <a:lstStyle/>
                    <a:p>
                      <a:r>
                        <a:rPr sz="1000">
                          <a:solidFill>
                            <a:srgbClr val="011126"/>
                          </a:solidFill>
                          <a:latin typeface="Zalando Sans Medium"/>
                        </a:rPr>
                        <a:t>Tool</a:t>
                      </a:r>
                    </a:p>
                  </a:txBody>
                  <a:tcPr marL="73152" marR="73152" marT="27432" marB="27432" anchor="ctr">
                    <a:solidFill>
                      <a:srgbClr val="F3F5F9"/>
                    </a:solidFill>
                  </a:tcPr>
                </a:tc>
                <a:tc>
                  <a:txBody>
                    <a:bodyPr wrap="square"/>
                    <a:lstStyle/>
                    <a:p>
                      <a:r>
                        <a:rPr sz="900">
                          <a:solidFill>
                            <a:srgbClr val="011126"/>
                          </a:solidFill>
                          <a:latin typeface="IBM Plex Mono"/>
                        </a:rPr>
                        <a:t>call-1 → rb-pool-v1 · "Consider rollback after approval"</a:t>
                      </a:r>
                    </a:p>
                  </a:txBody>
                  <a:tcPr marL="73152" marR="73152" marT="27432" marB="27432" anchor="ctr">
                    <a:solidFill>
                      <a:srgbClr val="F3F5F9"/>
                    </a:solidFill>
                  </a:tcPr>
                </a:tc>
              </a:tr>
              <a:tr h="356616">
                <a:tc>
                  <a:txBody>
                    <a:bodyPr wrap="square"/>
                    <a:lstStyle/>
                    <a:p>
                      <a:r>
                        <a:rPr sz="1000">
                          <a:solidFill>
                            <a:srgbClr val="011126"/>
                          </a:solidFill>
                          <a:latin typeface="Zalando Sans Medium"/>
                        </a:rPr>
                        <a:t>Model · 3</a:t>
                      </a:r>
                    </a:p>
                  </a:txBody>
                  <a:tcPr marL="73152" marR="73152" marT="27432" marB="27432" anchor="ctr">
                    <a:solidFill>
                      <a:srgbClr val="FFFFFF"/>
                    </a:solidFill>
                  </a:tcPr>
                </a:tc>
                <a:tc>
                  <a:txBody>
                    <a:bodyPr wrap="square"/>
                    <a:lstStyle/>
                    <a:p>
                      <a:r>
                        <a:rPr sz="900">
                          <a:solidFill>
                            <a:srgbClr val="011126"/>
                          </a:solidFill>
                          <a:latin typeface="IBM Plex Mono"/>
                        </a:rPr>
                        <a:t>{"status": "complete", "cause": "connection_pool_exhaustion", "evidence": ["log-astro-001", "rb-pool-v1"]}</a:t>
                      </a:r>
                    </a:p>
                  </a:txBody>
                  <a:tcPr marL="73152" marR="73152" marT="27432" marB="27432" anchor="ctr">
                    <a:solidFill>
                      <a:srgbClr val="FFFFFF"/>
                    </a:solidFill>
                  </a:tcPr>
                </a:tc>
              </a:tr>
              <a:tr h="356616">
                <a:tc>
                  <a:txBody>
                    <a:bodyPr wrap="square"/>
                    <a:lstStyle/>
                    <a:p>
                      <a:r>
                        <a:rPr sz="1000">
                          <a:solidFill>
                            <a:srgbClr val="011126"/>
                          </a:solidFill>
                          <a:latin typeface="Zalando Sans Medium"/>
                        </a:rPr>
                        <a:t>Runtime</a:t>
                      </a:r>
                    </a:p>
                  </a:txBody>
                  <a:tcPr marL="73152" marR="73152" marT="27432" marB="27432" anchor="ctr">
                    <a:solidFill>
                      <a:srgbClr val="F3F5F9"/>
                    </a:solidFill>
                  </a:tcPr>
                </a:tc>
                <a:tc>
                  <a:txBody>
                    <a:bodyPr wrap="square"/>
                    <a:lstStyle/>
                    <a:p>
                      <a:r>
                        <a:rPr sz="1000">
                          <a:solidFill>
                            <a:srgbClr val="011126"/>
                          </a:solidFill>
                          <a:latin typeface="Zalando Sans Light"/>
                        </a:rPr>
                        <a:t>Checks the cited IDs were observed and marks the run completed; the rollback stays a suggestion</a:t>
                      </a:r>
                    </a:p>
                  </a:txBody>
                  <a:tcPr marL="73152" marR="73152" marT="27432" marB="27432" anchor="ctr">
                    <a:solidFill>
                      <a:srgbClr val="F3F5F9"/>
                    </a:solidFill>
                  </a:tcPr>
                </a:tc>
              </a:tr>
            </a:tbl>
          </a:graphicData>
        </a:graphic>
      </p:graphicFrame>
      <p:sp>
        <p:nvSpPr>
          <p:cNvPr id="4" name="TextBox 3"/>
          <p:cNvSpPr txBox="1"/>
          <p:nvPr/>
        </p:nvSpPr>
        <p:spPr>
          <a:xfrm>
            <a:off x="365760" y="4206240"/>
            <a:ext cx="8229600" cy="274320"/>
          </a:xfrm>
          <a:prstGeom prst="rect">
            <a:avLst/>
          </a:prstGeom>
          <a:noFill/>
        </p:spPr>
        <p:txBody>
          <a:bodyPr wrap="square" anchor="t" lIns="0" rIns="0" tIns="0" bIns="0">
            <a:spAutoFit/>
          </a:bodyPr>
          <a:lstStyle/>
          <a:p>
            <a:pPr algn="l">
              <a:spcAft>
                <a:spcPts val="400"/>
              </a:spcAft>
            </a:pPr>
            <a:r>
              <a:rPr sz="1000">
                <a:solidFill>
                  <a:srgbClr val="0020BB"/>
                </a:solidFill>
                <a:latin typeface="IBM Plex Mono"/>
              </a:rPr>
              <a:t>3 model steps · 2 tool calls · 75 fixture tokens · cost 0 (no prices configured)</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Does a completed run mean the incident is solved?</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Platform, runtime, model</a:t>
            </a:r>
          </a:p>
        </p:txBody>
      </p:sp>
      <p:graphicFrame>
        <p:nvGraphicFramePr>
          <p:cNvPr id="3" name="Table 2"/>
          <p:cNvGraphicFramePr>
            <a:graphicFrameLocks noGrp="1"/>
          </p:cNvGraphicFramePr>
          <p:nvPr/>
        </p:nvGraphicFramePr>
        <p:xfrm>
          <a:off x="365760" y="914400"/>
          <a:ext cx="8229600" cy="2743200"/>
        </p:xfrm>
        <a:graphic>
          <a:graphicData uri="http://schemas.openxmlformats.org/drawingml/2006/table">
            <a:tbl>
              <a:tblPr firstRow="0" bandRow="0"/>
              <a:tblGrid>
                <a:gridCol w="2468880"/>
                <a:gridCol w="1188720"/>
                <a:gridCol w="4572000"/>
              </a:tblGrid>
              <a:tr h="457200">
                <a:tc>
                  <a:txBody>
                    <a:bodyPr wrap="square"/>
                    <a:lstStyle/>
                    <a:p>
                      <a:r>
                        <a:rPr sz="1050">
                          <a:solidFill>
                            <a:srgbClr val="FFFFFF"/>
                          </a:solidFill>
                          <a:latin typeface="Zalando Sans Medium"/>
                        </a:rPr>
                        <a:t>Field</a:t>
                      </a:r>
                    </a:p>
                  </a:txBody>
                  <a:tcPr marL="73152" marR="73152" marT="27432" marB="27432" anchor="ctr">
                    <a:solidFill>
                      <a:srgbClr val="0020BB"/>
                    </a:solidFill>
                  </a:tcPr>
                </a:tc>
                <a:tc>
                  <a:txBody>
                    <a:bodyPr wrap="square"/>
                    <a:lstStyle/>
                    <a:p>
                      <a:r>
                        <a:rPr sz="1050">
                          <a:solidFill>
                            <a:srgbClr val="FFFFFF"/>
                          </a:solidFill>
                          <a:latin typeface="Zalando Sans Medium"/>
                        </a:rPr>
                        <a:t>Set by</a:t>
                      </a:r>
                    </a:p>
                  </a:txBody>
                  <a:tcPr marL="73152" marR="73152" marT="27432" marB="27432" anchor="ctr">
                    <a:solidFill>
                      <a:srgbClr val="0020BB"/>
                    </a:solidFill>
                  </a:tcPr>
                </a:tc>
                <a:tc>
                  <a:txBody>
                    <a:bodyPr wrap="square"/>
                    <a:lstStyle/>
                    <a:p>
                      <a:r>
                        <a:rPr sz="1050">
                          <a:solidFill>
                            <a:srgbClr val="FFFFFF"/>
                          </a:solidFill>
                          <a:latin typeface="Zalando Sans Medium"/>
                        </a:rPr>
                        <a:t>Why it matters</a:t>
                      </a:r>
                    </a:p>
                  </a:txBody>
                  <a:tcPr marL="73152" marR="73152" marT="27432" marB="27432" anchor="ctr">
                    <a:solidFill>
                      <a:srgbClr val="0020BB"/>
                    </a:solidFill>
                  </a:tcPr>
                </a:tc>
              </a:tr>
              <a:tr h="457200">
                <a:tc>
                  <a:txBody>
                    <a:bodyPr wrap="square"/>
                    <a:lstStyle/>
                    <a:p>
                      <a:r>
                        <a:rPr sz="950">
                          <a:solidFill>
                            <a:srgbClr val="011126"/>
                          </a:solidFill>
                          <a:latin typeface="IBM Plex Mono"/>
                        </a:rPr>
                        <a:t>tenant, run_id, role</a:t>
                      </a:r>
                    </a:p>
                  </a:txBody>
                  <a:tcPr marL="73152" marR="73152" marT="27432" marB="27432" anchor="ctr">
                    <a:solidFill>
                      <a:srgbClr val="FFFFFF"/>
                    </a:solidFill>
                  </a:tcPr>
                </a:tc>
                <a:tc>
                  <a:txBody>
                    <a:bodyPr wrap="square"/>
                    <a:lstStyle/>
                    <a:p>
                      <a:r>
                        <a:rPr sz="1050">
                          <a:solidFill>
                            <a:srgbClr val="011126"/>
                          </a:solidFill>
                          <a:latin typeface="Zalando Sans Light"/>
                        </a:rPr>
                        <a:t>platform</a:t>
                      </a:r>
                    </a:p>
                  </a:txBody>
                  <a:tcPr marL="73152" marR="73152" marT="27432" marB="27432" anchor="ctr">
                    <a:solidFill>
                      <a:srgbClr val="FFFFFF"/>
                    </a:solidFill>
                  </a:tcPr>
                </a:tc>
                <a:tc>
                  <a:txBody>
                    <a:bodyPr wrap="square"/>
                    <a:lstStyle/>
                    <a:p>
                      <a:r>
                        <a:rPr sz="1050">
                          <a:solidFill>
                            <a:srgbClr val="011126"/>
                          </a:solidFill>
                          <a:latin typeface="Zalando Sans Light"/>
                        </a:rPr>
                        <a:t>A retrieved document must never be able to switch tenant or identity</a:t>
                      </a:r>
                    </a:p>
                  </a:txBody>
                  <a:tcPr marL="73152" marR="73152" marT="27432" marB="27432" anchor="ctr">
                    <a:solidFill>
                      <a:srgbClr val="FFFFFF"/>
                    </a:solidFill>
                  </a:tcPr>
                </a:tc>
              </a:tr>
              <a:tr h="457200">
                <a:tc>
                  <a:txBody>
                    <a:bodyPr wrap="square"/>
                    <a:lstStyle/>
                    <a:p>
                      <a:r>
                        <a:rPr sz="950">
                          <a:solidFill>
                            <a:srgbClr val="011126"/>
                          </a:solidFill>
                          <a:latin typeface="IBM Plex Mono"/>
                        </a:rPr>
                        <a:t>allowed tools</a:t>
                      </a:r>
                    </a:p>
                  </a:txBody>
                  <a:tcPr marL="73152" marR="73152" marT="27432" marB="27432" anchor="ctr">
                    <a:solidFill>
                      <a:srgbClr val="F3F5F9"/>
                    </a:solidFill>
                  </a:tcPr>
                </a:tc>
                <a:tc>
                  <a:txBody>
                    <a:bodyPr wrap="square"/>
                    <a:lstStyle/>
                    <a:p>
                      <a:r>
                        <a:rPr sz="1050">
                          <a:solidFill>
                            <a:srgbClr val="011126"/>
                          </a:solidFill>
                          <a:latin typeface="Zalando Sans Light"/>
                        </a:rPr>
                        <a:t>platform</a:t>
                      </a:r>
                    </a:p>
                  </a:txBody>
                  <a:tcPr marL="73152" marR="73152" marT="27432" marB="27432" anchor="ctr">
                    <a:solidFill>
                      <a:srgbClr val="F3F5F9"/>
                    </a:solidFill>
                  </a:tcPr>
                </a:tc>
                <a:tc>
                  <a:txBody>
                    <a:bodyPr wrap="square"/>
                    <a:lstStyle/>
                    <a:p>
                      <a:r>
                        <a:rPr sz="1050">
                          <a:solidFill>
                            <a:srgbClr val="011126"/>
                          </a:solidFill>
                          <a:latin typeface="Zalando Sans Light"/>
                        </a:rPr>
                        <a:t>Permissions are granted by code, never claimed in model output</a:t>
                      </a:r>
                    </a:p>
                  </a:txBody>
                  <a:tcPr marL="73152" marR="73152" marT="27432" marB="27432" anchor="ctr">
                    <a:solidFill>
                      <a:srgbClr val="F3F5F9"/>
                    </a:solidFill>
                  </a:tcPr>
                </a:tc>
              </a:tr>
              <a:tr h="457200">
                <a:tc>
                  <a:txBody>
                    <a:bodyPr wrap="square"/>
                    <a:lstStyle/>
                    <a:p>
                      <a:r>
                        <a:rPr sz="950">
                          <a:solidFill>
                            <a:srgbClr val="011126"/>
                          </a:solidFill>
                          <a:latin typeface="IBM Plex Mono"/>
                        </a:rPr>
                        <a:t>Limits: steps, tokens, seconds</a:t>
                      </a:r>
                    </a:p>
                  </a:txBody>
                  <a:tcPr marL="73152" marR="73152" marT="27432" marB="27432" anchor="ctr">
                    <a:solidFill>
                      <a:srgbClr val="FFFFFF"/>
                    </a:solidFill>
                  </a:tcPr>
                </a:tc>
                <a:tc>
                  <a:txBody>
                    <a:bodyPr wrap="square"/>
                    <a:lstStyle/>
                    <a:p>
                      <a:r>
                        <a:rPr sz="1050">
                          <a:solidFill>
                            <a:srgbClr val="011126"/>
                          </a:solidFill>
                          <a:latin typeface="Zalando Sans Light"/>
                        </a:rPr>
                        <a:t>platform</a:t>
                      </a:r>
                    </a:p>
                  </a:txBody>
                  <a:tcPr marL="73152" marR="73152" marT="27432" marB="27432" anchor="ctr">
                    <a:solidFill>
                      <a:srgbClr val="FFFFFF"/>
                    </a:solidFill>
                  </a:tcPr>
                </a:tc>
                <a:tc>
                  <a:txBody>
                    <a:bodyPr wrap="square"/>
                    <a:lstStyle/>
                    <a:p>
                      <a:r>
                        <a:rPr sz="1050">
                          <a:solidFill>
                            <a:srgbClr val="011126"/>
                          </a:solidFill>
                          <a:latin typeface="Zalando Sans Light"/>
                        </a:rPr>
                        <a:t>Each limit catches a different failure; the runtime enforces them</a:t>
                      </a:r>
                    </a:p>
                  </a:txBody>
                  <a:tcPr marL="73152" marR="73152" marT="27432" marB="27432" anchor="ctr">
                    <a:solidFill>
                      <a:srgbClr val="FFFFFF"/>
                    </a:solidFill>
                  </a:tcPr>
                </a:tc>
              </a:tr>
              <a:tr h="457200">
                <a:tc>
                  <a:txBody>
                    <a:bodyPr wrap="square"/>
                    <a:lstStyle/>
                    <a:p>
                      <a:r>
                        <a:rPr sz="950">
                          <a:solidFill>
                            <a:srgbClr val="011126"/>
                          </a:solidFill>
                          <a:latin typeface="IBM Plex Mono"/>
                        </a:rPr>
                        <a:t>messages, tool calls, answer</a:t>
                      </a:r>
                    </a:p>
                  </a:txBody>
                  <a:tcPr marL="73152" marR="73152" marT="27432" marB="27432" anchor="ctr">
                    <a:solidFill>
                      <a:srgbClr val="F3F5F9"/>
                    </a:solidFill>
                  </a:tcPr>
                </a:tc>
                <a:tc>
                  <a:txBody>
                    <a:bodyPr wrap="square"/>
                    <a:lstStyle/>
                    <a:p>
                      <a:r>
                        <a:rPr sz="1050">
                          <a:solidFill>
                            <a:srgbClr val="011126"/>
                          </a:solidFill>
                          <a:latin typeface="Zalando Sans Light"/>
                        </a:rPr>
                        <a:t>model</a:t>
                      </a:r>
                    </a:p>
                  </a:txBody>
                  <a:tcPr marL="73152" marR="73152" marT="27432" marB="27432" anchor="ctr">
                    <a:solidFill>
                      <a:srgbClr val="F3F5F9"/>
                    </a:solidFill>
                  </a:tcPr>
                </a:tc>
                <a:tc>
                  <a:txBody>
                    <a:bodyPr wrap="square"/>
                    <a:lstStyle/>
                    <a:p>
                      <a:r>
                        <a:rPr sz="1050">
                          <a:solidFill>
                            <a:srgbClr val="011126"/>
                          </a:solidFill>
                          <a:latin typeface="Zalando Sans Light"/>
                        </a:rPr>
                        <a:t>Untrusted input: the runtime validates it before acting on it</a:t>
                      </a:r>
                    </a:p>
                  </a:txBody>
                  <a:tcPr marL="73152" marR="73152" marT="27432" marB="27432" anchor="ctr">
                    <a:solidFill>
                      <a:srgbClr val="F3F5F9"/>
                    </a:solidFill>
                  </a:tcPr>
                </a:tc>
              </a:tr>
              <a:tr h="457200">
                <a:tc>
                  <a:txBody>
                    <a:bodyPr wrap="square"/>
                    <a:lstStyle/>
                    <a:p>
                      <a:r>
                        <a:rPr sz="950">
                          <a:solidFill>
                            <a:srgbClr val="011126"/>
                          </a:solidFill>
                          <a:latin typeface="IBM Plex Mono"/>
                        </a:rPr>
                        <a:t>events</a:t>
                      </a:r>
                    </a:p>
                  </a:txBody>
                  <a:tcPr marL="73152" marR="73152" marT="27432" marB="27432" anchor="ctr">
                    <a:solidFill>
                      <a:srgbClr val="FFFFFF"/>
                    </a:solidFill>
                  </a:tcPr>
                </a:tc>
                <a:tc>
                  <a:txBody>
                    <a:bodyPr wrap="square"/>
                    <a:lstStyle/>
                    <a:p>
                      <a:r>
                        <a:rPr sz="1050">
                          <a:solidFill>
                            <a:srgbClr val="011126"/>
                          </a:solidFill>
                          <a:latin typeface="Zalando Sans Light"/>
                        </a:rPr>
                        <a:t>runtime</a:t>
                      </a:r>
                    </a:p>
                  </a:txBody>
                  <a:tcPr marL="73152" marR="73152" marT="27432" marB="27432" anchor="ctr">
                    <a:solidFill>
                      <a:srgbClr val="FFFFFF"/>
                    </a:solidFill>
                  </a:tcPr>
                </a:tc>
                <a:tc>
                  <a:txBody>
                    <a:bodyPr wrap="square"/>
                    <a:lstStyle/>
                    <a:p>
                      <a:r>
                        <a:rPr sz="1050">
                          <a:solidFill>
                            <a:srgbClr val="011126"/>
                          </a:solidFill>
                          <a:latin typeface="Zalando Sans Light"/>
                        </a:rPr>
                        <a:t>What happened, step by step; the console's run timeline from Session 02</a:t>
                      </a:r>
                    </a:p>
                  </a:txBody>
                  <a:tcPr marL="73152" marR="73152" marT="27432" marB="27432" anchor="ctr">
                    <a:solidFill>
                      <a:srgbClr val="FFFFFF"/>
                    </a:solidFill>
                  </a:tcPr>
                </a:tc>
              </a:tr>
            </a:tbl>
          </a:graphicData>
        </a:graphic>
      </p:graphicFrame>
      <p:sp>
        <p:nvSpPr>
          <p:cNvPr id="4" name="TextBox 3"/>
          <p:cNvSpPr txBox="1"/>
          <p:nvPr/>
        </p:nvSpPr>
        <p:spPr>
          <a:xfrm>
            <a:off x="365760" y="3886200"/>
            <a:ext cx="8229600" cy="365760"/>
          </a:xfrm>
          <a:prstGeom prst="rect">
            <a:avLst/>
          </a:prstGeom>
          <a:noFill/>
        </p:spPr>
        <p:txBody>
          <a:bodyPr wrap="square" anchor="t" lIns="0" rIns="0" tIns="0" bIns="0">
            <a:spAutoFit/>
          </a:bodyPr>
          <a:lstStyle/>
          <a:p>
            <a:pPr algn="l">
              <a:spcAft>
                <a:spcPts val="400"/>
              </a:spcAft>
            </a:pPr>
            <a:r>
              <a:rPr sz="1400">
                <a:solidFill>
                  <a:srgbClr val="0020BB"/>
                </a:solidFill>
                <a:latin typeface="Zalando Sans Medium"/>
              </a:rPr>
              <a:t>The platform sets. The runtime enforces. The model owns nothing.</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guards: every stop has a name</a:t>
            </a:r>
          </a:p>
        </p:txBody>
      </p:sp>
      <p:sp>
        <p:nvSpPr>
          <p:cNvPr id="3" name="Rounded Rectangle 2"/>
          <p:cNvSpPr/>
          <p:nvPr/>
        </p:nvSpPr>
        <p:spPr>
          <a:xfrm>
            <a:off x="365760" y="1097280"/>
            <a:ext cx="1947672" cy="2377440"/>
          </a:xfrm>
          <a:prstGeom prst="roundRect">
            <a:avLst>
              <a:gd name="adj" fmla="val 3755"/>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234440"/>
            <a:ext cx="1691640" cy="2194560"/>
          </a:xfrm>
          <a:prstGeom prst="rect">
            <a:avLst/>
          </a:prstGeom>
          <a:noFill/>
        </p:spPr>
        <p:txBody>
          <a:bodyPr wrap="square" anchor="t" lIns="0" rIns="0" tIns="0" bIns="0">
            <a:spAutoFit/>
          </a:bodyPr>
          <a:lstStyle/>
          <a:p>
            <a:pPr algn="l">
              <a:spcAft>
                <a:spcPts val="500"/>
              </a:spcAft>
            </a:pPr>
            <a:r>
              <a:rPr sz="1300">
                <a:solidFill>
                  <a:srgbClr val="0020BB"/>
                </a:solidFill>
                <a:latin typeface="IBM Plex Mono"/>
              </a:rPr>
              <a:t>step_budget</a:t>
            </a:r>
          </a:p>
          <a:p>
            <a:pPr algn="l">
              <a:spcAft>
                <a:spcPts val="500"/>
              </a:spcAft>
            </a:pPr>
            <a:r>
              <a:rPr sz="900">
                <a:solidFill>
                  <a:srgbClr val="6B7280"/>
                </a:solidFill>
                <a:latin typeface="IBM Plex Mono"/>
              </a:rPr>
              <a:t>default 8 model steps</a:t>
            </a:r>
          </a:p>
          <a:p>
            <a:pPr algn="l">
              <a:spcAft>
                <a:spcPts val="500"/>
              </a:spcAft>
            </a:pPr>
            <a:r>
              <a:rPr sz="1150">
                <a:solidFill>
                  <a:srgbClr val="3C3C3C"/>
                </a:solidFill>
                <a:latin typeface="Zalando Sans Light"/>
              </a:rPr>
              <a:t> </a:t>
            </a:r>
          </a:p>
          <a:p>
            <a:pPr algn="l">
              <a:spcAft>
                <a:spcPts val="500"/>
              </a:spcAft>
            </a:pPr>
            <a:r>
              <a:rPr sz="1150">
                <a:solidFill>
                  <a:srgbClr val="3C3C3C"/>
                </a:solidFill>
                <a:latin typeface="Zalando Sans Light"/>
              </a:rPr>
              <a:t>Stops a loop that never converges.</a:t>
            </a:r>
          </a:p>
        </p:txBody>
      </p:sp>
      <p:sp>
        <p:nvSpPr>
          <p:cNvPr id="5" name="Rounded Rectangle 4"/>
          <p:cNvSpPr/>
          <p:nvPr/>
        </p:nvSpPr>
        <p:spPr>
          <a:xfrm>
            <a:off x="2496312" y="1097280"/>
            <a:ext cx="1947672" cy="2377440"/>
          </a:xfrm>
          <a:prstGeom prst="roundRect">
            <a:avLst>
              <a:gd name="adj" fmla="val 3755"/>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633472" y="1234440"/>
            <a:ext cx="1691640" cy="2194560"/>
          </a:xfrm>
          <a:prstGeom prst="rect">
            <a:avLst/>
          </a:prstGeom>
          <a:noFill/>
        </p:spPr>
        <p:txBody>
          <a:bodyPr wrap="square" anchor="t" lIns="0" rIns="0" tIns="0" bIns="0">
            <a:spAutoFit/>
          </a:bodyPr>
          <a:lstStyle/>
          <a:p>
            <a:pPr algn="l">
              <a:spcAft>
                <a:spcPts val="500"/>
              </a:spcAft>
            </a:pPr>
            <a:r>
              <a:rPr sz="1300">
                <a:solidFill>
                  <a:srgbClr val="0020BB"/>
                </a:solidFill>
                <a:latin typeface="IBM Plex Mono"/>
              </a:rPr>
              <a:t>token_budget</a:t>
            </a:r>
          </a:p>
          <a:p>
            <a:pPr algn="l">
              <a:spcAft>
                <a:spcPts val="500"/>
              </a:spcAft>
            </a:pPr>
            <a:r>
              <a:rPr sz="900">
                <a:solidFill>
                  <a:srgbClr val="6B7280"/>
                </a:solidFill>
                <a:latin typeface="IBM Plex Mono"/>
              </a:rPr>
              <a:t>default 8,000, checked before each call</a:t>
            </a:r>
          </a:p>
          <a:p>
            <a:pPr algn="l">
              <a:spcAft>
                <a:spcPts val="500"/>
              </a:spcAft>
            </a:pPr>
            <a:r>
              <a:rPr sz="1150">
                <a:solidFill>
                  <a:srgbClr val="3C3C3C"/>
                </a:solidFill>
                <a:latin typeface="Zalando Sans Light"/>
              </a:rPr>
              <a:t> </a:t>
            </a:r>
          </a:p>
          <a:p>
            <a:pPr algn="l">
              <a:spcAft>
                <a:spcPts val="500"/>
              </a:spcAft>
            </a:pPr>
            <a:r>
              <a:rPr sz="1150">
                <a:solidFill>
                  <a:srgbClr val="3C3C3C"/>
                </a:solidFill>
                <a:latin typeface="Zalando Sans Light"/>
              </a:rPr>
              <a:t>Reserves room for the reply, then rechecks reported usage.</a:t>
            </a:r>
          </a:p>
        </p:txBody>
      </p:sp>
      <p:sp>
        <p:nvSpPr>
          <p:cNvPr id="7" name="Rounded Rectangle 6"/>
          <p:cNvSpPr/>
          <p:nvPr/>
        </p:nvSpPr>
        <p:spPr>
          <a:xfrm>
            <a:off x="4626864" y="1097280"/>
            <a:ext cx="1947672" cy="2377440"/>
          </a:xfrm>
          <a:prstGeom prst="roundRect">
            <a:avLst>
              <a:gd name="adj" fmla="val 3755"/>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764024" y="1234440"/>
            <a:ext cx="1691640" cy="2194560"/>
          </a:xfrm>
          <a:prstGeom prst="rect">
            <a:avLst/>
          </a:prstGeom>
          <a:noFill/>
        </p:spPr>
        <p:txBody>
          <a:bodyPr wrap="square" anchor="t" lIns="0" rIns="0" tIns="0" bIns="0">
            <a:spAutoFit/>
          </a:bodyPr>
          <a:lstStyle/>
          <a:p>
            <a:pPr algn="l">
              <a:spcAft>
                <a:spcPts val="500"/>
              </a:spcAft>
            </a:pPr>
            <a:r>
              <a:rPr sz="1300">
                <a:solidFill>
                  <a:srgbClr val="0020BB"/>
                </a:solidFill>
                <a:latin typeface="IBM Plex Mono"/>
              </a:rPr>
              <a:t>TimeoutError</a:t>
            </a:r>
          </a:p>
          <a:p>
            <a:pPr algn="l">
              <a:spcAft>
                <a:spcPts val="500"/>
              </a:spcAft>
            </a:pPr>
            <a:r>
              <a:rPr sz="900">
                <a:solidFill>
                  <a:srgbClr val="6B7280"/>
                </a:solidFill>
                <a:latin typeface="IBM Plex Mono"/>
              </a:rPr>
              <a:t>default 20 s for the whole run</a:t>
            </a:r>
          </a:p>
          <a:p>
            <a:pPr algn="l">
              <a:spcAft>
                <a:spcPts val="500"/>
              </a:spcAft>
            </a:pPr>
            <a:r>
              <a:rPr sz="1150">
                <a:solidFill>
                  <a:srgbClr val="3C3C3C"/>
                </a:solidFill>
                <a:latin typeface="Zalando Sans Light"/>
              </a:rPr>
              <a:t> </a:t>
            </a:r>
          </a:p>
          <a:p>
            <a:pPr algn="l">
              <a:spcAft>
                <a:spcPts val="500"/>
              </a:spcAft>
            </a:pPr>
            <a:r>
              <a:rPr sz="1150">
                <a:solidFill>
                  <a:srgbClr val="3C3C3C"/>
                </a:solidFill>
                <a:latin typeface="Zalando Sans Light"/>
              </a:rPr>
              <a:t>Catches a hang that consumes no steps and no tokens.</a:t>
            </a:r>
          </a:p>
        </p:txBody>
      </p:sp>
      <p:sp>
        <p:nvSpPr>
          <p:cNvPr id="9" name="Rounded Rectangle 8"/>
          <p:cNvSpPr/>
          <p:nvPr/>
        </p:nvSpPr>
        <p:spPr>
          <a:xfrm>
            <a:off x="6757416" y="1097280"/>
            <a:ext cx="1947672" cy="2377440"/>
          </a:xfrm>
          <a:prstGeom prst="roundRect">
            <a:avLst>
              <a:gd name="adj" fmla="val 3755"/>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94576" y="1234440"/>
            <a:ext cx="1691640" cy="2194560"/>
          </a:xfrm>
          <a:prstGeom prst="rect">
            <a:avLst/>
          </a:prstGeom>
          <a:noFill/>
        </p:spPr>
        <p:txBody>
          <a:bodyPr wrap="square" anchor="t" lIns="0" rIns="0" tIns="0" bIns="0">
            <a:spAutoFit/>
          </a:bodyPr>
          <a:lstStyle/>
          <a:p>
            <a:pPr algn="l">
              <a:spcAft>
                <a:spcPts val="500"/>
              </a:spcAft>
            </a:pPr>
            <a:r>
              <a:rPr sz="1300">
                <a:solidFill>
                  <a:srgbClr val="0020BB"/>
                </a:solidFill>
                <a:latin typeface="IBM Plex Mono"/>
              </a:rPr>
              <a:t>repeated_action</a:t>
            </a:r>
          </a:p>
          <a:p>
            <a:pPr algn="l">
              <a:spcAft>
                <a:spcPts val="500"/>
              </a:spcAft>
            </a:pPr>
            <a:r>
              <a:rPr sz="900">
                <a:solidFill>
                  <a:srgbClr val="6B7280"/>
                </a:solidFill>
                <a:latin typeface="IBM Plex Mono"/>
              </a:rPr>
              <a:t>same tool, same arguments</a:t>
            </a:r>
          </a:p>
          <a:p>
            <a:pPr algn="l">
              <a:spcAft>
                <a:spcPts val="500"/>
              </a:spcAft>
            </a:pPr>
            <a:r>
              <a:rPr sz="1150">
                <a:solidFill>
                  <a:srgbClr val="3C3C3C"/>
                </a:solidFill>
                <a:latin typeface="Zalando Sans Light"/>
              </a:rPr>
              <a:t> </a:t>
            </a:r>
          </a:p>
          <a:p>
            <a:pPr algn="l">
              <a:spcAft>
                <a:spcPts val="500"/>
              </a:spcAft>
            </a:pPr>
            <a:r>
              <a:rPr sz="1150">
                <a:solidFill>
                  <a:srgbClr val="3C3C3C"/>
                </a:solidFill>
                <a:latin typeface="Zalando Sans Light"/>
              </a:rPr>
              <a:t>Stops an agent stuck asking the same question.</a:t>
            </a:r>
          </a:p>
        </p:txBody>
      </p:sp>
      <p:sp>
        <p:nvSpPr>
          <p:cNvPr id="11" name="TextBox 10"/>
          <p:cNvSpPr txBox="1"/>
          <p:nvPr/>
        </p:nvSpPr>
        <p:spPr>
          <a:xfrm>
            <a:off x="365760" y="3749039"/>
            <a:ext cx="8229600" cy="457200"/>
          </a:xfrm>
          <a:prstGeom prst="rect">
            <a:avLst/>
          </a:prstGeom>
          <a:noFill/>
        </p:spPr>
        <p:txBody>
          <a:bodyPr wrap="square" anchor="t" lIns="0" rIns="0" tIns="0" bIns="0">
            <a:spAutoFit/>
          </a:bodyPr>
          <a:lstStyle/>
          <a:p>
            <a:pPr algn="l">
              <a:spcAft>
                <a:spcPts val="400"/>
              </a:spcAft>
            </a:pPr>
            <a:r>
              <a:rPr sz="1150">
                <a:solidFill>
                  <a:srgbClr val="011126"/>
                </a:solidFill>
                <a:latin typeface="Zalando Sans Medium"/>
              </a:rPr>
              <a:t>Poll: a provider hangs and returns nothing. Which component stops the run? </a:t>
            </a:r>
            <a:r>
              <a:rPr sz="1150">
                <a:solidFill>
                  <a:srgbClr val="6B7280"/>
                </a:solidFill>
                <a:latin typeface="Zalando Sans Light"/>
              </a:rPr>
              <a:t>The runtime, with its elapsed-time limit.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you build it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How you work through the build</a:t>
            </a:r>
          </a:p>
        </p:txBody>
      </p:sp>
      <p:sp>
        <p:nvSpPr>
          <p:cNvPr id="3" name="Rounded Rectangle 2"/>
          <p:cNvSpPr/>
          <p:nvPr/>
        </p:nvSpPr>
        <p:spPr>
          <a:xfrm>
            <a:off x="365760" y="1143000"/>
            <a:ext cx="731520" cy="310896"/>
          </a:xfrm>
          <a:prstGeom prst="roundRect">
            <a:avLst>
              <a:gd name="adj" fmla="val 50000"/>
            </a:avLst>
          </a:prstGeom>
          <a:solidFill>
            <a:srgbClr val="002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5760" y="1143000"/>
            <a:ext cx="731520" cy="310896"/>
          </a:xfrm>
          <a:prstGeom prst="rect">
            <a:avLst/>
          </a:prstGeom>
          <a:noFill/>
        </p:spPr>
        <p:txBody>
          <a:bodyPr wrap="square" anchor="ctr" lIns="0" rIns="0" tIns="0" bIns="0">
            <a:spAutoFit/>
          </a:bodyPr>
          <a:lstStyle/>
          <a:p>
            <a:pPr algn="ctr">
              <a:spcAft>
                <a:spcPts val="400"/>
              </a:spcAft>
            </a:pPr>
            <a:r>
              <a:rPr sz="900">
                <a:solidFill>
                  <a:srgbClr val="FFFFFF"/>
                </a:solidFill>
                <a:latin typeface="Zalando Sans Medium"/>
              </a:rPr>
              <a:t>Set up</a:t>
            </a:r>
          </a:p>
        </p:txBody>
      </p:sp>
      <p:sp>
        <p:nvSpPr>
          <p:cNvPr id="5" name="Rounded Rectangle 4"/>
          <p:cNvSpPr/>
          <p:nvPr/>
        </p:nvSpPr>
        <p:spPr>
          <a:xfrm>
            <a:off x="1152144" y="1143000"/>
            <a:ext cx="1371600" cy="310896"/>
          </a:xfrm>
          <a:prstGeom prst="roundRect">
            <a:avLst>
              <a:gd name="adj" fmla="val 50000"/>
            </a:avLst>
          </a:prstGeom>
          <a:solidFill>
            <a:srgbClr val="EE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52144" y="1143000"/>
            <a:ext cx="1371600" cy="310896"/>
          </a:xfrm>
          <a:prstGeom prst="rect">
            <a:avLst/>
          </a:prstGeom>
          <a:noFill/>
        </p:spPr>
        <p:txBody>
          <a:bodyPr wrap="square" anchor="ctr" lIns="0" rIns="0" tIns="0" bIns="0">
            <a:spAutoFit/>
          </a:bodyPr>
          <a:lstStyle/>
          <a:p>
            <a:pPr algn="ctr">
              <a:spcAft>
                <a:spcPts val="400"/>
              </a:spcAft>
            </a:pPr>
            <a:r>
              <a:rPr sz="900">
                <a:solidFill>
                  <a:srgbClr val="0020BB"/>
                </a:solidFill>
                <a:latin typeface="Zalando Sans Medium"/>
              </a:rPr>
              <a:t>Add the check pack</a:t>
            </a:r>
          </a:p>
        </p:txBody>
      </p:sp>
      <p:sp>
        <p:nvSpPr>
          <p:cNvPr id="7" name="Rounded Rectangle 6"/>
          <p:cNvSpPr/>
          <p:nvPr/>
        </p:nvSpPr>
        <p:spPr>
          <a:xfrm>
            <a:off x="2578608" y="1143000"/>
            <a:ext cx="658368" cy="310896"/>
          </a:xfrm>
          <a:prstGeom prst="roundRect">
            <a:avLst>
              <a:gd name="adj" fmla="val 50000"/>
            </a:avLst>
          </a:prstGeom>
          <a:solidFill>
            <a:srgbClr val="EE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78608" y="1143000"/>
            <a:ext cx="658368" cy="310896"/>
          </a:xfrm>
          <a:prstGeom prst="rect">
            <a:avLst/>
          </a:prstGeom>
          <a:noFill/>
        </p:spPr>
        <p:txBody>
          <a:bodyPr wrap="square" anchor="ctr" lIns="0" rIns="0" tIns="0" bIns="0">
            <a:spAutoFit/>
          </a:bodyPr>
          <a:lstStyle/>
          <a:p>
            <a:pPr algn="ctr">
              <a:spcAft>
                <a:spcPts val="400"/>
              </a:spcAft>
            </a:pPr>
            <a:r>
              <a:rPr sz="900">
                <a:solidFill>
                  <a:srgbClr val="0020BB"/>
                </a:solidFill>
                <a:latin typeface="Zalando Sans Medium"/>
              </a:rPr>
              <a:t>Build 1</a:t>
            </a:r>
          </a:p>
        </p:txBody>
      </p:sp>
      <p:sp>
        <p:nvSpPr>
          <p:cNvPr id="9" name="Rounded Rectangle 8"/>
          <p:cNvSpPr/>
          <p:nvPr/>
        </p:nvSpPr>
        <p:spPr>
          <a:xfrm>
            <a:off x="3291840" y="1143000"/>
            <a:ext cx="658368" cy="310896"/>
          </a:xfrm>
          <a:prstGeom prst="roundRect">
            <a:avLst>
              <a:gd name="adj" fmla="val 50000"/>
            </a:avLst>
          </a:prstGeom>
          <a:solidFill>
            <a:srgbClr val="EE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291840" y="1143000"/>
            <a:ext cx="658368" cy="310896"/>
          </a:xfrm>
          <a:prstGeom prst="rect">
            <a:avLst/>
          </a:prstGeom>
          <a:noFill/>
        </p:spPr>
        <p:txBody>
          <a:bodyPr wrap="square" anchor="ctr" lIns="0" rIns="0" tIns="0" bIns="0">
            <a:spAutoFit/>
          </a:bodyPr>
          <a:lstStyle/>
          <a:p>
            <a:pPr algn="ctr">
              <a:spcAft>
                <a:spcPts val="400"/>
              </a:spcAft>
            </a:pPr>
            <a:r>
              <a:rPr sz="900">
                <a:solidFill>
                  <a:srgbClr val="0020BB"/>
                </a:solidFill>
                <a:latin typeface="Zalando Sans Medium"/>
              </a:rPr>
              <a:t>Build 2</a:t>
            </a:r>
          </a:p>
        </p:txBody>
      </p:sp>
      <p:sp>
        <p:nvSpPr>
          <p:cNvPr id="11" name="Rounded Rectangle 10"/>
          <p:cNvSpPr/>
          <p:nvPr/>
        </p:nvSpPr>
        <p:spPr>
          <a:xfrm>
            <a:off x="4005072" y="1143000"/>
            <a:ext cx="658368" cy="310896"/>
          </a:xfrm>
          <a:prstGeom prst="roundRect">
            <a:avLst>
              <a:gd name="adj" fmla="val 50000"/>
            </a:avLst>
          </a:prstGeom>
          <a:solidFill>
            <a:srgbClr val="EE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005072" y="1143000"/>
            <a:ext cx="658368" cy="310896"/>
          </a:xfrm>
          <a:prstGeom prst="rect">
            <a:avLst/>
          </a:prstGeom>
          <a:noFill/>
        </p:spPr>
        <p:txBody>
          <a:bodyPr wrap="square" anchor="ctr" lIns="0" rIns="0" tIns="0" bIns="0">
            <a:spAutoFit/>
          </a:bodyPr>
          <a:lstStyle/>
          <a:p>
            <a:pPr algn="ctr">
              <a:spcAft>
                <a:spcPts val="400"/>
              </a:spcAft>
            </a:pPr>
            <a:r>
              <a:rPr sz="900">
                <a:solidFill>
                  <a:srgbClr val="0020BB"/>
                </a:solidFill>
                <a:latin typeface="Zalando Sans Medium"/>
              </a:rPr>
              <a:t>Build 3</a:t>
            </a:r>
          </a:p>
        </p:txBody>
      </p:sp>
      <p:sp>
        <p:nvSpPr>
          <p:cNvPr id="13" name="Rounded Rectangle 12"/>
          <p:cNvSpPr/>
          <p:nvPr/>
        </p:nvSpPr>
        <p:spPr>
          <a:xfrm>
            <a:off x="4718304" y="1143000"/>
            <a:ext cx="658368" cy="310896"/>
          </a:xfrm>
          <a:prstGeom prst="roundRect">
            <a:avLst>
              <a:gd name="adj" fmla="val 50000"/>
            </a:avLst>
          </a:prstGeom>
          <a:solidFill>
            <a:srgbClr val="EE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18304" y="1143000"/>
            <a:ext cx="658368" cy="310896"/>
          </a:xfrm>
          <a:prstGeom prst="rect">
            <a:avLst/>
          </a:prstGeom>
          <a:noFill/>
        </p:spPr>
        <p:txBody>
          <a:bodyPr wrap="square" anchor="ctr" lIns="0" rIns="0" tIns="0" bIns="0">
            <a:spAutoFit/>
          </a:bodyPr>
          <a:lstStyle/>
          <a:p>
            <a:pPr algn="ctr">
              <a:spcAft>
                <a:spcPts val="400"/>
              </a:spcAft>
            </a:pPr>
            <a:r>
              <a:rPr sz="900">
                <a:solidFill>
                  <a:srgbClr val="0020BB"/>
                </a:solidFill>
                <a:latin typeface="Zalando Sans Medium"/>
              </a:rPr>
              <a:t>Build 4</a:t>
            </a:r>
          </a:p>
        </p:txBody>
      </p:sp>
      <p:sp>
        <p:nvSpPr>
          <p:cNvPr id="15" name="Rounded Rectangle 14"/>
          <p:cNvSpPr/>
          <p:nvPr/>
        </p:nvSpPr>
        <p:spPr>
          <a:xfrm>
            <a:off x="5431536" y="1143000"/>
            <a:ext cx="777240" cy="310896"/>
          </a:xfrm>
          <a:prstGeom prst="roundRect">
            <a:avLst>
              <a:gd name="adj" fmla="val 50000"/>
            </a:avLst>
          </a:prstGeom>
          <a:solidFill>
            <a:srgbClr val="EE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431536" y="1143000"/>
            <a:ext cx="777240" cy="310896"/>
          </a:xfrm>
          <a:prstGeom prst="rect">
            <a:avLst/>
          </a:prstGeom>
          <a:noFill/>
        </p:spPr>
        <p:txBody>
          <a:bodyPr wrap="square" anchor="ctr" lIns="0" rIns="0" tIns="0" bIns="0">
            <a:spAutoFit/>
          </a:bodyPr>
          <a:lstStyle/>
          <a:p>
            <a:pPr algn="ctr">
              <a:spcAft>
                <a:spcPts val="400"/>
              </a:spcAft>
            </a:pPr>
            <a:r>
              <a:rPr sz="900">
                <a:solidFill>
                  <a:srgbClr val="0020BB"/>
                </a:solidFill>
                <a:latin typeface="Zalando Sans Medium"/>
              </a:rPr>
              <a:t>Break it</a:t>
            </a:r>
          </a:p>
        </p:txBody>
      </p:sp>
      <p:sp>
        <p:nvSpPr>
          <p:cNvPr id="17" name="Rounded Rectangle 16"/>
          <p:cNvSpPr/>
          <p:nvPr/>
        </p:nvSpPr>
        <p:spPr>
          <a:xfrm>
            <a:off x="6263640" y="1143000"/>
            <a:ext cx="1143000" cy="310896"/>
          </a:xfrm>
          <a:prstGeom prst="roundRect">
            <a:avLst>
              <a:gd name="adj" fmla="val 50000"/>
            </a:avLst>
          </a:prstGeom>
          <a:solidFill>
            <a:srgbClr val="EE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263640" y="1143000"/>
            <a:ext cx="1143000" cy="310896"/>
          </a:xfrm>
          <a:prstGeom prst="rect">
            <a:avLst/>
          </a:prstGeom>
          <a:noFill/>
        </p:spPr>
        <p:txBody>
          <a:bodyPr wrap="square" anchor="ctr" lIns="0" rIns="0" tIns="0" bIns="0">
            <a:spAutoFit/>
          </a:bodyPr>
          <a:lstStyle/>
          <a:p>
            <a:pPr algn="ctr">
              <a:spcAft>
                <a:spcPts val="400"/>
              </a:spcAft>
            </a:pPr>
            <a:r>
              <a:rPr sz="900">
                <a:solidFill>
                  <a:srgbClr val="0020BB"/>
                </a:solidFill>
                <a:latin typeface="Zalando Sans Medium"/>
              </a:rPr>
              <a:t>Verify and push</a:t>
            </a:r>
          </a:p>
        </p:txBody>
      </p:sp>
      <p:sp>
        <p:nvSpPr>
          <p:cNvPr id="19" name="Rounded Rectangle 18"/>
          <p:cNvSpPr/>
          <p:nvPr/>
        </p:nvSpPr>
        <p:spPr>
          <a:xfrm>
            <a:off x="7461504" y="1143000"/>
            <a:ext cx="685800" cy="310896"/>
          </a:xfrm>
          <a:prstGeom prst="roundRect">
            <a:avLst>
              <a:gd name="adj" fmla="val 50000"/>
            </a:avLst>
          </a:prstGeom>
          <a:solidFill>
            <a:srgbClr val="EEF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461504" y="1143000"/>
            <a:ext cx="685800" cy="310896"/>
          </a:xfrm>
          <a:prstGeom prst="rect">
            <a:avLst/>
          </a:prstGeom>
          <a:noFill/>
        </p:spPr>
        <p:txBody>
          <a:bodyPr wrap="square" anchor="ctr" lIns="0" rIns="0" tIns="0" bIns="0">
            <a:spAutoFit/>
          </a:bodyPr>
          <a:lstStyle/>
          <a:p>
            <a:pPr algn="ctr">
              <a:spcAft>
                <a:spcPts val="400"/>
              </a:spcAft>
            </a:pPr>
            <a:r>
              <a:rPr sz="900">
                <a:solidFill>
                  <a:srgbClr val="0020BB"/>
                </a:solidFill>
                <a:latin typeface="Zalando Sans Medium"/>
              </a:rPr>
              <a:t>Review</a:t>
            </a:r>
          </a:p>
        </p:txBody>
      </p:sp>
      <p:sp>
        <p:nvSpPr>
          <p:cNvPr id="21" name="Rounded Rectangle 20"/>
          <p:cNvSpPr/>
          <p:nvPr/>
        </p:nvSpPr>
        <p:spPr>
          <a:xfrm>
            <a:off x="365760" y="1874519"/>
            <a:ext cx="1947672" cy="1097280"/>
          </a:xfrm>
          <a:prstGeom prst="roundRect">
            <a:avLst>
              <a:gd name="adj" fmla="val 6666"/>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02920" y="1965960"/>
            <a:ext cx="1691640" cy="960120"/>
          </a:xfrm>
          <a:prstGeom prst="rect">
            <a:avLst/>
          </a:prstGeom>
          <a:noFill/>
        </p:spPr>
        <p:txBody>
          <a:bodyPr wrap="square" anchor="t" lIns="0" rIns="0" tIns="0" bIns="0">
            <a:spAutoFit/>
          </a:bodyPr>
          <a:lstStyle/>
          <a:p>
            <a:pPr algn="l">
              <a:spcAft>
                <a:spcPts val="500"/>
              </a:spcAft>
            </a:pPr>
            <a:r>
              <a:rPr sz="1200">
                <a:solidFill>
                  <a:srgbClr val="011126"/>
                </a:solidFill>
                <a:latin typeface="Zalando Sans Medium"/>
              </a:rPr>
              <a:t>Course repository</a:t>
            </a:r>
          </a:p>
          <a:p>
            <a:pPr algn="l">
              <a:spcAft>
                <a:spcPts val="500"/>
              </a:spcAft>
            </a:pPr>
            <a:r>
              <a:rPr sz="850">
                <a:solidFill>
                  <a:srgbClr val="143BFC"/>
                </a:solidFill>
                <a:latin typeface="IBM Plex Mono"/>
              </a:rPr>
              <a:t>github.com/maxvpavlov/ciklum-innovate-l3-2026</a:t>
            </a:r>
          </a:p>
        </p:txBody>
      </p:sp>
      <p:sp>
        <p:nvSpPr>
          <p:cNvPr id="23" name="Rounded Rectangle 22"/>
          <p:cNvSpPr/>
          <p:nvPr/>
        </p:nvSpPr>
        <p:spPr>
          <a:xfrm>
            <a:off x="2496312" y="1874519"/>
            <a:ext cx="1947672" cy="1097280"/>
          </a:xfrm>
          <a:prstGeom prst="roundRect">
            <a:avLst>
              <a:gd name="adj" fmla="val 6666"/>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633472" y="1965960"/>
            <a:ext cx="1691640" cy="960120"/>
          </a:xfrm>
          <a:prstGeom prst="rect">
            <a:avLst/>
          </a:prstGeom>
          <a:noFill/>
        </p:spPr>
        <p:txBody>
          <a:bodyPr wrap="square" anchor="t" lIns="0" rIns="0" tIns="0" bIns="0">
            <a:spAutoFit/>
          </a:bodyPr>
          <a:lstStyle/>
          <a:p>
            <a:pPr algn="l">
              <a:spcAft>
                <a:spcPts val="500"/>
              </a:spcAft>
            </a:pPr>
            <a:r>
              <a:rPr sz="1200">
                <a:solidFill>
                  <a:srgbClr val="011126"/>
                </a:solidFill>
                <a:latin typeface="Zalando Sans Medium"/>
              </a:rPr>
              <a:t>Session 01 kit</a:t>
            </a:r>
          </a:p>
          <a:p>
            <a:pPr algn="l">
              <a:spcAft>
                <a:spcPts val="500"/>
              </a:spcAft>
            </a:pPr>
            <a:r>
              <a:rPr sz="850">
                <a:solidFill>
                  <a:srgbClr val="143BFC"/>
                </a:solidFill>
                <a:latin typeface="IBM Plex Mono"/>
              </a:rPr>
              <a:t>learner-kit/lessons/01</a:t>
            </a:r>
          </a:p>
        </p:txBody>
      </p:sp>
      <p:sp>
        <p:nvSpPr>
          <p:cNvPr id="25" name="Rounded Rectangle 24"/>
          <p:cNvSpPr/>
          <p:nvPr/>
        </p:nvSpPr>
        <p:spPr>
          <a:xfrm>
            <a:off x="4626864" y="1874519"/>
            <a:ext cx="1947672" cy="1097280"/>
          </a:xfrm>
          <a:prstGeom prst="roundRect">
            <a:avLst>
              <a:gd name="adj" fmla="val 6666"/>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764024" y="1965960"/>
            <a:ext cx="1691640" cy="960120"/>
          </a:xfrm>
          <a:prstGeom prst="rect">
            <a:avLst/>
          </a:prstGeom>
          <a:noFill/>
        </p:spPr>
        <p:txBody>
          <a:bodyPr wrap="square" anchor="t" lIns="0" rIns="0" tIns="0" bIns="0">
            <a:spAutoFit/>
          </a:bodyPr>
          <a:lstStyle/>
          <a:p>
            <a:pPr algn="l">
              <a:spcAft>
                <a:spcPts val="500"/>
              </a:spcAft>
            </a:pPr>
            <a:r>
              <a:rPr sz="1200">
                <a:solidFill>
                  <a:srgbClr val="011126"/>
                </a:solidFill>
                <a:latin typeface="Zalando Sans Medium"/>
              </a:rPr>
              <a:t>Every session's prompts</a:t>
            </a:r>
          </a:p>
          <a:p>
            <a:pPr algn="l">
              <a:spcAft>
                <a:spcPts val="500"/>
              </a:spcAft>
            </a:pPr>
            <a:r>
              <a:rPr sz="850">
                <a:solidFill>
                  <a:srgbClr val="143BFC"/>
                </a:solidFill>
                <a:latin typeface="IBM Plex Mono"/>
              </a:rPr>
              <a:t>LEARNER_PROMPTS.md</a:t>
            </a:r>
          </a:p>
        </p:txBody>
      </p:sp>
      <p:sp>
        <p:nvSpPr>
          <p:cNvPr id="27" name="Rounded Rectangle 26"/>
          <p:cNvSpPr/>
          <p:nvPr/>
        </p:nvSpPr>
        <p:spPr>
          <a:xfrm>
            <a:off x="6757416" y="1874519"/>
            <a:ext cx="1947672" cy="1097280"/>
          </a:xfrm>
          <a:prstGeom prst="roundRect">
            <a:avLst>
              <a:gd name="adj" fmla="val 6666"/>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894576" y="1965960"/>
            <a:ext cx="1691640" cy="960120"/>
          </a:xfrm>
          <a:prstGeom prst="rect">
            <a:avLst/>
          </a:prstGeom>
          <a:noFill/>
        </p:spPr>
        <p:txBody>
          <a:bodyPr wrap="square" anchor="t" lIns="0" rIns="0" tIns="0" bIns="0">
            <a:spAutoFit/>
          </a:bodyPr>
          <a:lstStyle/>
          <a:p>
            <a:pPr algn="l">
              <a:spcAft>
                <a:spcPts val="500"/>
              </a:spcAft>
            </a:pPr>
            <a:r>
              <a:rPr sz="1200">
                <a:solidFill>
                  <a:srgbClr val="011126"/>
                </a:solidFill>
                <a:latin typeface="Zalando Sans Medium"/>
              </a:rPr>
              <a:t>Session page</a:t>
            </a:r>
          </a:p>
          <a:p>
            <a:pPr algn="l">
              <a:spcAft>
                <a:spcPts val="500"/>
              </a:spcAft>
            </a:pPr>
            <a:r>
              <a:rPr sz="850">
                <a:solidFill>
                  <a:srgbClr val="143BFC"/>
                </a:solidFill>
                <a:latin typeface="IBM Plex Mono"/>
              </a:rPr>
              <a:t>maxvpavlov.github.io/ciklum-innovate-l3-2026/lesson-01</a:t>
            </a:r>
          </a:p>
        </p:txBody>
      </p:sp>
      <p:sp>
        <p:nvSpPr>
          <p:cNvPr id="29" name="TextBox 28"/>
          <p:cNvSpPr txBox="1"/>
          <p:nvPr/>
        </p:nvSpPr>
        <p:spPr>
          <a:xfrm>
            <a:off x="365760" y="3291840"/>
            <a:ext cx="8229600" cy="822960"/>
          </a:xfrm>
          <a:prstGeom prst="rect">
            <a:avLst/>
          </a:prstGeom>
          <a:noFill/>
        </p:spPr>
        <p:txBody>
          <a:bodyPr wrap="square" anchor="t" lIns="0" rIns="0" tIns="0" bIns="0">
            <a:spAutoFit/>
          </a:bodyPr>
          <a:lstStyle/>
          <a:p>
            <a:pPr algn="l">
              <a:spcAft>
                <a:spcPts val="400"/>
              </a:spcAft>
            </a:pPr>
            <a:r>
              <a:rPr sz="1200">
                <a:solidFill>
                  <a:srgbClr val="011126"/>
                </a:solidFill>
                <a:latin typeface="Zalando Sans Medium"/>
              </a:rPr>
              <a:t>Rule for the whole build: </a:t>
            </a:r>
            <a:r>
              <a:rPr sz="1200">
                <a:solidFill>
                  <a:srgbClr val="3C3C3C"/>
                </a:solidFill>
                <a:latin typeface="Zalando Sans Light"/>
              </a:rPr>
              <a:t>a coding agent saying "done" is not evidence. Look at the diff and at the check output.</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Set up: the lesson-00 prompt</a:t>
            </a:r>
          </a:p>
        </p:txBody>
      </p:sp>
      <p:sp>
        <p:nvSpPr>
          <p:cNvPr id="3" name="Oval 2"/>
          <p:cNvSpPr/>
          <p:nvPr/>
        </p:nvSpPr>
        <p:spPr>
          <a:xfrm>
            <a:off x="365760" y="1005840"/>
            <a:ext cx="502920" cy="502920"/>
          </a:xfrm>
          <a:prstGeom prst="ellipse">
            <a:avLst/>
          </a:prstGeom>
          <a:solidFill>
            <a:srgbClr val="002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5760" y="1005840"/>
            <a:ext cx="502920" cy="502920"/>
          </a:xfrm>
          <a:prstGeom prst="rect">
            <a:avLst/>
          </a:prstGeom>
          <a:noFill/>
        </p:spPr>
        <p:txBody>
          <a:bodyPr wrap="square" anchor="ctr" lIns="0" rIns="0" tIns="0" bIns="0">
            <a:spAutoFit/>
          </a:bodyPr>
          <a:lstStyle/>
          <a:p>
            <a:pPr algn="ctr">
              <a:spcAft>
                <a:spcPts val="400"/>
              </a:spcAft>
            </a:pPr>
            <a:r>
              <a:rPr sz="1400">
                <a:solidFill>
                  <a:srgbClr val="FFFFFF"/>
                </a:solidFill>
                <a:latin typeface="Zalando Sans Medium"/>
              </a:rPr>
              <a:t>1</a:t>
            </a:r>
          </a:p>
        </p:txBody>
      </p:sp>
      <p:sp>
        <p:nvSpPr>
          <p:cNvPr id="5" name="TextBox 4"/>
          <p:cNvSpPr txBox="1"/>
          <p:nvPr/>
        </p:nvSpPr>
        <p:spPr>
          <a:xfrm>
            <a:off x="1005840" y="987552"/>
            <a:ext cx="3108960" cy="822960"/>
          </a:xfrm>
          <a:prstGeom prst="rect">
            <a:avLst/>
          </a:prstGeom>
          <a:noFill/>
        </p:spPr>
        <p:txBody>
          <a:bodyPr wrap="square" anchor="t" lIns="0" rIns="0" tIns="0" bIns="0">
            <a:spAutoFit/>
          </a:bodyPr>
          <a:lstStyle/>
          <a:p>
            <a:pPr algn="l">
              <a:spcAft>
                <a:spcPts val="400"/>
              </a:spcAft>
            </a:pPr>
            <a:r>
              <a:rPr sz="1300">
                <a:solidFill>
                  <a:srgbClr val="011126"/>
                </a:solidFill>
                <a:latin typeface="Zalando Sans Medium"/>
              </a:rPr>
              <a:t>Create an empty folder</a:t>
            </a:r>
          </a:p>
          <a:p>
            <a:pPr algn="l">
              <a:spcAft>
                <a:spcPts val="400"/>
              </a:spcAft>
            </a:pPr>
            <a:r>
              <a:rPr sz="1100">
                <a:solidFill>
                  <a:srgbClr val="3C3C3C"/>
                </a:solidFill>
                <a:latin typeface="Zalando Sans Light"/>
              </a:rPr>
              <a:t>~/agentic-course, and start your coding agent in it</a:t>
            </a:r>
          </a:p>
        </p:txBody>
      </p:sp>
      <p:sp>
        <p:nvSpPr>
          <p:cNvPr id="6" name="Oval 5"/>
          <p:cNvSpPr/>
          <p:nvPr/>
        </p:nvSpPr>
        <p:spPr>
          <a:xfrm>
            <a:off x="365760" y="1965960"/>
            <a:ext cx="502920" cy="502920"/>
          </a:xfrm>
          <a:prstGeom prst="ellipse">
            <a:avLst/>
          </a:prstGeom>
          <a:solidFill>
            <a:srgbClr val="002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65760" y="1965960"/>
            <a:ext cx="502920" cy="502920"/>
          </a:xfrm>
          <a:prstGeom prst="rect">
            <a:avLst/>
          </a:prstGeom>
          <a:noFill/>
        </p:spPr>
        <p:txBody>
          <a:bodyPr wrap="square" anchor="ctr" lIns="0" rIns="0" tIns="0" bIns="0">
            <a:spAutoFit/>
          </a:bodyPr>
          <a:lstStyle/>
          <a:p>
            <a:pPr algn="ctr">
              <a:spcAft>
                <a:spcPts val="400"/>
              </a:spcAft>
            </a:pPr>
            <a:r>
              <a:rPr sz="1400">
                <a:solidFill>
                  <a:srgbClr val="FFFFFF"/>
                </a:solidFill>
                <a:latin typeface="Zalando Sans Medium"/>
              </a:rPr>
              <a:t>2</a:t>
            </a:r>
          </a:p>
        </p:txBody>
      </p:sp>
      <p:sp>
        <p:nvSpPr>
          <p:cNvPr id="8" name="TextBox 7"/>
          <p:cNvSpPr txBox="1"/>
          <p:nvPr/>
        </p:nvSpPr>
        <p:spPr>
          <a:xfrm>
            <a:off x="1005840" y="1947672"/>
            <a:ext cx="3108960" cy="822960"/>
          </a:xfrm>
          <a:prstGeom prst="rect">
            <a:avLst/>
          </a:prstGeom>
          <a:noFill/>
        </p:spPr>
        <p:txBody>
          <a:bodyPr wrap="square" anchor="t" lIns="0" rIns="0" tIns="0" bIns="0">
            <a:spAutoFit/>
          </a:bodyPr>
          <a:lstStyle/>
          <a:p>
            <a:pPr algn="l">
              <a:spcAft>
                <a:spcPts val="400"/>
              </a:spcAft>
            </a:pPr>
            <a:r>
              <a:rPr sz="1300">
                <a:solidFill>
                  <a:srgbClr val="011126"/>
                </a:solidFill>
                <a:latin typeface="Zalando Sans Medium"/>
              </a:rPr>
              <a:t>Paste the lesson-00 prompt</a:t>
            </a:r>
          </a:p>
          <a:p>
            <a:pPr algn="l">
              <a:spcAft>
                <a:spcPts val="400"/>
              </a:spcAft>
            </a:pPr>
            <a:r>
              <a:rPr sz="1100">
                <a:solidFill>
                  <a:srgbClr val="3C3C3C"/>
                </a:solidFill>
                <a:latin typeface="Zalando Sans Light"/>
              </a:rPr>
              <a:t>from the session page; it does the rest</a:t>
            </a:r>
          </a:p>
        </p:txBody>
      </p:sp>
      <p:sp>
        <p:nvSpPr>
          <p:cNvPr id="9" name="Oval 8"/>
          <p:cNvSpPr/>
          <p:nvPr/>
        </p:nvSpPr>
        <p:spPr>
          <a:xfrm>
            <a:off x="365760" y="2926080"/>
            <a:ext cx="502920" cy="502920"/>
          </a:xfrm>
          <a:prstGeom prst="ellipse">
            <a:avLst/>
          </a:prstGeom>
          <a:solidFill>
            <a:srgbClr val="002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65760" y="2926080"/>
            <a:ext cx="502920" cy="502920"/>
          </a:xfrm>
          <a:prstGeom prst="rect">
            <a:avLst/>
          </a:prstGeom>
          <a:noFill/>
        </p:spPr>
        <p:txBody>
          <a:bodyPr wrap="square" anchor="ctr" lIns="0" rIns="0" tIns="0" bIns="0">
            <a:spAutoFit/>
          </a:bodyPr>
          <a:lstStyle/>
          <a:p>
            <a:pPr algn="ctr">
              <a:spcAft>
                <a:spcPts val="400"/>
              </a:spcAft>
            </a:pPr>
            <a:r>
              <a:rPr sz="1400">
                <a:solidFill>
                  <a:srgbClr val="FFFFFF"/>
                </a:solidFill>
                <a:latin typeface="Zalando Sans Medium"/>
              </a:rPr>
              <a:t>3</a:t>
            </a:r>
          </a:p>
        </p:txBody>
      </p:sp>
      <p:sp>
        <p:nvSpPr>
          <p:cNvPr id="11" name="TextBox 10"/>
          <p:cNvSpPr txBox="1"/>
          <p:nvPr/>
        </p:nvSpPr>
        <p:spPr>
          <a:xfrm>
            <a:off x="1005840" y="2907792"/>
            <a:ext cx="3108960" cy="822960"/>
          </a:xfrm>
          <a:prstGeom prst="rect">
            <a:avLst/>
          </a:prstGeom>
          <a:noFill/>
        </p:spPr>
        <p:txBody>
          <a:bodyPr wrap="square" anchor="t" lIns="0" rIns="0" tIns="0" bIns="0">
            <a:spAutoFit/>
          </a:bodyPr>
          <a:lstStyle/>
          <a:p>
            <a:pPr algn="l">
              <a:spcAft>
                <a:spcPts val="400"/>
              </a:spcAft>
            </a:pPr>
            <a:r>
              <a:rPr sz="1300">
                <a:solidFill>
                  <a:srgbClr val="011126"/>
                </a:solidFill>
                <a:latin typeface="Zalando Sans Medium"/>
              </a:rPr>
              <a:t>Expect</a:t>
            </a:r>
          </a:p>
          <a:p>
            <a:pPr algn="l">
              <a:spcAft>
                <a:spcPts val="400"/>
              </a:spcAft>
            </a:pPr>
            <a:r>
              <a:rPr sz="1100">
                <a:solidFill>
                  <a:srgbClr val="3C3C3C"/>
                </a:solidFill>
                <a:latin typeface="Zalando Sans Light"/>
              </a:rPr>
              <a:t>1 passed · LESSON = 0 · your project on gitlab.ciklum.net</a:t>
            </a:r>
          </a:p>
        </p:txBody>
      </p:sp>
      <p:sp>
        <p:nvSpPr>
          <p:cNvPr id="12" name="Rounded Rectangle 11"/>
          <p:cNvSpPr/>
          <p:nvPr/>
        </p:nvSpPr>
        <p:spPr>
          <a:xfrm>
            <a:off x="4389120" y="1005840"/>
            <a:ext cx="4206240" cy="2377440"/>
          </a:xfrm>
          <a:prstGeom prst="roundRect">
            <a:avLst>
              <a:gd name="adj" fmla="val 3846"/>
            </a:avLst>
          </a:prstGeom>
          <a:solidFill>
            <a:srgbClr val="01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553712" y="1133856"/>
            <a:ext cx="3931920" cy="2194560"/>
          </a:xfrm>
          <a:prstGeom prst="rect">
            <a:avLst/>
          </a:prstGeom>
          <a:noFill/>
        </p:spPr>
        <p:txBody>
          <a:bodyPr wrap="square" anchor="t" lIns="0" rIns="0" tIns="0" bIns="0">
            <a:spAutoFit/>
          </a:bodyPr>
          <a:lstStyle/>
          <a:p>
            <a:pPr algn="l">
              <a:lnSpc>
                <a:spcPct val="100000"/>
              </a:lnSpc>
              <a:spcAft>
                <a:spcPts val="0"/>
              </a:spcAft>
            </a:pPr>
            <a:r>
              <a:rPr sz="950">
                <a:solidFill>
                  <a:srgbClr val="E6ECF5"/>
                </a:solidFill>
                <a:latin typeface="IBM Plex Mono"/>
              </a:rPr>
              <a:t>~/agentic-course/</a:t>
            </a:r>
          </a:p>
          <a:p>
            <a:pPr algn="l">
              <a:lnSpc>
                <a:spcPct val="100000"/>
              </a:lnSpc>
              <a:spcAft>
                <a:spcPts val="0"/>
              </a:spcAft>
            </a:pPr>
            <a:r>
              <a:rPr sz="950">
                <a:solidFill>
                  <a:srgbClr val="E6ECF5"/>
                </a:solidFill>
                <a:latin typeface="IBM Plex Mono"/>
              </a:rPr>
              <a:t>  course/          read-only copy of</a:t>
            </a:r>
          </a:p>
          <a:p>
            <a:pPr algn="l">
              <a:lnSpc>
                <a:spcPct val="100000"/>
              </a:lnSpc>
              <a:spcAft>
                <a:spcPts val="0"/>
              </a:spcAft>
            </a:pPr>
            <a:r>
              <a:rPr sz="950">
                <a:solidFill>
                  <a:srgbClr val="E6ECF5"/>
                </a:solidFill>
                <a:latin typeface="IBM Plex Mono"/>
              </a:rPr>
              <a:t>                   the course repository</a:t>
            </a:r>
          </a:p>
          <a:p>
            <a:pPr algn="l">
              <a:lnSpc>
                <a:spcPct val="100000"/>
              </a:lnSpc>
              <a:spcAft>
                <a:spcPts val="0"/>
              </a:spcAft>
            </a:pPr>
            <a:r>
              <a:rPr sz="950">
                <a:solidFill>
                  <a:srgbClr val="E6ECF5"/>
                </a:solidFill>
                <a:latin typeface="IBM Plex Mono"/>
              </a:rPr>
              <a:t>    learner-kit/</a:t>
            </a:r>
          </a:p>
          <a:p>
            <a:pPr algn="l">
              <a:lnSpc>
                <a:spcPct val="100000"/>
              </a:lnSpc>
              <a:spcAft>
                <a:spcPts val="0"/>
              </a:spcAft>
            </a:pPr>
            <a:r>
              <a:rPr sz="950">
                <a:solidFill>
                  <a:srgbClr val="E6ECF5"/>
                </a:solidFill>
                <a:latin typeface="IBM Plex Mono"/>
              </a:rPr>
              <a:t>      starter/     copied once</a:t>
            </a:r>
          </a:p>
          <a:p>
            <a:pPr algn="l">
              <a:lnSpc>
                <a:spcPct val="100000"/>
              </a:lnSpc>
              <a:spcAft>
                <a:spcPts val="0"/>
              </a:spcAft>
            </a:pPr>
            <a:r>
              <a:rPr sz="950">
                <a:solidFill>
                  <a:srgbClr val="E6ECF5"/>
                </a:solidFill>
                <a:latin typeface="IBM Plex Mono"/>
              </a:rPr>
              <a:t>      lessons/01/  given files and</a:t>
            </a:r>
          </a:p>
          <a:p>
            <a:pPr algn="l">
              <a:lnSpc>
                <a:spcPct val="100000"/>
              </a:lnSpc>
              <a:spcAft>
                <a:spcPts val="0"/>
              </a:spcAft>
            </a:pPr>
            <a:r>
              <a:rPr sz="950">
                <a:solidFill>
                  <a:srgbClr val="E6ECF5"/>
                </a:solidFill>
                <a:latin typeface="IBM Plex Mono"/>
              </a:rPr>
              <a:t>                   check pack</a:t>
            </a:r>
          </a:p>
          <a:p>
            <a:pPr algn="l">
              <a:lnSpc>
                <a:spcPct val="100000"/>
              </a:lnSpc>
              <a:spcAft>
                <a:spcPts val="0"/>
              </a:spcAft>
            </a:pPr>
            <a:r>
              <a:rPr sz="950">
                <a:solidFill>
                  <a:srgbClr val="00FFBE"/>
                </a:solidFill>
                <a:latin typeface="IBM Plex Mono"/>
              </a:rPr>
              <a:t>  my-platform/     your project, your agent</a:t>
            </a:r>
          </a:p>
          <a:p>
            <a:pPr algn="l">
              <a:lnSpc>
                <a:spcPct val="100000"/>
              </a:lnSpc>
              <a:spcAft>
                <a:spcPts val="0"/>
              </a:spcAft>
            </a:pPr>
            <a:r>
              <a:rPr sz="950">
                <a:solidFill>
                  <a:srgbClr val="00FFBE"/>
                </a:solidFill>
                <a:latin typeface="IBM Plex Mono"/>
              </a:rPr>
              <a:t>                   writes here, pushed to GitLab</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you build today</a:t>
            </a:r>
          </a:p>
        </p:txBody>
      </p:sp>
      <p:sp>
        <p:nvSpPr>
          <p:cNvPr id="3" name="Rounded Rectangle 2"/>
          <p:cNvSpPr/>
          <p:nvPr/>
        </p:nvSpPr>
        <p:spPr>
          <a:xfrm>
            <a:off x="365760" y="914400"/>
            <a:ext cx="4754880" cy="3291840"/>
          </a:xfrm>
          <a:prstGeom prst="roundRect">
            <a:avLst>
              <a:gd name="adj" fmla="val 2777"/>
            </a:avLst>
          </a:prstGeom>
          <a:solidFill>
            <a:srgbClr val="01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30352" y="1042416"/>
            <a:ext cx="4480560" cy="3108960"/>
          </a:xfrm>
          <a:prstGeom prst="rect">
            <a:avLst/>
          </a:prstGeom>
          <a:noFill/>
        </p:spPr>
        <p:txBody>
          <a:bodyPr wrap="square" anchor="t" lIns="0" rIns="0" tIns="0" bIns="0">
            <a:spAutoFit/>
          </a:bodyPr>
          <a:lstStyle/>
          <a:p>
            <a:pPr algn="l">
              <a:lnSpc>
                <a:spcPct val="100000"/>
              </a:lnSpc>
              <a:spcAft>
                <a:spcPts val="0"/>
              </a:spcAft>
            </a:pPr>
            <a:r>
              <a:rPr sz="1000">
                <a:solidFill>
                  <a:srgbClr val="E6ECF5"/>
                </a:solidFill>
                <a:latin typeface="IBM Plex Mono"/>
              </a:rPr>
              <a:t>my-platform/</a:t>
            </a:r>
          </a:p>
          <a:p>
            <a:pPr algn="l">
              <a:lnSpc>
                <a:spcPct val="100000"/>
              </a:lnSpc>
              <a:spcAft>
                <a:spcPts val="0"/>
              </a:spcAft>
            </a:pPr>
            <a:r>
              <a:rPr sz="1000">
                <a:solidFill>
                  <a:srgbClr val="E6ECF5"/>
                </a:solidFill>
                <a:latin typeface="IBM Plex Mono"/>
              </a:rPr>
              <a:t>  incident/</a:t>
            </a:r>
          </a:p>
          <a:p>
            <a:pPr algn="l">
              <a:lnSpc>
                <a:spcPct val="100000"/>
              </a:lnSpc>
              <a:spcAft>
                <a:spcPts val="0"/>
              </a:spcAft>
            </a:pPr>
            <a:r>
              <a:rPr sz="1000">
                <a:solidFill>
                  <a:srgbClr val="E6ECF5"/>
                </a:solidFill>
                <a:latin typeface="IBM Plex Mono"/>
              </a:rPr>
              <a:t>    __init__.py   LESSON = 0, then 1</a:t>
            </a:r>
          </a:p>
          <a:p>
            <a:pPr algn="l">
              <a:lnSpc>
                <a:spcPct val="100000"/>
              </a:lnSpc>
              <a:spcAft>
                <a:spcPts val="0"/>
              </a:spcAft>
            </a:pPr>
            <a:r>
              <a:rPr sz="1000">
                <a:solidFill>
                  <a:srgbClr val="E6ECF5"/>
                </a:solidFill>
                <a:latin typeface="IBM Plex Mono"/>
              </a:rPr>
              <a:t>    lab.py        runs a session's demo</a:t>
            </a:r>
          </a:p>
          <a:p>
            <a:pPr algn="l">
              <a:lnSpc>
                <a:spcPct val="100000"/>
              </a:lnSpc>
              <a:spcAft>
                <a:spcPts val="0"/>
              </a:spcAft>
            </a:pPr>
            <a:r>
              <a:rPr sz="1000">
                <a:solidFill>
                  <a:srgbClr val="00FFBE"/>
                </a:solidFill>
                <a:latin typeface="IBM Plex Mono"/>
              </a:rPr>
              <a:t>    core.py       you build: the runtime</a:t>
            </a:r>
          </a:p>
          <a:p>
            <a:pPr algn="l">
              <a:lnSpc>
                <a:spcPct val="100000"/>
              </a:lnSpc>
              <a:spcAft>
                <a:spcPts val="0"/>
              </a:spcAft>
            </a:pPr>
            <a:r>
              <a:rPr sz="1000">
                <a:solidFill>
                  <a:srgbClr val="00FFBE"/>
                </a:solidFill>
                <a:latin typeface="IBM Plex Mono"/>
              </a:rPr>
              <a:t>    providers.py  you build; mock is given</a:t>
            </a:r>
          </a:p>
          <a:p>
            <a:pPr algn="l">
              <a:lnSpc>
                <a:spcPct val="100000"/>
              </a:lnSpc>
              <a:spcAft>
                <a:spcPts val="0"/>
              </a:spcAft>
            </a:pPr>
            <a:r>
              <a:rPr sz="1000">
                <a:solidFill>
                  <a:srgbClr val="E6ECF5"/>
                </a:solidFill>
                <a:latin typeface="IBM Plex Mono"/>
              </a:rPr>
              <a:t>    fixtures.py   given: synthetic data</a:t>
            </a:r>
          </a:p>
          <a:p>
            <a:pPr algn="l">
              <a:lnSpc>
                <a:spcPct val="100000"/>
              </a:lnSpc>
              <a:spcAft>
                <a:spcPts val="0"/>
              </a:spcAft>
            </a:pPr>
            <a:r>
              <a:rPr sz="1000">
                <a:solidFill>
                  <a:srgbClr val="E6ECF5"/>
                </a:solidFill>
                <a:latin typeface="IBM Plex Mono"/>
              </a:rPr>
              <a:t>    labs/l01.py   check pack: the demo</a:t>
            </a:r>
          </a:p>
          <a:p>
            <a:pPr algn="l">
              <a:lnSpc>
                <a:spcPct val="100000"/>
              </a:lnSpc>
              <a:spcAft>
                <a:spcPts val="0"/>
              </a:spcAft>
            </a:pPr>
            <a:r>
              <a:rPr sz="1000">
                <a:solidFill>
                  <a:srgbClr val="E6ECF5"/>
                </a:solidFill>
                <a:latin typeface="IBM Plex Mono"/>
              </a:rPr>
              <a:t>  tests/</a:t>
            </a:r>
          </a:p>
          <a:p>
            <a:pPr algn="l">
              <a:lnSpc>
                <a:spcPct val="100000"/>
              </a:lnSpc>
              <a:spcAft>
                <a:spcPts val="0"/>
              </a:spcAft>
            </a:pPr>
            <a:r>
              <a:rPr sz="1000">
                <a:solidFill>
                  <a:srgbClr val="E6ECF5"/>
                </a:solidFill>
                <a:latin typeface="IBM Plex Mono"/>
              </a:rPr>
              <a:t>    test_setup.py</a:t>
            </a:r>
          </a:p>
          <a:p>
            <a:pPr algn="l">
              <a:lnSpc>
                <a:spcPct val="100000"/>
              </a:lnSpc>
              <a:spcAft>
                <a:spcPts val="0"/>
              </a:spcAft>
            </a:pPr>
            <a:r>
              <a:rPr sz="1000">
                <a:solidFill>
                  <a:srgbClr val="E6ECF5"/>
                </a:solidFill>
                <a:latin typeface="IBM Plex Mono"/>
              </a:rPr>
              <a:t>    test_lesson01.py  check pack</a:t>
            </a:r>
          </a:p>
        </p:txBody>
      </p:sp>
      <p:sp>
        <p:nvSpPr>
          <p:cNvPr id="5" name="TextBox 4"/>
          <p:cNvSpPr txBox="1"/>
          <p:nvPr/>
        </p:nvSpPr>
        <p:spPr>
          <a:xfrm>
            <a:off x="5394960" y="914400"/>
            <a:ext cx="3291840" cy="3291840"/>
          </a:xfrm>
          <a:prstGeom prst="rect">
            <a:avLst/>
          </a:prstGeom>
          <a:noFill/>
        </p:spPr>
        <p:txBody>
          <a:bodyPr wrap="square" anchor="t" lIns="0" rIns="0" tIns="0" bIns="0">
            <a:spAutoFit/>
          </a:bodyPr>
          <a:lstStyle/>
          <a:p>
            <a:pPr algn="l">
              <a:spcAft>
                <a:spcPts val="600"/>
              </a:spcAft>
            </a:pPr>
            <a:r>
              <a:rPr sz="1400">
                <a:solidFill>
                  <a:srgbClr val="011126"/>
                </a:solidFill>
                <a:latin typeface="Zalando Sans Medium"/>
              </a:rPr>
              <a:t>core.py is the agent runtime</a:t>
            </a:r>
          </a:p>
          <a:p>
            <a:pPr algn="l">
              <a:spcAft>
                <a:spcPts val="600"/>
              </a:spcAft>
            </a:pPr>
            <a:r>
              <a:rPr sz="1100">
                <a:solidFill>
                  <a:srgbClr val="3C3C3C"/>
                </a:solidFill>
                <a:latin typeface="Zalando Sans Light"/>
              </a:rPr>
              <a:t>The data the platform sets, the shape of a model's reply and of a run, and the ReAct loop. Every later session builds on it.</a:t>
            </a:r>
          </a:p>
          <a:p>
            <a:pPr algn="l">
              <a:spcAft>
                <a:spcPts val="600"/>
              </a:spcAft>
            </a:pPr>
            <a:r>
              <a:rPr sz="1300">
                <a:solidFill>
                  <a:srgbClr val="011126"/>
                </a:solidFill>
                <a:latin typeface="Zalando Sans Medium"/>
              </a:rPr>
              <a:t>Given files</a:t>
            </a:r>
          </a:p>
          <a:p>
            <a:pPr algn="l">
              <a:spcAft>
                <a:spcPts val="600"/>
              </a:spcAft>
            </a:pPr>
            <a:r>
              <a:rPr sz="1100">
                <a:solidFill>
                  <a:srgbClr val="3C3C3C"/>
                </a:solidFill>
                <a:latin typeface="Zalando Sans Light"/>
              </a:rPr>
              <a:t>Synthetic data and a scripted mock model everyone shares, so results are comparable.</a:t>
            </a:r>
          </a:p>
          <a:p>
            <a:pPr algn="l">
              <a:spcAft>
                <a:spcPts val="600"/>
              </a:spcAft>
            </a:pPr>
            <a:r>
              <a:rPr sz="1300">
                <a:solidFill>
                  <a:srgbClr val="011126"/>
                </a:solidFill>
                <a:latin typeface="Zalando Sans Medium"/>
              </a:rPr>
              <a:t>A teaching compromise</a:t>
            </a:r>
          </a:p>
          <a:p>
            <a:pPr algn="l">
              <a:spcAft>
                <a:spcPts val="600"/>
              </a:spcAft>
            </a:pPr>
            <a:r>
              <a:rPr sz="1100">
                <a:solidFill>
                  <a:srgbClr val="3C3C3C"/>
                </a:solidFill>
                <a:latin typeface="Zalando Sans Light"/>
              </a:rPr>
              <a:t>Here the platform runs agents in its own process; in production they run in separate processes or sandboxes.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Build step 1: the run contract</a:t>
            </a:r>
          </a:p>
        </p:txBody>
      </p:sp>
      <p:sp>
        <p:nvSpPr>
          <p:cNvPr id="3" name="Rounded Rectangle 2"/>
          <p:cNvSpPr/>
          <p:nvPr/>
        </p:nvSpPr>
        <p:spPr>
          <a:xfrm>
            <a:off x="365760" y="914400"/>
            <a:ext cx="4480560" cy="2148840"/>
          </a:xfrm>
          <a:prstGeom prst="roundRect">
            <a:avLst>
              <a:gd name="adj" fmla="val 4255"/>
            </a:avLst>
          </a:prstGeom>
          <a:solidFill>
            <a:srgbClr val="01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30352" y="1042416"/>
            <a:ext cx="4206240" cy="1965960"/>
          </a:xfrm>
          <a:prstGeom prst="rect">
            <a:avLst/>
          </a:prstGeom>
          <a:noFill/>
        </p:spPr>
        <p:txBody>
          <a:bodyPr wrap="square" anchor="t" lIns="0" rIns="0" tIns="0" bIns="0">
            <a:spAutoFit/>
          </a:bodyPr>
          <a:lstStyle/>
          <a:p>
            <a:pPr algn="l">
              <a:lnSpc>
                <a:spcPct val="100000"/>
              </a:lnSpc>
              <a:spcAft>
                <a:spcPts val="0"/>
              </a:spcAft>
            </a:pPr>
            <a:r>
              <a:rPr sz="1000">
                <a:solidFill>
                  <a:srgbClr val="E6ECF5"/>
                </a:solidFill>
                <a:latin typeface="IBM Plex Mono"/>
              </a:rPr>
              <a:t>@dataclass</a:t>
            </a:r>
          </a:p>
          <a:p>
            <a:pPr algn="l">
              <a:lnSpc>
                <a:spcPct val="100000"/>
              </a:lnSpc>
              <a:spcAft>
                <a:spcPts val="0"/>
              </a:spcAft>
            </a:pPr>
            <a:r>
              <a:rPr sz="1000">
                <a:solidFill>
                  <a:srgbClr val="E6ECF5"/>
                </a:solidFill>
                <a:latin typeface="IBM Plex Mono"/>
              </a:rPr>
              <a:t>class Context:</a:t>
            </a:r>
          </a:p>
          <a:p>
            <a:pPr algn="l">
              <a:lnSpc>
                <a:spcPct val="100000"/>
              </a:lnSpc>
              <a:spcAft>
                <a:spcPts val="0"/>
              </a:spcAft>
            </a:pPr>
            <a:r>
              <a:rPr sz="1000">
                <a:solidFill>
                  <a:srgbClr val="E6ECF5"/>
                </a:solidFill>
                <a:latin typeface="IBM Plex Mono"/>
              </a:rPr>
              <a:t>    tenant: str = "astro"</a:t>
            </a:r>
          </a:p>
          <a:p>
            <a:pPr algn="l">
              <a:lnSpc>
                <a:spcPct val="100000"/>
              </a:lnSpc>
              <a:spcAft>
                <a:spcPts val="0"/>
              </a:spcAft>
            </a:pPr>
            <a:r>
              <a:rPr sz="1000">
                <a:solidFill>
                  <a:srgbClr val="E6ECF5"/>
                </a:solidFill>
                <a:latin typeface="IBM Plex Mono"/>
              </a:rPr>
              <a:t>    run_id: str = field(default_factory=...)</a:t>
            </a:r>
          </a:p>
          <a:p>
            <a:pPr algn="l">
              <a:lnSpc>
                <a:spcPct val="100000"/>
              </a:lnSpc>
              <a:spcAft>
                <a:spcPts val="0"/>
              </a:spcAft>
            </a:pPr>
            <a:r>
              <a:rPr sz="1000">
                <a:solidFill>
                  <a:srgbClr val="E6ECF5"/>
                </a:solidFill>
                <a:latin typeface="IBM Plex Mono"/>
              </a:rPr>
              <a:t>    role: str = "investigator"</a:t>
            </a:r>
          </a:p>
          <a:p>
            <a:pPr algn="l">
              <a:lnSpc>
                <a:spcPct val="100000"/>
              </a:lnSpc>
              <a:spcAft>
                <a:spcPts val="0"/>
              </a:spcAft>
            </a:pPr>
            <a:r>
              <a:rPr sz="1000">
                <a:solidFill>
                  <a:srgbClr val="E6ECF5"/>
                </a:solidFill>
                <a:latin typeface="IBM Plex Mono"/>
              </a:rPr>
              <a:t>    allowed: tuple = ("log_lookup",</a:t>
            </a:r>
          </a:p>
          <a:p>
            <a:pPr algn="l">
              <a:lnSpc>
                <a:spcPct val="100000"/>
              </a:lnSpc>
              <a:spcAft>
                <a:spcPts val="0"/>
              </a:spcAft>
            </a:pPr>
            <a:r>
              <a:rPr sz="1000">
                <a:solidFill>
                  <a:srgbClr val="E6ECF5"/>
                </a:solidFill>
                <a:latin typeface="IBM Plex Mono"/>
              </a:rPr>
              <a:t>                      "runbook_search")</a:t>
            </a:r>
          </a:p>
          <a:p>
            <a:pPr algn="l">
              <a:lnSpc>
                <a:spcPct val="100000"/>
              </a:lnSpc>
              <a:spcAft>
                <a:spcPts val="0"/>
              </a:spcAft>
            </a:pPr>
            <a:r>
              <a:rPr sz="1000">
                <a:solidFill>
                  <a:srgbClr val="E6ECF5"/>
                </a:solidFill>
                <a:latin typeface="IBM Plex Mono"/>
              </a:rPr>
              <a:t>    approved: tuple = ()</a:t>
            </a:r>
          </a:p>
          <a:p>
            <a:pPr algn="l">
              <a:lnSpc>
                <a:spcPct val="100000"/>
              </a:lnSpc>
              <a:spcAft>
                <a:spcPts val="0"/>
              </a:spcAft>
            </a:pPr>
            <a:r>
              <a:rPr sz="1000">
                <a:solidFill>
                  <a:srgbClr val="E6ECF5"/>
                </a:solidFill>
                <a:latin typeface="IBM Plex Mono"/>
              </a:rPr>
              <a:t>    parent_id: str | None = None</a:t>
            </a:r>
          </a:p>
        </p:txBody>
      </p:sp>
      <p:sp>
        <p:nvSpPr>
          <p:cNvPr id="5" name="TextBox 4"/>
          <p:cNvSpPr txBox="1"/>
          <p:nvPr/>
        </p:nvSpPr>
        <p:spPr>
          <a:xfrm>
            <a:off x="5120640" y="914400"/>
            <a:ext cx="3566160" cy="2377440"/>
          </a:xfrm>
          <a:prstGeom prst="rect">
            <a:avLst/>
          </a:prstGeom>
          <a:noFill/>
        </p:spPr>
        <p:txBody>
          <a:bodyPr wrap="square" anchor="t" lIns="0" rIns="0" tIns="0" bIns="0">
            <a:spAutoFit/>
          </a:bodyPr>
          <a:lstStyle/>
          <a:p>
            <a:pPr algn="l">
              <a:spcAft>
                <a:spcPts val="600"/>
              </a:spcAft>
            </a:pPr>
            <a:r>
              <a:rPr sz="1000">
                <a:solidFill>
                  <a:srgbClr val="0020BB"/>
                </a:solidFill>
                <a:latin typeface="IBM Plex Mono"/>
              </a:rPr>
              <a:t>tenant</a:t>
            </a:r>
            <a:r>
              <a:rPr sz="1100">
                <a:solidFill>
                  <a:srgbClr val="3C3C3C"/>
                </a:solidFill>
                <a:latin typeface="Zalando Sans Light"/>
              </a:rPr>
              <a:t>  whose data the run may see</a:t>
            </a:r>
          </a:p>
          <a:p>
            <a:pPr algn="l">
              <a:spcAft>
                <a:spcPts val="600"/>
              </a:spcAft>
            </a:pPr>
            <a:r>
              <a:rPr sz="1000">
                <a:solidFill>
                  <a:srgbClr val="0020BB"/>
                </a:solidFill>
                <a:latin typeface="IBM Plex Mono"/>
              </a:rPr>
              <a:t>run_id</a:t>
            </a:r>
            <a:r>
              <a:rPr sz="1100">
                <a:solidFill>
                  <a:srgbClr val="3C3C3C"/>
                </a:solidFill>
                <a:latin typeface="Zalando Sans Light"/>
              </a:rPr>
              <a:t>  ties events and child runs together</a:t>
            </a:r>
          </a:p>
          <a:p>
            <a:pPr algn="l">
              <a:spcAft>
                <a:spcPts val="600"/>
              </a:spcAft>
            </a:pPr>
            <a:r>
              <a:rPr sz="1000">
                <a:solidFill>
                  <a:srgbClr val="0020BB"/>
                </a:solidFill>
                <a:latin typeface="IBM Plex Mono"/>
              </a:rPr>
              <a:t>role</a:t>
            </a:r>
            <a:r>
              <a:rPr sz="1100">
                <a:solidFill>
                  <a:srgbClr val="3C3C3C"/>
                </a:solidFill>
                <a:latin typeface="Zalando Sans Light"/>
              </a:rPr>
              <a:t>  what kind of actor; later, who may write</a:t>
            </a:r>
          </a:p>
          <a:p>
            <a:pPr algn="l">
              <a:spcAft>
                <a:spcPts val="600"/>
              </a:spcAft>
            </a:pPr>
            <a:r>
              <a:rPr sz="1000">
                <a:solidFill>
                  <a:srgbClr val="0020BB"/>
                </a:solidFill>
                <a:latin typeface="IBM Plex Mono"/>
              </a:rPr>
              <a:t>allowed</a:t>
            </a:r>
            <a:r>
              <a:rPr sz="1100">
                <a:solidFill>
                  <a:srgbClr val="3C3C3C"/>
                </a:solidFill>
                <a:latin typeface="Zalando Sans Light"/>
              </a:rPr>
              <a:t>  the only tools this run may call</a:t>
            </a:r>
          </a:p>
          <a:p>
            <a:pPr algn="l">
              <a:spcAft>
                <a:spcPts val="600"/>
              </a:spcAft>
            </a:pPr>
            <a:r>
              <a:rPr sz="1000">
                <a:solidFill>
                  <a:srgbClr val="0020BB"/>
                </a:solidFill>
                <a:latin typeface="IBM Plex Mono"/>
              </a:rPr>
              <a:t>approved</a:t>
            </a:r>
            <a:r>
              <a:rPr sz="1100">
                <a:solidFill>
                  <a:srgbClr val="3C3C3C"/>
                </a:solidFill>
                <a:latin typeface="Zalando Sans Light"/>
              </a:rPr>
              <a:t>  approved actions; empty until approvals</a:t>
            </a:r>
          </a:p>
          <a:p>
            <a:pPr algn="l">
              <a:spcAft>
                <a:spcPts val="600"/>
              </a:spcAft>
            </a:pPr>
            <a:r>
              <a:rPr sz="1000">
                <a:solidFill>
                  <a:srgbClr val="0020BB"/>
                </a:solidFill>
                <a:latin typeface="IBM Plex Mono"/>
              </a:rPr>
              <a:t>parent_id</a:t>
            </a:r>
            <a:r>
              <a:rPr sz="1100">
                <a:solidFill>
                  <a:srgbClr val="3C3C3C"/>
                </a:solidFill>
                <a:latin typeface="Zalando Sans Light"/>
              </a:rPr>
              <a:t>  the delegating run; empty until subagents</a:t>
            </a:r>
          </a:p>
        </p:txBody>
      </p:sp>
      <p:sp>
        <p:nvSpPr>
          <p:cNvPr id="6" name="Rounded Rectangle 5"/>
          <p:cNvSpPr/>
          <p:nvPr/>
        </p:nvSpPr>
        <p:spPr>
          <a:xfrm>
            <a:off x="365760" y="3337560"/>
            <a:ext cx="8229600" cy="822960"/>
          </a:xfrm>
          <a:prstGeom prst="roundRect">
            <a:avLst>
              <a:gd name="adj" fmla="val 8888"/>
            </a:avLst>
          </a:prstGeom>
          <a:solidFill>
            <a:srgbClr val="F9FAFB"/>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3383280"/>
            <a:ext cx="7863840" cy="731520"/>
          </a:xfrm>
          <a:prstGeom prst="rect">
            <a:avLst/>
          </a:prstGeom>
          <a:noFill/>
        </p:spPr>
        <p:txBody>
          <a:bodyPr wrap="square" anchor="t" lIns="0" rIns="0" tIns="0" bIns="0">
            <a:spAutoFit/>
          </a:bodyPr>
          <a:lstStyle/>
          <a:p>
            <a:pPr algn="l">
              <a:spcAft>
                <a:spcPts val="400"/>
              </a:spcAft>
            </a:pPr>
            <a:r>
              <a:rPr sz="1100">
                <a:solidFill>
                  <a:srgbClr val="011126"/>
                </a:solidFill>
                <a:latin typeface="Zalando Sans Medium"/>
              </a:rPr>
              <a:t>Also in step 1: </a:t>
            </a:r>
            <a:r>
              <a:rPr sz="1000">
                <a:solidFill>
                  <a:srgbClr val="3C3C3C"/>
                </a:solidFill>
                <a:latin typeface="IBM Plex Mono"/>
              </a:rPr>
              <a:t>Limits(steps, tokens, seconds, max_output_tokens) · Reply(message, tokens, cost_usd) · Run(messages, status, steps, tokens, pending, answer, error)</a:t>
            </a:r>
          </a:p>
          <a:p>
            <a:pPr algn="l">
              <a:spcAft>
                <a:spcPts val="400"/>
              </a:spcAft>
            </a:pPr>
            <a:r>
              <a:rPr sz="1100">
                <a:solidFill>
                  <a:srgbClr val="0020BB"/>
                </a:solidFill>
                <a:latin typeface="Zalando Sans Medium"/>
              </a:rPr>
              <a:t>None of these come from the model.</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Step 3: the whole loop</a:t>
            </a:r>
          </a:p>
        </p:txBody>
      </p:sp>
      <p:sp>
        <p:nvSpPr>
          <p:cNvPr id="3" name="Rounded Rectangle 2"/>
          <p:cNvSpPr/>
          <p:nvPr/>
        </p:nvSpPr>
        <p:spPr>
          <a:xfrm>
            <a:off x="365760" y="914400"/>
            <a:ext cx="5669280" cy="3383280"/>
          </a:xfrm>
          <a:prstGeom prst="roundRect">
            <a:avLst>
              <a:gd name="adj" fmla="val 2702"/>
            </a:avLst>
          </a:prstGeom>
          <a:solidFill>
            <a:srgbClr val="01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30352" y="1042416"/>
            <a:ext cx="5394960" cy="3200400"/>
          </a:xfrm>
          <a:prstGeom prst="rect">
            <a:avLst/>
          </a:prstGeom>
          <a:noFill/>
        </p:spPr>
        <p:txBody>
          <a:bodyPr wrap="square" anchor="t" lIns="0" rIns="0" tIns="0" bIns="0">
            <a:spAutoFit/>
          </a:bodyPr>
          <a:lstStyle/>
          <a:p>
            <a:pPr algn="l">
              <a:lnSpc>
                <a:spcPct val="100000"/>
              </a:lnSpc>
              <a:spcAft>
                <a:spcPts val="0"/>
              </a:spcAft>
            </a:pPr>
            <a:r>
              <a:rPr sz="950">
                <a:solidFill>
                  <a:srgbClr val="E6ECF5"/>
                </a:solidFill>
                <a:latin typeface="IBM Plex Mono"/>
              </a:rPr>
              <a:t>① async with asyncio.timeout(limits.seconds):</a:t>
            </a:r>
          </a:p>
          <a:p>
            <a:pPr algn="l">
              <a:lnSpc>
                <a:spcPct val="100000"/>
              </a:lnSpc>
              <a:spcAft>
                <a:spcPts val="0"/>
              </a:spcAft>
            </a:pPr>
            <a:r>
              <a:rPr sz="950">
                <a:solidFill>
                  <a:srgbClr val="E6ECF5"/>
                </a:solidFill>
                <a:latin typeface="IBM Plex Mono"/>
              </a:rPr>
              <a:t>②     while run.steps &lt; limits.steps:</a:t>
            </a:r>
          </a:p>
          <a:p>
            <a:pPr algn="l">
              <a:lnSpc>
                <a:spcPct val="100000"/>
              </a:lnSpc>
              <a:spcAft>
                <a:spcPts val="0"/>
              </a:spcAft>
            </a:pPr>
            <a:r>
              <a:rPr sz="950">
                <a:solidFill>
                  <a:srgbClr val="00FFBE"/>
                </a:solidFill>
                <a:latin typeface="IBM Plex Mono"/>
              </a:rPr>
              <a:t>③         while run.pending: ...act: run the tools...</a:t>
            </a:r>
          </a:p>
          <a:p>
            <a:pPr algn="l">
              <a:lnSpc>
                <a:spcPct val="100000"/>
              </a:lnSpc>
              <a:spcAft>
                <a:spcPts val="0"/>
              </a:spcAft>
            </a:pPr>
            <a:r>
              <a:rPr sz="950">
                <a:solidFill>
                  <a:srgbClr val="E6ECF5"/>
                </a:solidFill>
                <a:latin typeface="IBM Plex Mono"/>
              </a:rPr>
              <a:t>④         if tokens + estimate + max_out &gt; limits.tokens:</a:t>
            </a:r>
          </a:p>
          <a:p>
            <a:pPr algn="l">
              <a:lnSpc>
                <a:spcPct val="100000"/>
              </a:lnSpc>
              <a:spcAft>
                <a:spcPts val="0"/>
              </a:spcAft>
            </a:pPr>
            <a:r>
              <a:rPr sz="950">
                <a:solidFill>
                  <a:srgbClr val="E6ECF5"/>
                </a:solidFill>
                <a:latin typeface="IBM Plex Mono"/>
              </a:rPr>
              <a:t>              raise ValueError("token_budget")</a:t>
            </a:r>
          </a:p>
          <a:p>
            <a:pPr algn="l">
              <a:lnSpc>
                <a:spcPct val="100000"/>
              </a:lnSpc>
              <a:spcAft>
                <a:spcPts val="0"/>
              </a:spcAft>
            </a:pPr>
            <a:r>
              <a:rPr sz="950">
                <a:solidFill>
                  <a:srgbClr val="E6ECF5"/>
                </a:solidFill>
                <a:latin typeface="IBM Plex Mono"/>
              </a:rPr>
              <a:t>⑤         reply = await provider.complete(messages, schemas, max_out)</a:t>
            </a:r>
          </a:p>
          <a:p>
            <a:pPr algn="l">
              <a:lnSpc>
                <a:spcPct val="100000"/>
              </a:lnSpc>
              <a:spcAft>
                <a:spcPts val="0"/>
              </a:spcAft>
            </a:pPr>
            <a:r>
              <a:rPr sz="950">
                <a:solidFill>
                  <a:srgbClr val="E6ECF5"/>
                </a:solidFill>
                <a:latin typeface="IBM Plex Mono"/>
              </a:rPr>
              <a:t>          run.steps += 1;  run.messages.append(reply.message)</a:t>
            </a:r>
          </a:p>
          <a:p>
            <a:pPr algn="l">
              <a:lnSpc>
                <a:spcPct val="100000"/>
              </a:lnSpc>
              <a:spcAft>
                <a:spcPts val="0"/>
              </a:spcAft>
            </a:pPr>
            <a:r>
              <a:rPr sz="950">
                <a:solidFill>
                  <a:srgbClr val="E6ECF5"/>
                </a:solidFill>
                <a:latin typeface="IBM Plex Mono"/>
              </a:rPr>
              <a:t>⑥         if reply.message.get("tool_calls"):</a:t>
            </a:r>
          </a:p>
          <a:p>
            <a:pPr algn="l">
              <a:lnSpc>
                <a:spcPct val="100000"/>
              </a:lnSpc>
              <a:spcAft>
                <a:spcPts val="0"/>
              </a:spcAft>
            </a:pPr>
            <a:r>
              <a:rPr sz="950">
                <a:solidFill>
                  <a:srgbClr val="E6ECF5"/>
                </a:solidFill>
                <a:latin typeface="IBM Plex Mono"/>
              </a:rPr>
              <a:t>              run.pending = [...];  save();  continue</a:t>
            </a:r>
          </a:p>
          <a:p>
            <a:pPr algn="l">
              <a:lnSpc>
                <a:spcPct val="100000"/>
              </a:lnSpc>
              <a:spcAft>
                <a:spcPts val="0"/>
              </a:spcAft>
            </a:pPr>
            <a:r>
              <a:rPr sz="950">
                <a:solidFill>
                  <a:srgbClr val="E6ECF5"/>
                </a:solidFill>
                <a:latin typeface="IBM Plex Mono"/>
              </a:rPr>
              <a:t>⑦         answer = json.loads(reply.message["content"])</a:t>
            </a:r>
          </a:p>
          <a:p>
            <a:pPr algn="l">
              <a:lnSpc>
                <a:spcPct val="100000"/>
              </a:lnSpc>
              <a:spcAft>
                <a:spcPts val="0"/>
              </a:spcAft>
            </a:pPr>
            <a:r>
              <a:rPr sz="950">
                <a:solidFill>
                  <a:srgbClr val="E6ECF5"/>
                </a:solidFill>
                <a:latin typeface="IBM Plex Mono"/>
              </a:rPr>
              <a:t>          ...check shape and citations...;  return run</a:t>
            </a:r>
          </a:p>
          <a:p>
            <a:pPr algn="l">
              <a:lnSpc>
                <a:spcPct val="100000"/>
              </a:lnSpc>
              <a:spcAft>
                <a:spcPts val="0"/>
              </a:spcAft>
            </a:pPr>
            <a:r>
              <a:rPr sz="950">
                <a:solidFill>
                  <a:srgbClr val="E6ECF5"/>
                </a:solidFill>
                <a:latin typeface="IBM Plex Mono"/>
              </a:rPr>
              <a:t>⑧     raise ValueError("step_budget")</a:t>
            </a:r>
          </a:p>
        </p:txBody>
      </p:sp>
      <p:sp>
        <p:nvSpPr>
          <p:cNvPr id="5" name="TextBox 4"/>
          <p:cNvSpPr txBox="1"/>
          <p:nvPr/>
        </p:nvSpPr>
        <p:spPr>
          <a:xfrm>
            <a:off x="6263640" y="914400"/>
            <a:ext cx="2423160" cy="3383280"/>
          </a:xfrm>
          <a:prstGeom prst="rect">
            <a:avLst/>
          </a:prstGeom>
          <a:noFill/>
        </p:spPr>
        <p:txBody>
          <a:bodyPr wrap="square" anchor="t" lIns="0" rIns="0" tIns="0" bIns="0">
            <a:spAutoFit/>
          </a:bodyPr>
          <a:lstStyle/>
          <a:p>
            <a:pPr algn="l">
              <a:spcAft>
                <a:spcPts val="800"/>
              </a:spcAft>
            </a:pPr>
            <a:r>
              <a:rPr sz="1100">
                <a:solidFill>
                  <a:srgbClr val="0020BB"/>
                </a:solidFill>
                <a:latin typeface="Zalando Sans Medium"/>
              </a:rPr>
              <a:t>① ② ④ ⑧</a:t>
            </a:r>
            <a:r>
              <a:rPr sz="1100">
                <a:solidFill>
                  <a:srgbClr val="3C3C3C"/>
                </a:solidFill>
                <a:latin typeface="Zalando Sans Light"/>
              </a:rPr>
              <a:t> the limits: one deadline, N turns, a token reservation</a:t>
            </a:r>
          </a:p>
          <a:p>
            <a:pPr algn="l">
              <a:spcAft>
                <a:spcPts val="800"/>
              </a:spcAft>
            </a:pPr>
            <a:r>
              <a:rPr sz="1100">
                <a:solidFill>
                  <a:srgbClr val="0020BB"/>
                </a:solidFill>
                <a:latin typeface="Zalando Sans Medium"/>
              </a:rPr>
              <a:t>⑤</a:t>
            </a:r>
            <a:r>
              <a:rPr sz="1100">
                <a:solidFill>
                  <a:srgbClr val="3C3C3C"/>
                </a:solidFill>
                <a:latin typeface="Zalando Sans Light"/>
              </a:rPr>
              <a:t> the thought: one model turn</a:t>
            </a:r>
          </a:p>
          <a:p>
            <a:pPr algn="l">
              <a:spcAft>
                <a:spcPts val="800"/>
              </a:spcAft>
            </a:pPr>
            <a:r>
              <a:rPr sz="1100">
                <a:solidFill>
                  <a:srgbClr val="0020BB"/>
                </a:solidFill>
                <a:latin typeface="Zalando Sans Medium"/>
              </a:rPr>
              <a:t>⑥ ⑦</a:t>
            </a:r>
            <a:r>
              <a:rPr sz="1100">
                <a:solidFill>
                  <a:srgbClr val="3C3C3C"/>
                </a:solidFill>
                <a:latin typeface="Zalando Sans Light"/>
              </a:rPr>
              <a:t> classify the turn: tool calls go back to ③, anything else must be the answer</a:t>
            </a:r>
          </a:p>
          <a:p>
            <a:pPr algn="l">
              <a:spcAft>
                <a:spcPts val="800"/>
              </a:spcAft>
            </a:pPr>
            <a:r>
              <a:rPr sz="1100">
                <a:solidFill>
                  <a:srgbClr val="0020BB"/>
                </a:solidFill>
                <a:latin typeface="Zalando Sans Medium"/>
              </a:rPr>
              <a:t>③</a:t>
            </a:r>
            <a:r>
              <a:rPr sz="1100">
                <a:solidFill>
                  <a:srgbClr val="3C3C3C"/>
                </a:solidFill>
                <a:latin typeface="Zalando Sans Light"/>
              </a:rPr>
              <a:t> the action and observation</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Zoom in on ③: the act step</a:t>
            </a:r>
          </a:p>
        </p:txBody>
      </p:sp>
      <p:sp>
        <p:nvSpPr>
          <p:cNvPr id="3" name="Rounded Rectangle 2"/>
          <p:cNvSpPr/>
          <p:nvPr/>
        </p:nvSpPr>
        <p:spPr>
          <a:xfrm>
            <a:off x="365760" y="914400"/>
            <a:ext cx="5120640" cy="3017520"/>
          </a:xfrm>
          <a:prstGeom prst="roundRect">
            <a:avLst>
              <a:gd name="adj" fmla="val 3030"/>
            </a:avLst>
          </a:prstGeom>
          <a:solidFill>
            <a:srgbClr val="01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30352" y="1042416"/>
            <a:ext cx="4846320" cy="2834639"/>
          </a:xfrm>
          <a:prstGeom prst="rect">
            <a:avLst/>
          </a:prstGeom>
          <a:noFill/>
        </p:spPr>
        <p:txBody>
          <a:bodyPr wrap="square" anchor="t" lIns="0" rIns="0" tIns="0" bIns="0">
            <a:spAutoFit/>
          </a:bodyPr>
          <a:lstStyle/>
          <a:p>
            <a:pPr algn="l">
              <a:lnSpc>
                <a:spcPct val="100000"/>
              </a:lnSpc>
              <a:spcAft>
                <a:spcPts val="0"/>
              </a:spcAft>
            </a:pPr>
            <a:r>
              <a:rPr sz="950">
                <a:solidFill>
                  <a:srgbClr val="E6ECF5"/>
                </a:solidFill>
                <a:latin typeface="IBM Plex Mono"/>
              </a:rPr>
              <a:t>while run.pending:</a:t>
            </a:r>
          </a:p>
          <a:p>
            <a:pPr algn="l">
              <a:lnSpc>
                <a:spcPct val="100000"/>
              </a:lnSpc>
              <a:spcAft>
                <a:spcPts val="0"/>
              </a:spcAft>
            </a:pPr>
            <a:r>
              <a:rPr sz="950">
                <a:solidFill>
                  <a:srgbClr val="E6ECF5"/>
                </a:solidFill>
                <a:latin typeface="IBM Plex Mono"/>
              </a:rPr>
              <a:t>    call = run.pending[0]</a:t>
            </a:r>
          </a:p>
          <a:p>
            <a:pPr algn="l">
              <a:lnSpc>
                <a:spcPct val="100000"/>
              </a:lnSpc>
              <a:spcAft>
                <a:spcPts val="0"/>
              </a:spcAft>
            </a:pPr>
            <a:r>
              <a:rPr sz="950">
                <a:solidFill>
                  <a:srgbClr val="E6ECF5"/>
                </a:solidFill>
                <a:latin typeface="IBM Plex Mono"/>
              </a:rPr>
              <a:t>    key = json.dumps([call["name"], call["args"]],</a:t>
            </a:r>
          </a:p>
          <a:p>
            <a:pPr algn="l">
              <a:lnSpc>
                <a:spcPct val="100000"/>
              </a:lnSpc>
              <a:spcAft>
                <a:spcPts val="0"/>
              </a:spcAft>
            </a:pPr>
            <a:r>
              <a:rPr sz="950">
                <a:solidFill>
                  <a:srgbClr val="E6ECF5"/>
                </a:solidFill>
                <a:latin typeface="IBM Plex Mono"/>
              </a:rPr>
              <a:t>                     sort_keys=True)</a:t>
            </a:r>
          </a:p>
          <a:p>
            <a:pPr algn="l">
              <a:lnSpc>
                <a:spcPct val="100000"/>
              </a:lnSpc>
              <a:spcAft>
                <a:spcPts val="0"/>
              </a:spcAft>
            </a:pPr>
            <a:r>
              <a:rPr sz="950">
                <a:solidFill>
                  <a:srgbClr val="E6ECF5"/>
                </a:solidFill>
                <a:latin typeface="IBM Plex Mono"/>
              </a:rPr>
              <a:t>    if key in seen:</a:t>
            </a:r>
          </a:p>
          <a:p>
            <a:pPr algn="l">
              <a:lnSpc>
                <a:spcPct val="100000"/>
              </a:lnSpc>
              <a:spcAft>
                <a:spcPts val="0"/>
              </a:spcAft>
            </a:pPr>
            <a:r>
              <a:rPr sz="950">
                <a:solidFill>
                  <a:srgbClr val="E6ECF5"/>
                </a:solidFill>
                <a:latin typeface="IBM Plex Mono"/>
              </a:rPr>
              <a:t>        raise ValueError("repeated_action")</a:t>
            </a:r>
          </a:p>
          <a:p>
            <a:pPr algn="l">
              <a:lnSpc>
                <a:spcPct val="100000"/>
              </a:lnSpc>
              <a:spcAft>
                <a:spcPts val="0"/>
              </a:spcAft>
            </a:pPr>
            <a:r>
              <a:rPr sz="950">
                <a:solidFill>
                  <a:srgbClr val="E6ECF5"/>
                </a:solidFill>
                <a:latin typeface="IBM Plex Mono"/>
              </a:rPr>
              <a:t>    seen.add(key)</a:t>
            </a:r>
          </a:p>
          <a:p>
            <a:pPr algn="l">
              <a:lnSpc>
                <a:spcPct val="100000"/>
              </a:lnSpc>
              <a:spcAft>
                <a:spcPts val="0"/>
              </a:spcAft>
            </a:pPr>
            <a:r>
              <a:rPr sz="950">
                <a:solidFill>
                  <a:srgbClr val="E6ECF5"/>
                </a:solidFill>
                <a:latin typeface="IBM Plex Mono"/>
              </a:rPr>
              <a:t>    result = await execute(call["name"], call["args"],</a:t>
            </a:r>
          </a:p>
          <a:p>
            <a:pPr algn="l">
              <a:lnSpc>
                <a:spcPct val="100000"/>
              </a:lnSpc>
              <a:spcAft>
                <a:spcPts val="0"/>
              </a:spcAft>
            </a:pPr>
            <a:r>
              <a:rPr sz="950">
                <a:solidFill>
                  <a:srgbClr val="E6ECF5"/>
                </a:solidFill>
                <a:latin typeface="IBM Plex Mono"/>
              </a:rPr>
              <a:t>                           run.context)</a:t>
            </a:r>
          </a:p>
          <a:p>
            <a:pPr algn="l">
              <a:lnSpc>
                <a:spcPct val="100000"/>
              </a:lnSpc>
              <a:spcAft>
                <a:spcPts val="0"/>
              </a:spcAft>
            </a:pPr>
            <a:r>
              <a:rPr sz="950">
                <a:solidFill>
                  <a:srgbClr val="E6ECF5"/>
                </a:solidFill>
                <a:latin typeface="IBM Plex Mono"/>
              </a:rPr>
              <a:t>    run.messages.append({"role": "tool",</a:t>
            </a:r>
          </a:p>
          <a:p>
            <a:pPr algn="l">
              <a:lnSpc>
                <a:spcPct val="100000"/>
              </a:lnSpc>
              <a:spcAft>
                <a:spcPts val="0"/>
              </a:spcAft>
            </a:pPr>
            <a:r>
              <a:rPr sz="950">
                <a:solidFill>
                  <a:srgbClr val="00FFBE"/>
                </a:solidFill>
                <a:latin typeface="IBM Plex Mono"/>
              </a:rPr>
              <a:t>        "tool_call_id": call["id"], "content": json.dumps(result)})</a:t>
            </a:r>
          </a:p>
          <a:p>
            <a:pPr algn="l">
              <a:lnSpc>
                <a:spcPct val="100000"/>
              </a:lnSpc>
              <a:spcAft>
                <a:spcPts val="0"/>
              </a:spcAft>
            </a:pPr>
            <a:r>
              <a:rPr sz="950">
                <a:solidFill>
                  <a:srgbClr val="00FFBE"/>
                </a:solidFill>
                <a:latin typeface="IBM Plex Mono"/>
              </a:rPr>
              <a:t>    run.pending.pop(0)</a:t>
            </a:r>
          </a:p>
          <a:p>
            <a:pPr algn="l">
              <a:lnSpc>
                <a:spcPct val="100000"/>
              </a:lnSpc>
              <a:spcAft>
                <a:spcPts val="0"/>
              </a:spcAft>
            </a:pPr>
            <a:r>
              <a:rPr sz="950">
                <a:solidFill>
                  <a:srgbClr val="E6ECF5"/>
                </a:solidFill>
                <a:latin typeface="IBM Plex Mono"/>
              </a:rPr>
              <a:t>    save()</a:t>
            </a:r>
          </a:p>
        </p:txBody>
      </p:sp>
      <p:sp>
        <p:nvSpPr>
          <p:cNvPr id="5" name="TextBox 4"/>
          <p:cNvSpPr txBox="1"/>
          <p:nvPr/>
        </p:nvSpPr>
        <p:spPr>
          <a:xfrm>
            <a:off x="5715000" y="914400"/>
            <a:ext cx="2971800" cy="3108960"/>
          </a:xfrm>
          <a:prstGeom prst="rect">
            <a:avLst/>
          </a:prstGeom>
          <a:noFill/>
        </p:spPr>
        <p:txBody>
          <a:bodyPr wrap="square" anchor="t" lIns="0" rIns="0" tIns="0" bIns="0">
            <a:spAutoFit/>
          </a:bodyPr>
          <a:lstStyle/>
          <a:p>
            <a:pPr algn="l">
              <a:spcAft>
                <a:spcPts val="300"/>
              </a:spcAft>
            </a:pPr>
            <a:r>
              <a:rPr sz="1050">
                <a:solidFill>
                  <a:srgbClr val="011126"/>
                </a:solidFill>
                <a:latin typeface="Zalando Sans Medium"/>
              </a:rPr>
              <a:t>Leave it pending</a:t>
            </a:r>
          </a:p>
          <a:p>
            <a:pPr algn="l">
              <a:spcAft>
                <a:spcPts val="300"/>
              </a:spcAft>
            </a:pPr>
            <a:r>
              <a:rPr sz="1050">
                <a:solidFill>
                  <a:srgbClr val="3C3C3C"/>
                </a:solidFill>
                <a:latin typeface="Zalando Sans Light"/>
              </a:rPr>
              <a:t>until done, so a crash shows what was unfinished.</a:t>
            </a:r>
          </a:p>
          <a:p>
            <a:pPr algn="l">
              <a:spcAft>
                <a:spcPts val="300"/>
              </a:spcAft>
            </a:pPr>
            <a:r>
              <a:rPr sz="1050">
                <a:solidFill>
                  <a:srgbClr val="011126"/>
                </a:solidFill>
                <a:latin typeface="Zalando Sans Medium"/>
              </a:rPr>
              <a:t>Refuse repeats</a:t>
            </a:r>
          </a:p>
          <a:p>
            <a:pPr algn="l">
              <a:spcAft>
                <a:spcPts val="300"/>
              </a:spcAft>
            </a:pPr>
            <a:r>
              <a:rPr sz="1050">
                <a:solidFill>
                  <a:srgbClr val="3C3C3C"/>
                </a:solidFill>
                <a:latin typeface="Zalando Sans Light"/>
              </a:rPr>
              <a:t>same tool and arguments → repeated_action, before it runs.</a:t>
            </a:r>
          </a:p>
          <a:p>
            <a:pPr algn="l">
              <a:spcAft>
                <a:spcPts val="300"/>
              </a:spcAft>
            </a:pPr>
            <a:r>
              <a:rPr sz="1050">
                <a:solidFill>
                  <a:srgbClr val="011126"/>
                </a:solidFill>
                <a:latin typeface="Zalando Sans Medium"/>
              </a:rPr>
              <a:t>Run with app context</a:t>
            </a:r>
          </a:p>
          <a:p>
            <a:pPr algn="l">
              <a:spcAft>
                <a:spcPts val="300"/>
              </a:spcAft>
            </a:pPr>
            <a:r>
              <a:rPr sz="1050">
                <a:solidFill>
                  <a:srgbClr val="3C3C3C"/>
                </a:solidFill>
                <a:latin typeface="Zalando Sans Light"/>
              </a:rPr>
              <a:t>identity and permissions come from Context, not the model.</a:t>
            </a:r>
          </a:p>
          <a:p>
            <a:pPr algn="l">
              <a:spcAft>
                <a:spcPts val="300"/>
              </a:spcAft>
            </a:pPr>
            <a:r>
              <a:rPr sz="1050">
                <a:solidFill>
                  <a:srgbClr val="011126"/>
                </a:solidFill>
                <a:latin typeface="Zalando Sans Medium"/>
              </a:rPr>
              <a:t>Tag the observation</a:t>
            </a:r>
          </a:p>
          <a:p>
            <a:pPr algn="l">
              <a:spcAft>
                <a:spcPts val="300"/>
              </a:spcAft>
            </a:pPr>
            <a:r>
              <a:rPr sz="1050">
                <a:solidFill>
                  <a:srgbClr val="3C3C3C"/>
                </a:solidFill>
                <a:latin typeface="Zalando Sans Light"/>
              </a:rPr>
              <a:t>same call ID, or the conversation is invalid.</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Zoom in on ⑦: the answer check</a:t>
            </a:r>
          </a:p>
        </p:txBody>
      </p:sp>
      <p:sp>
        <p:nvSpPr>
          <p:cNvPr id="3" name="Rounded Rectangle 2"/>
          <p:cNvSpPr/>
          <p:nvPr/>
        </p:nvSpPr>
        <p:spPr>
          <a:xfrm>
            <a:off x="365760" y="914400"/>
            <a:ext cx="5120640" cy="2743200"/>
          </a:xfrm>
          <a:prstGeom prst="roundRect">
            <a:avLst>
              <a:gd name="adj" fmla="val 3333"/>
            </a:avLst>
          </a:prstGeom>
          <a:solidFill>
            <a:srgbClr val="01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30352" y="1042416"/>
            <a:ext cx="4846320" cy="2560320"/>
          </a:xfrm>
          <a:prstGeom prst="rect">
            <a:avLst/>
          </a:prstGeom>
          <a:noFill/>
        </p:spPr>
        <p:txBody>
          <a:bodyPr wrap="square" anchor="t" lIns="0" rIns="0" tIns="0" bIns="0">
            <a:spAutoFit/>
          </a:bodyPr>
          <a:lstStyle/>
          <a:p>
            <a:pPr algn="l">
              <a:lnSpc>
                <a:spcPct val="100000"/>
              </a:lnSpc>
              <a:spcAft>
                <a:spcPts val="0"/>
              </a:spcAft>
            </a:pPr>
            <a:r>
              <a:rPr sz="950">
                <a:solidFill>
                  <a:srgbClr val="E6ECF5"/>
                </a:solidFill>
                <a:latin typeface="IBM Plex Mono"/>
              </a:rPr>
              <a:t>answer = json.loads(reply.message.get("content") or "{}")</a:t>
            </a:r>
          </a:p>
          <a:p>
            <a:pPr algn="l">
              <a:lnSpc>
                <a:spcPct val="100000"/>
              </a:lnSpc>
              <a:spcAft>
                <a:spcPts val="0"/>
              </a:spcAft>
            </a:pPr>
            <a:r>
              <a:rPr sz="950">
                <a:solidFill>
                  <a:srgbClr val="E6ECF5"/>
                </a:solidFill>
                <a:latin typeface="IBM Plex Mono"/>
              </a:rPr>
              <a:t>if not {"status", "cause", "summary",</a:t>
            </a:r>
          </a:p>
          <a:p>
            <a:pPr algn="l">
              <a:lnSpc>
                <a:spcPct val="100000"/>
              </a:lnSpc>
              <a:spcAft>
                <a:spcPts val="0"/>
              </a:spcAft>
            </a:pPr>
            <a:r>
              <a:rPr sz="950">
                <a:solidFill>
                  <a:srgbClr val="E6ECF5"/>
                </a:solidFill>
                <a:latin typeface="IBM Plex Mono"/>
              </a:rPr>
              <a:t>        "evidence"} &lt;= answer.keys():</a:t>
            </a:r>
          </a:p>
          <a:p>
            <a:pPr algn="l">
              <a:lnSpc>
                <a:spcPct val="100000"/>
              </a:lnSpc>
              <a:spcAft>
                <a:spcPts val="0"/>
              </a:spcAft>
            </a:pPr>
            <a:r>
              <a:rPr sz="950">
                <a:solidFill>
                  <a:srgbClr val="E6ECF5"/>
                </a:solidFill>
                <a:latin typeface="IBM Plex Mono"/>
              </a:rPr>
              <a:t>    raise ValueError("invalid_final_answer")</a:t>
            </a:r>
          </a:p>
          <a:p>
            <a:pPr algn="l">
              <a:lnSpc>
                <a:spcPct val="100000"/>
              </a:lnSpc>
              <a:spcAft>
                <a:spcPts val="0"/>
              </a:spcAft>
            </a:pPr>
            <a:r>
              <a:rPr sz="950">
                <a:solidFill>
                  <a:srgbClr val="00FFBE"/>
                </a:solidFill>
                <a:latin typeface="IBM Plex Mono"/>
              </a:rPr>
              <a:t>observed = " ".join(m["content"] for m in run.messages</a:t>
            </a:r>
          </a:p>
          <a:p>
            <a:pPr algn="l">
              <a:lnSpc>
                <a:spcPct val="100000"/>
              </a:lnSpc>
              <a:spcAft>
                <a:spcPts val="0"/>
              </a:spcAft>
            </a:pPr>
            <a:r>
              <a:rPr sz="950">
                <a:solidFill>
                  <a:srgbClr val="00FFBE"/>
                </a:solidFill>
                <a:latin typeface="IBM Plex Mono"/>
              </a:rPr>
              <a:t>                    if m["role"] == "tool")</a:t>
            </a:r>
          </a:p>
          <a:p>
            <a:pPr algn="l">
              <a:lnSpc>
                <a:spcPct val="100000"/>
              </a:lnSpc>
              <a:spcAft>
                <a:spcPts val="0"/>
              </a:spcAft>
            </a:pPr>
            <a:r>
              <a:rPr sz="950">
                <a:solidFill>
                  <a:srgbClr val="00FFBE"/>
                </a:solidFill>
                <a:latin typeface="IBM Plex Mono"/>
              </a:rPr>
              <a:t>if any(src not in observed for src in answer["evidence"]):</a:t>
            </a:r>
          </a:p>
          <a:p>
            <a:pPr algn="l">
              <a:lnSpc>
                <a:spcPct val="100000"/>
              </a:lnSpc>
              <a:spcAft>
                <a:spcPts val="0"/>
              </a:spcAft>
            </a:pPr>
            <a:r>
              <a:rPr sz="950">
                <a:solidFill>
                  <a:srgbClr val="00FFBE"/>
                </a:solidFill>
                <a:latin typeface="IBM Plex Mono"/>
              </a:rPr>
              <a:t>    raise ValueError("unobserved_citation")</a:t>
            </a:r>
          </a:p>
          <a:p>
            <a:pPr algn="l">
              <a:lnSpc>
                <a:spcPct val="100000"/>
              </a:lnSpc>
              <a:spcAft>
                <a:spcPts val="0"/>
              </a:spcAft>
            </a:pPr>
            <a:r>
              <a:rPr sz="950">
                <a:solidFill>
                  <a:srgbClr val="E6ECF5"/>
                </a:solidFill>
                <a:latin typeface="IBM Plex Mono"/>
              </a:rPr>
              <a:t>run.answer = answer</a:t>
            </a:r>
          </a:p>
          <a:p>
            <a:pPr algn="l">
              <a:lnSpc>
                <a:spcPct val="100000"/>
              </a:lnSpc>
              <a:spcAft>
                <a:spcPts val="0"/>
              </a:spcAft>
            </a:pPr>
            <a:r>
              <a:rPr sz="950">
                <a:solidFill>
                  <a:srgbClr val="E6ECF5"/>
                </a:solidFill>
                <a:latin typeface="IBM Plex Mono"/>
              </a:rPr>
              <a:t>run.status = "completed"</a:t>
            </a:r>
          </a:p>
        </p:txBody>
      </p:sp>
      <p:sp>
        <p:nvSpPr>
          <p:cNvPr id="5" name="TextBox 4"/>
          <p:cNvSpPr txBox="1"/>
          <p:nvPr/>
        </p:nvSpPr>
        <p:spPr>
          <a:xfrm>
            <a:off x="5715000" y="914400"/>
            <a:ext cx="2971800" cy="3108960"/>
          </a:xfrm>
          <a:prstGeom prst="rect">
            <a:avLst/>
          </a:prstGeom>
          <a:noFill/>
        </p:spPr>
        <p:txBody>
          <a:bodyPr wrap="square" anchor="t" lIns="0" rIns="0" tIns="0" bIns="0">
            <a:spAutoFit/>
          </a:bodyPr>
          <a:lstStyle/>
          <a:p>
            <a:pPr algn="l">
              <a:spcAft>
                <a:spcPts val="300"/>
              </a:spcAft>
            </a:pPr>
            <a:r>
              <a:rPr sz="1050">
                <a:solidFill>
                  <a:srgbClr val="011126"/>
                </a:solidFill>
                <a:latin typeface="Zalando Sans Medium"/>
              </a:rPr>
              <a:t>Parse</a:t>
            </a:r>
          </a:p>
          <a:p>
            <a:pPr algn="l">
              <a:spcAft>
                <a:spcPts val="300"/>
              </a:spcAft>
            </a:pPr>
            <a:r>
              <a:rPr sz="1050">
                <a:solidFill>
                  <a:srgbClr val="3C3C3C"/>
                </a:solidFill>
                <a:latin typeface="Zalando Sans Light"/>
              </a:rPr>
              <a:t>bare JSON only; anything else fails unnamed.</a:t>
            </a:r>
          </a:p>
          <a:p>
            <a:pPr algn="l">
              <a:spcAft>
                <a:spcPts val="300"/>
              </a:spcAft>
            </a:pPr>
            <a:r>
              <a:rPr sz="1050">
                <a:solidFill>
                  <a:srgbClr val="011126"/>
                </a:solidFill>
                <a:latin typeface="Zalando Sans Medium"/>
              </a:rPr>
              <a:t>Shape</a:t>
            </a:r>
          </a:p>
          <a:p>
            <a:pPr algn="l">
              <a:spcAft>
                <a:spcPts val="300"/>
              </a:spcAft>
            </a:pPr>
            <a:r>
              <a:rPr sz="1050">
                <a:solidFill>
                  <a:srgbClr val="3C3C3C"/>
                </a:solidFill>
                <a:latin typeface="Zalando Sans Light"/>
              </a:rPr>
              <a:t>four fields, or invalid_final_answer.</a:t>
            </a:r>
          </a:p>
          <a:p>
            <a:pPr algn="l">
              <a:spcAft>
                <a:spcPts val="300"/>
              </a:spcAft>
            </a:pPr>
            <a:r>
              <a:rPr sz="1050">
                <a:solidFill>
                  <a:srgbClr val="011126"/>
                </a:solidFill>
                <a:latin typeface="Zalando Sans Medium"/>
              </a:rPr>
              <a:t>Evidence</a:t>
            </a:r>
          </a:p>
          <a:p>
            <a:pPr algn="l">
              <a:spcAft>
                <a:spcPts val="300"/>
              </a:spcAft>
            </a:pPr>
            <a:r>
              <a:rPr sz="1050">
                <a:solidFill>
                  <a:srgbClr val="3C3C3C"/>
                </a:solidFill>
                <a:latin typeface="Zalando Sans Light"/>
              </a:rPr>
              <a:t>every citation observed, or unobserved_citation.</a:t>
            </a:r>
          </a:p>
          <a:p>
            <a:pPr algn="l">
              <a:spcAft>
                <a:spcPts val="300"/>
              </a:spcAft>
            </a:pPr>
            <a:r>
              <a:rPr sz="1050">
                <a:solidFill>
                  <a:srgbClr val="011126"/>
                </a:solidFill>
                <a:latin typeface="Zalando Sans Medium"/>
              </a:rPr>
              <a:t>Accept</a:t>
            </a:r>
          </a:p>
          <a:p>
            <a:pPr algn="l">
              <a:spcAft>
                <a:spcPts val="300"/>
              </a:spcAft>
            </a:pPr>
            <a:r>
              <a:rPr sz="1050">
                <a:solidFill>
                  <a:srgbClr val="3C3C3C"/>
                </a:solidFill>
                <a:latin typeface="Zalando Sans Light"/>
              </a:rPr>
              <a:t>only then: completed and saved.</a:t>
            </a:r>
          </a:p>
        </p:txBody>
      </p:sp>
      <p:sp>
        <p:nvSpPr>
          <p:cNvPr id="6" name="TextBox 5"/>
          <p:cNvSpPr txBox="1"/>
          <p:nvPr/>
        </p:nvSpPr>
        <p:spPr>
          <a:xfrm>
            <a:off x="365760" y="3886200"/>
            <a:ext cx="8229600" cy="411480"/>
          </a:xfrm>
          <a:prstGeom prst="rect">
            <a:avLst/>
          </a:prstGeom>
          <a:noFill/>
        </p:spPr>
        <p:txBody>
          <a:bodyPr wrap="square" anchor="t" lIns="0" rIns="0" tIns="0" bIns="0">
            <a:spAutoFit/>
          </a:bodyPr>
          <a:lstStyle/>
          <a:p>
            <a:pPr algn="l">
              <a:spcAft>
                <a:spcPts val="400"/>
              </a:spcAft>
            </a:pPr>
            <a:r>
              <a:rPr sz="1150">
                <a:solidFill>
                  <a:srgbClr val="011126"/>
                </a:solidFill>
                <a:latin typeface="Zalando Sans Medium"/>
              </a:rPr>
              <a:t>Ask: </a:t>
            </a:r>
            <a:r>
              <a:rPr sz="1150">
                <a:solidFill>
                  <a:srgbClr val="3C3C3C"/>
                </a:solidFill>
                <a:latin typeface="Zalando Sans Light"/>
              </a:rPr>
              <a:t>the model cites rb-rollback-v9, which no tool returned. What happens?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Steps 2 and 4: providers, guards</a:t>
            </a:r>
          </a:p>
        </p:txBody>
      </p:sp>
      <p:sp>
        <p:nvSpPr>
          <p:cNvPr id="3" name="Rounded Rectangle 2"/>
          <p:cNvSpPr/>
          <p:nvPr/>
        </p:nvSpPr>
        <p:spPr>
          <a:xfrm>
            <a:off x="365760" y="960120"/>
            <a:ext cx="4069080" cy="2834640"/>
          </a:xfrm>
          <a:prstGeom prst="roundRect">
            <a:avLst>
              <a:gd name="adj" fmla="val 2580"/>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02920" y="1069848"/>
            <a:ext cx="3794760" cy="2651760"/>
          </a:xfrm>
          <a:prstGeom prst="rect">
            <a:avLst/>
          </a:prstGeom>
          <a:noFill/>
        </p:spPr>
        <p:txBody>
          <a:bodyPr wrap="square" anchor="t" lIns="0" rIns="0" tIns="0" bIns="0">
            <a:spAutoFit/>
          </a:bodyPr>
          <a:lstStyle/>
          <a:p>
            <a:pPr algn="l">
              <a:spcAft>
                <a:spcPts val="500"/>
              </a:spcAft>
            </a:pPr>
            <a:r>
              <a:rPr sz="1300">
                <a:solidFill>
                  <a:srgbClr val="0020BB"/>
                </a:solidFill>
                <a:latin typeface="Zalando Sans Medium"/>
              </a:rPr>
              <a:t>Step 2 · providers.py</a:t>
            </a:r>
          </a:p>
          <a:p>
            <a:pPr algn="l">
              <a:spcAft>
                <a:spcPts val="500"/>
              </a:spcAft>
            </a:pPr>
            <a:r>
              <a:rPr sz="1100">
                <a:solidFill>
                  <a:srgbClr val="3C3C3C"/>
                </a:solidFill>
                <a:latin typeface="Zalando Sans Light"/>
              </a:rPr>
              <a:t>Paste the given MockProvider unchanged. Build HTTPProvider(kind, model, api_key, base_url, transport) for OpenAI-compatible and Anthropic, normalized into Reply. Check both request shapes against fake HTTP responses: no paid calls.</a:t>
            </a:r>
          </a:p>
          <a:p>
            <a:pPr algn="l">
              <a:spcAft>
                <a:spcPts val="500"/>
              </a:spcAft>
            </a:pPr>
            <a:r>
              <a:rPr sz="900">
                <a:solidFill>
                  <a:srgbClr val="143BFC"/>
                </a:solidFill>
                <a:latin typeface="IBM Plex Mono"/>
              </a:rPr>
              <a:t>MODEL_PROVIDER defaults to mock</a:t>
            </a:r>
          </a:p>
        </p:txBody>
      </p:sp>
      <p:sp>
        <p:nvSpPr>
          <p:cNvPr id="5" name="Rounded Rectangle 4"/>
          <p:cNvSpPr/>
          <p:nvPr/>
        </p:nvSpPr>
        <p:spPr>
          <a:xfrm>
            <a:off x="4617720" y="960120"/>
            <a:ext cx="4069080" cy="2834640"/>
          </a:xfrm>
          <a:prstGeom prst="roundRect">
            <a:avLst>
              <a:gd name="adj" fmla="val 2580"/>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754880" y="1069848"/>
            <a:ext cx="3794760" cy="2651760"/>
          </a:xfrm>
          <a:prstGeom prst="rect">
            <a:avLst/>
          </a:prstGeom>
          <a:noFill/>
        </p:spPr>
        <p:txBody>
          <a:bodyPr wrap="square" anchor="t" lIns="0" rIns="0" tIns="0" bIns="0">
            <a:spAutoFit/>
          </a:bodyPr>
          <a:lstStyle/>
          <a:p>
            <a:pPr algn="l">
              <a:spcAft>
                <a:spcPts val="500"/>
              </a:spcAft>
            </a:pPr>
            <a:r>
              <a:rPr sz="1300">
                <a:solidFill>
                  <a:srgbClr val="0020BB"/>
                </a:solidFill>
                <a:latin typeface="Zalando Sans Medium"/>
              </a:rPr>
              <a:t>Step 4 · the guards</a:t>
            </a:r>
          </a:p>
          <a:p>
            <a:pPr algn="l">
              <a:spcAft>
                <a:spcPts val="500"/>
              </a:spcAft>
            </a:pPr>
            <a:r>
              <a:rPr sz="1100">
                <a:solidFill>
                  <a:srgbClr val="3C3C3C"/>
                </a:solidFill>
                <a:latin typeface="Zalando Sans Light"/>
              </a:rPr>
              <a:t>Keep the step guard; add the token, time and repeated-action guards. Estimate input as serialized length ÷ 3, add the reply reservation, and refuse the call before it would exceed the budget. The deadline cancels a call in progress.</a:t>
            </a:r>
          </a:p>
          <a:p>
            <a:pPr algn="l">
              <a:spcAft>
                <a:spcPts val="500"/>
              </a:spcAft>
            </a:pPr>
            <a:r>
              <a:rPr sz="900">
                <a:solidFill>
                  <a:srgbClr val="143BFC"/>
                </a:solidFill>
                <a:latin typeface="IBM Plex Mono"/>
              </a:rPr>
              <a:t>step_budget · token_budget · TimeoutError · repeated_action</a:t>
            </a:r>
          </a:p>
        </p:txBody>
      </p:sp>
      <p:sp>
        <p:nvSpPr>
          <p:cNvPr id="7" name="TextBox 6"/>
          <p:cNvSpPr txBox="1"/>
          <p:nvPr/>
        </p:nvSpPr>
        <p:spPr>
          <a:xfrm>
            <a:off x="365760" y="3977639"/>
            <a:ext cx="8229600" cy="365760"/>
          </a:xfrm>
          <a:prstGeom prst="rect">
            <a:avLst/>
          </a:prstGeom>
          <a:noFill/>
        </p:spPr>
        <p:txBody>
          <a:bodyPr wrap="square" anchor="t" lIns="0" rIns="0" tIns="0" bIns="0">
            <a:spAutoFit/>
          </a:bodyPr>
          <a:lstStyle/>
          <a:p>
            <a:pPr algn="l">
              <a:spcAft>
                <a:spcPts val="400"/>
              </a:spcAft>
            </a:pPr>
            <a:r>
              <a:rPr sz="1150">
                <a:solidFill>
                  <a:srgbClr val="011126"/>
                </a:solidFill>
                <a:latin typeface="Zalando Sans Medium"/>
              </a:rPr>
              <a:t>Checks: </a:t>
            </a:r>
            <a:r>
              <a:rPr sz="1150">
                <a:solidFill>
                  <a:srgbClr val="3C3C3C"/>
                </a:solidFill>
                <a:latin typeface="Zalando Sans Light"/>
              </a:rPr>
              <a:t>after step 3, 5 of 7 pass; after step 4, all 7.</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Break it on purpose</a:t>
            </a:r>
          </a:p>
        </p:txBody>
      </p:sp>
      <p:sp>
        <p:nvSpPr>
          <p:cNvPr id="3" name="Rounded Rectangle 2"/>
          <p:cNvSpPr/>
          <p:nvPr/>
        </p:nvSpPr>
        <p:spPr>
          <a:xfrm>
            <a:off x="365760" y="1097280"/>
            <a:ext cx="1947672" cy="2468880"/>
          </a:xfrm>
          <a:prstGeom prst="roundRect">
            <a:avLst>
              <a:gd name="adj" fmla="val 3755"/>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457200" y="1234440"/>
            <a:ext cx="1810512" cy="2286000"/>
          </a:xfrm>
          <a:prstGeom prst="rect">
            <a:avLst/>
          </a:prstGeom>
          <a:noFill/>
        </p:spPr>
        <p:txBody>
          <a:bodyPr wrap="square" anchor="t" lIns="0" rIns="0" tIns="0" bIns="0">
            <a:spAutoFit/>
          </a:bodyPr>
          <a:lstStyle/>
          <a:p>
            <a:pPr algn="l">
              <a:spcAft>
                <a:spcPts val="400"/>
              </a:spcAft>
            </a:pPr>
            <a:r>
              <a:rPr sz="850">
                <a:solidFill>
                  <a:srgbClr val="011126"/>
                </a:solidFill>
                <a:latin typeface="IBM Plex Mono"/>
              </a:rPr>
              <a:t>Limits(steps=1)</a:t>
            </a:r>
          </a:p>
          <a:p>
            <a:pPr algn="l">
              <a:spcAft>
                <a:spcPts val="400"/>
              </a:spcAft>
            </a:pPr>
            <a:r>
              <a:rPr sz="1100">
                <a:solidFill>
                  <a:srgbClr val="3C3C3C"/>
                </a:solidFill>
                <a:latin typeface="Zalando Sans Light"/>
              </a:rPr>
              <a:t> </a:t>
            </a:r>
          </a:p>
          <a:p>
            <a:pPr algn="l">
              <a:spcAft>
                <a:spcPts val="400"/>
              </a:spcAft>
            </a:pPr>
            <a:r>
              <a:rPr sz="1200">
                <a:solidFill>
                  <a:srgbClr val="0020BB"/>
                </a:solidFill>
                <a:latin typeface="IBM Plex Mono"/>
              </a:rPr>
              <a:t>→ step_budget</a:t>
            </a:r>
          </a:p>
          <a:p>
            <a:pPr algn="l">
              <a:spcAft>
                <a:spcPts val="400"/>
              </a:spcAft>
            </a:pPr>
            <a:r>
              <a:rPr sz="1100">
                <a:solidFill>
                  <a:srgbClr val="3C3C3C"/>
                </a:solidFill>
                <a:latin typeface="Zalando Sans Light"/>
              </a:rPr>
              <a:t> </a:t>
            </a:r>
          </a:p>
          <a:p>
            <a:pPr algn="l">
              <a:spcAft>
                <a:spcPts val="400"/>
              </a:spcAft>
            </a:pPr>
            <a:r>
              <a:rPr sz="1100">
                <a:solidFill>
                  <a:srgbClr val="3C3C3C"/>
                </a:solidFill>
                <a:latin typeface="Zalando Sans Light"/>
              </a:rPr>
              <a:t>One step cannot both call a tool and answer.</a:t>
            </a:r>
          </a:p>
        </p:txBody>
      </p:sp>
      <p:sp>
        <p:nvSpPr>
          <p:cNvPr id="5" name="Rounded Rectangle 4"/>
          <p:cNvSpPr/>
          <p:nvPr/>
        </p:nvSpPr>
        <p:spPr>
          <a:xfrm>
            <a:off x="2496312" y="1097280"/>
            <a:ext cx="1947672" cy="2468880"/>
          </a:xfrm>
          <a:prstGeom prst="roundRect">
            <a:avLst>
              <a:gd name="adj" fmla="val 3755"/>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587752" y="1234440"/>
            <a:ext cx="1810512" cy="2286000"/>
          </a:xfrm>
          <a:prstGeom prst="rect">
            <a:avLst/>
          </a:prstGeom>
          <a:noFill/>
        </p:spPr>
        <p:txBody>
          <a:bodyPr wrap="square" anchor="t" lIns="0" rIns="0" tIns="0" bIns="0">
            <a:spAutoFit/>
          </a:bodyPr>
          <a:lstStyle/>
          <a:p>
            <a:pPr algn="l">
              <a:spcAft>
                <a:spcPts val="400"/>
              </a:spcAft>
            </a:pPr>
            <a:r>
              <a:rPr sz="850">
                <a:solidFill>
                  <a:srgbClr val="011126"/>
                </a:solidFill>
                <a:latin typeface="IBM Plex Mono"/>
              </a:rPr>
              <a:t>Limits(tokens=1)</a:t>
            </a:r>
          </a:p>
          <a:p>
            <a:pPr algn="l">
              <a:spcAft>
                <a:spcPts val="400"/>
              </a:spcAft>
            </a:pPr>
            <a:r>
              <a:rPr sz="1100">
                <a:solidFill>
                  <a:srgbClr val="3C3C3C"/>
                </a:solidFill>
                <a:latin typeface="Zalando Sans Light"/>
              </a:rPr>
              <a:t> </a:t>
            </a:r>
          </a:p>
          <a:p>
            <a:pPr algn="l">
              <a:spcAft>
                <a:spcPts val="400"/>
              </a:spcAft>
            </a:pPr>
            <a:r>
              <a:rPr sz="1200">
                <a:solidFill>
                  <a:srgbClr val="0020BB"/>
                </a:solidFill>
                <a:latin typeface="IBM Plex Mono"/>
              </a:rPr>
              <a:t>→ token_budget</a:t>
            </a:r>
          </a:p>
          <a:p>
            <a:pPr algn="l">
              <a:spcAft>
                <a:spcPts val="400"/>
              </a:spcAft>
            </a:pPr>
            <a:r>
              <a:rPr sz="1100">
                <a:solidFill>
                  <a:srgbClr val="3C3C3C"/>
                </a:solidFill>
                <a:latin typeface="Zalando Sans Light"/>
              </a:rPr>
              <a:t> </a:t>
            </a:r>
          </a:p>
          <a:p>
            <a:pPr algn="l">
              <a:spcAft>
                <a:spcPts val="400"/>
              </a:spcAft>
            </a:pPr>
            <a:r>
              <a:rPr sz="1100">
                <a:solidFill>
                  <a:srgbClr val="3C3C3C"/>
                </a:solidFill>
                <a:latin typeface="Zalando Sans Light"/>
              </a:rPr>
              <a:t>Refused before the first model call.</a:t>
            </a:r>
          </a:p>
        </p:txBody>
      </p:sp>
      <p:sp>
        <p:nvSpPr>
          <p:cNvPr id="7" name="Rounded Rectangle 6"/>
          <p:cNvSpPr/>
          <p:nvPr/>
        </p:nvSpPr>
        <p:spPr>
          <a:xfrm>
            <a:off x="4626864" y="1097280"/>
            <a:ext cx="1947672" cy="2468880"/>
          </a:xfrm>
          <a:prstGeom prst="roundRect">
            <a:avLst>
              <a:gd name="adj" fmla="val 3755"/>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718304" y="1234440"/>
            <a:ext cx="1810512" cy="2286000"/>
          </a:xfrm>
          <a:prstGeom prst="rect">
            <a:avLst/>
          </a:prstGeom>
          <a:noFill/>
        </p:spPr>
        <p:txBody>
          <a:bodyPr wrap="square" anchor="t" lIns="0" rIns="0" tIns="0" bIns="0">
            <a:spAutoFit/>
          </a:bodyPr>
          <a:lstStyle/>
          <a:p>
            <a:pPr algn="l">
              <a:spcAft>
                <a:spcPts val="400"/>
              </a:spcAft>
            </a:pPr>
            <a:r>
              <a:rPr sz="850">
                <a:solidFill>
                  <a:srgbClr val="011126"/>
                </a:solidFill>
                <a:latin typeface="IBM Plex Mono"/>
              </a:rPr>
              <a:t>seconds=0.001 + slow mock</a:t>
            </a:r>
          </a:p>
          <a:p>
            <a:pPr algn="l">
              <a:spcAft>
                <a:spcPts val="400"/>
              </a:spcAft>
            </a:pPr>
            <a:r>
              <a:rPr sz="1100">
                <a:solidFill>
                  <a:srgbClr val="3C3C3C"/>
                </a:solidFill>
                <a:latin typeface="Zalando Sans Light"/>
              </a:rPr>
              <a:t> </a:t>
            </a:r>
          </a:p>
          <a:p>
            <a:pPr algn="l">
              <a:spcAft>
                <a:spcPts val="400"/>
              </a:spcAft>
            </a:pPr>
            <a:r>
              <a:rPr sz="1200">
                <a:solidFill>
                  <a:srgbClr val="0020BB"/>
                </a:solidFill>
                <a:latin typeface="IBM Plex Mono"/>
              </a:rPr>
              <a:t>→ TimeoutError</a:t>
            </a:r>
          </a:p>
          <a:p>
            <a:pPr algn="l">
              <a:spcAft>
                <a:spcPts val="400"/>
              </a:spcAft>
            </a:pPr>
            <a:r>
              <a:rPr sz="1100">
                <a:solidFill>
                  <a:srgbClr val="3C3C3C"/>
                </a:solidFill>
                <a:latin typeface="Zalando Sans Light"/>
              </a:rPr>
              <a:t> </a:t>
            </a:r>
          </a:p>
          <a:p>
            <a:pPr algn="l">
              <a:spcAft>
                <a:spcPts val="400"/>
              </a:spcAft>
            </a:pPr>
            <a:r>
              <a:rPr sz="1100">
                <a:solidFill>
                  <a:srgbClr val="3C3C3C"/>
                </a:solidFill>
                <a:latin typeface="Zalando Sans Light"/>
              </a:rPr>
              <a:t>The whole run has one deadline.</a:t>
            </a:r>
          </a:p>
        </p:txBody>
      </p:sp>
      <p:sp>
        <p:nvSpPr>
          <p:cNvPr id="9" name="Rounded Rectangle 8"/>
          <p:cNvSpPr/>
          <p:nvPr/>
        </p:nvSpPr>
        <p:spPr>
          <a:xfrm>
            <a:off x="6757416" y="1097280"/>
            <a:ext cx="1947672" cy="2468880"/>
          </a:xfrm>
          <a:prstGeom prst="roundRect">
            <a:avLst>
              <a:gd name="adj" fmla="val 3755"/>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48856" y="1234440"/>
            <a:ext cx="1810512" cy="2286000"/>
          </a:xfrm>
          <a:prstGeom prst="rect">
            <a:avLst/>
          </a:prstGeom>
          <a:noFill/>
        </p:spPr>
        <p:txBody>
          <a:bodyPr wrap="square" anchor="t" lIns="0" rIns="0" tIns="0" bIns="0">
            <a:spAutoFit/>
          </a:bodyPr>
          <a:lstStyle/>
          <a:p>
            <a:pPr algn="l">
              <a:spcAft>
                <a:spcPts val="400"/>
              </a:spcAft>
            </a:pPr>
            <a:r>
              <a:rPr sz="850">
                <a:solidFill>
                  <a:srgbClr val="011126"/>
                </a:solidFill>
                <a:latin typeface="IBM Plex Mono"/>
              </a:rPr>
              <a:t>MockProvider(repeat=True)</a:t>
            </a:r>
          </a:p>
          <a:p>
            <a:pPr algn="l">
              <a:spcAft>
                <a:spcPts val="400"/>
              </a:spcAft>
            </a:pPr>
            <a:r>
              <a:rPr sz="1100">
                <a:solidFill>
                  <a:srgbClr val="3C3C3C"/>
                </a:solidFill>
                <a:latin typeface="Zalando Sans Light"/>
              </a:rPr>
              <a:t> </a:t>
            </a:r>
          </a:p>
          <a:p>
            <a:pPr algn="l">
              <a:spcAft>
                <a:spcPts val="400"/>
              </a:spcAft>
            </a:pPr>
            <a:r>
              <a:rPr sz="1200">
                <a:solidFill>
                  <a:srgbClr val="0020BB"/>
                </a:solidFill>
                <a:latin typeface="IBM Plex Mono"/>
              </a:rPr>
              <a:t>→ repeated_action</a:t>
            </a:r>
          </a:p>
          <a:p>
            <a:pPr algn="l">
              <a:spcAft>
                <a:spcPts val="400"/>
              </a:spcAft>
            </a:pPr>
            <a:r>
              <a:rPr sz="1100">
                <a:solidFill>
                  <a:srgbClr val="3C3C3C"/>
                </a:solidFill>
                <a:latin typeface="Zalando Sans Light"/>
              </a:rPr>
              <a:t> </a:t>
            </a:r>
          </a:p>
          <a:p>
            <a:pPr algn="l">
              <a:spcAft>
                <a:spcPts val="400"/>
              </a:spcAft>
            </a:pPr>
            <a:r>
              <a:rPr sz="1100">
                <a:solidFill>
                  <a:srgbClr val="3C3C3C"/>
                </a:solidFill>
                <a:latin typeface="Zalando Sans Light"/>
              </a:rPr>
              <a:t>Same tool, same arguments, twice.</a:t>
            </a:r>
          </a:p>
        </p:txBody>
      </p:sp>
      <p:sp>
        <p:nvSpPr>
          <p:cNvPr id="11" name="TextBox 10"/>
          <p:cNvSpPr txBox="1"/>
          <p:nvPr/>
        </p:nvSpPr>
        <p:spPr>
          <a:xfrm>
            <a:off x="365760" y="3794760"/>
            <a:ext cx="8229600" cy="411480"/>
          </a:xfrm>
          <a:prstGeom prst="rect">
            <a:avLst/>
          </a:prstGeom>
          <a:noFill/>
        </p:spPr>
        <p:txBody>
          <a:bodyPr wrap="square" anchor="t" lIns="0" rIns="0" tIns="0" bIns="0">
            <a:spAutoFit/>
          </a:bodyPr>
          <a:lstStyle/>
          <a:p>
            <a:pPr algn="l">
              <a:spcAft>
                <a:spcPts val="400"/>
              </a:spcAft>
            </a:pPr>
            <a:r>
              <a:rPr sz="1150">
                <a:solidFill>
                  <a:srgbClr val="6B7280"/>
                </a:solidFill>
                <a:latin typeface="Zalando Sans Light"/>
              </a:rPr>
              <a:t>Predict, run, compare. Then restore the normal limits and confirm the cited answer comes back.</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Evidence, not claims</a:t>
            </a:r>
          </a:p>
        </p:txBody>
      </p:sp>
      <p:sp>
        <p:nvSpPr>
          <p:cNvPr id="3" name="Rounded Rectangle 2"/>
          <p:cNvSpPr/>
          <p:nvPr/>
        </p:nvSpPr>
        <p:spPr>
          <a:xfrm>
            <a:off x="365760" y="960120"/>
            <a:ext cx="3291840" cy="3200400"/>
          </a:xfrm>
          <a:prstGeom prst="roundRect">
            <a:avLst>
              <a:gd name="adj" fmla="val 2285"/>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1097280"/>
            <a:ext cx="3017520" cy="1280160"/>
          </a:xfrm>
          <a:prstGeom prst="rect">
            <a:avLst/>
          </a:prstGeom>
          <a:noFill/>
        </p:spPr>
        <p:txBody>
          <a:bodyPr wrap="square" anchor="t" lIns="0" rIns="0" tIns="0" bIns="0">
            <a:spAutoFit/>
          </a:bodyPr>
          <a:lstStyle/>
          <a:p>
            <a:pPr algn="l">
              <a:spcAft>
                <a:spcPts val="400"/>
              </a:spcAft>
            </a:pPr>
            <a:r>
              <a:rPr sz="5000">
                <a:solidFill>
                  <a:srgbClr val="0020BB"/>
                </a:solidFill>
                <a:latin typeface="Zalando Sans ExtraLight"/>
              </a:rPr>
              <a:t>7 passed</a:t>
            </a:r>
          </a:p>
        </p:txBody>
      </p:sp>
      <p:sp>
        <p:nvSpPr>
          <p:cNvPr id="5" name="TextBox 4"/>
          <p:cNvSpPr txBox="1"/>
          <p:nvPr/>
        </p:nvSpPr>
        <p:spPr>
          <a:xfrm>
            <a:off x="548640" y="2240280"/>
            <a:ext cx="2971800" cy="1828800"/>
          </a:xfrm>
          <a:prstGeom prst="rect">
            <a:avLst/>
          </a:prstGeom>
          <a:noFill/>
        </p:spPr>
        <p:txBody>
          <a:bodyPr wrap="square" anchor="t" lIns="0" rIns="0" tIns="0" bIns="0">
            <a:spAutoFit/>
          </a:bodyPr>
          <a:lstStyle/>
          <a:p>
            <a:pPr algn="l">
              <a:spcAft>
                <a:spcPts val="600"/>
              </a:spcAft>
            </a:pPr>
            <a:r>
              <a:rPr sz="1200">
                <a:solidFill>
                  <a:srgbClr val="011126"/>
                </a:solidFill>
                <a:latin typeface="Zalando Sans Medium"/>
              </a:rPr>
              <a:t>LESSON = 1 · pushed to GitLab</a:t>
            </a:r>
          </a:p>
          <a:p>
            <a:pPr algn="l">
              <a:spcAft>
                <a:spcPts val="600"/>
              </a:spcAft>
            </a:pPr>
            <a:r>
              <a:rPr sz="1100">
                <a:solidFill>
                  <a:srgbClr val="3C3C3C"/>
                </a:solidFill>
                <a:latin typeface="Zalando Sans Light"/>
              </a:rPr>
              <a:t>The cited happy path, the three limits and both provider request shapes, offline.</a:t>
            </a:r>
          </a:p>
          <a:p>
            <a:pPr algn="l">
              <a:spcAft>
                <a:spcPts val="600"/>
              </a:spcAft>
            </a:pPr>
            <a:r>
              <a:rPr sz="1100">
                <a:solidFill>
                  <a:srgbClr val="6B7280"/>
                </a:solidFill>
                <a:latin typeface="Zalando Sans Light"/>
              </a:rPr>
              <a:t>Unrun or skipped checks are not passes.</a:t>
            </a:r>
          </a:p>
        </p:txBody>
      </p:sp>
      <p:sp>
        <p:nvSpPr>
          <p:cNvPr id="6" name="Rounded Rectangle 5"/>
          <p:cNvSpPr/>
          <p:nvPr/>
        </p:nvSpPr>
        <p:spPr>
          <a:xfrm>
            <a:off x="3931920" y="960120"/>
            <a:ext cx="4754880" cy="3200400"/>
          </a:xfrm>
          <a:prstGeom prst="roundRect">
            <a:avLst>
              <a:gd name="adj" fmla="val 2857"/>
            </a:avLst>
          </a:prstGeom>
          <a:solidFill>
            <a:srgbClr val="01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096511" y="1088136"/>
            <a:ext cx="4480560" cy="3017520"/>
          </a:xfrm>
          <a:prstGeom prst="rect">
            <a:avLst/>
          </a:prstGeom>
          <a:noFill/>
        </p:spPr>
        <p:txBody>
          <a:bodyPr wrap="square" anchor="t" lIns="0" rIns="0" tIns="0" bIns="0">
            <a:spAutoFit/>
          </a:bodyPr>
          <a:lstStyle/>
          <a:p>
            <a:pPr algn="l">
              <a:lnSpc>
                <a:spcPct val="100000"/>
              </a:lnSpc>
              <a:spcAft>
                <a:spcPts val="0"/>
              </a:spcAft>
            </a:pPr>
            <a:r>
              <a:rPr sz="1000">
                <a:solidFill>
                  <a:srgbClr val="E6ECF5"/>
                </a:solidFill>
                <a:latin typeface="IBM Plex Mono"/>
              </a:rPr>
              <a:t>{</a:t>
            </a:r>
          </a:p>
          <a:p>
            <a:pPr algn="l">
              <a:lnSpc>
                <a:spcPct val="100000"/>
              </a:lnSpc>
              <a:spcAft>
                <a:spcPts val="0"/>
              </a:spcAft>
            </a:pPr>
            <a:r>
              <a:rPr sz="1000">
                <a:solidFill>
                  <a:srgbClr val="E6ECF5"/>
                </a:solidFill>
                <a:latin typeface="IBM Plex Mono"/>
              </a:rPr>
              <a:t>  "capability": "bounded ReAct loop",</a:t>
            </a:r>
          </a:p>
          <a:p>
            <a:pPr algn="l">
              <a:lnSpc>
                <a:spcPct val="100000"/>
              </a:lnSpc>
              <a:spcAft>
                <a:spcPts val="0"/>
              </a:spcAft>
            </a:pPr>
            <a:r>
              <a:rPr sz="1000">
                <a:solidFill>
                  <a:srgbClr val="E6ECF5"/>
                </a:solidFill>
                <a:latin typeface="IBM Plex Mono"/>
              </a:rPr>
              <a:t>  "answer": {</a:t>
            </a:r>
          </a:p>
          <a:p>
            <a:pPr algn="l">
              <a:lnSpc>
                <a:spcPct val="100000"/>
              </a:lnSpc>
              <a:spcAft>
                <a:spcPts val="0"/>
              </a:spcAft>
            </a:pPr>
            <a:r>
              <a:rPr sz="1000">
                <a:solidFill>
                  <a:srgbClr val="E6ECF5"/>
                </a:solidFill>
                <a:latin typeface="IBM Plex Mono"/>
              </a:rPr>
              <a:t>    "status": "complete",</a:t>
            </a:r>
          </a:p>
          <a:p>
            <a:pPr algn="l">
              <a:lnSpc>
                <a:spcPct val="100000"/>
              </a:lnSpc>
              <a:spcAft>
                <a:spcPts val="0"/>
              </a:spcAft>
            </a:pPr>
            <a:r>
              <a:rPr sz="1000">
                <a:solidFill>
                  <a:srgbClr val="00FFBE"/>
                </a:solidFill>
                <a:latin typeface="IBM Plex Mono"/>
              </a:rPr>
              <a:t>    "cause": "connection_pool_exhaustion",</a:t>
            </a:r>
          </a:p>
          <a:p>
            <a:pPr algn="l">
              <a:lnSpc>
                <a:spcPct val="100000"/>
              </a:lnSpc>
              <a:spcAft>
                <a:spcPts val="0"/>
              </a:spcAft>
            </a:pPr>
            <a:r>
              <a:rPr sz="1000">
                <a:solidFill>
                  <a:srgbClr val="E6ECF5"/>
                </a:solidFill>
                <a:latin typeface="IBM Plex Mono"/>
              </a:rPr>
              <a:t>    "summary": "INC-001: connection_pool_exhaustion",</a:t>
            </a:r>
          </a:p>
          <a:p>
            <a:pPr algn="l">
              <a:lnSpc>
                <a:spcPct val="100000"/>
              </a:lnSpc>
              <a:spcAft>
                <a:spcPts val="0"/>
              </a:spcAft>
            </a:pPr>
            <a:r>
              <a:rPr sz="1000">
                <a:solidFill>
                  <a:srgbClr val="00FFBE"/>
                </a:solidFill>
                <a:latin typeface="IBM Plex Mono"/>
              </a:rPr>
              <a:t>    "evidence": ["log-astro-001", "rb-pool-v1"]</a:t>
            </a:r>
          </a:p>
          <a:p>
            <a:pPr algn="l">
              <a:lnSpc>
                <a:spcPct val="100000"/>
              </a:lnSpc>
              <a:spcAft>
                <a:spcPts val="0"/>
              </a:spcAft>
            </a:pPr>
            <a:r>
              <a:rPr sz="1000">
                <a:solidFill>
                  <a:srgbClr val="E6ECF5"/>
                </a:solidFill>
                <a:latin typeface="IBM Plex Mono"/>
              </a:rPr>
              <a:t>  },</a:t>
            </a:r>
          </a:p>
          <a:p>
            <a:pPr algn="l">
              <a:lnSpc>
                <a:spcPct val="100000"/>
              </a:lnSpc>
              <a:spcAft>
                <a:spcPts val="0"/>
              </a:spcAft>
            </a:pPr>
            <a:r>
              <a:rPr sz="1000">
                <a:solidFill>
                  <a:srgbClr val="E6ECF5"/>
                </a:solidFill>
                <a:latin typeface="IBM Plex Mono"/>
              </a:rPr>
              <a:t>  "model_steps": 3,</a:t>
            </a:r>
          </a:p>
          <a:p>
            <a:pPr algn="l">
              <a:lnSpc>
                <a:spcPct val="100000"/>
              </a:lnSpc>
              <a:spcAft>
                <a:spcPts val="0"/>
              </a:spcAft>
            </a:pPr>
            <a:r>
              <a:rPr sz="1000">
                <a:solidFill>
                  <a:srgbClr val="E6ECF5"/>
                </a:solidFill>
                <a:latin typeface="IBM Plex Mono"/>
              </a:rPr>
              <a:t>  "repeated_action": "repeated_action"</a:t>
            </a:r>
          </a:p>
          <a:p>
            <a:pPr algn="l">
              <a:lnSpc>
                <a:spcPct val="100000"/>
              </a:lnSpc>
              <a:spcAft>
                <a:spcPts val="0"/>
              </a:spcAft>
            </a:pPr>
            <a:r>
              <a:rPr sz="1000">
                <a:solidFill>
                  <a:srgbClr val="E6ECF5"/>
                </a:solidFill>
                <a:latin typeface="IBM Plex Mono"/>
              </a:rPr>
              <a: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You own the loop</a:t>
            </a:r>
          </a:p>
        </p:txBody>
      </p:sp>
      <p:sp>
        <p:nvSpPr>
          <p:cNvPr id="3" name="Rounded Rectangle 2"/>
          <p:cNvSpPr/>
          <p:nvPr/>
        </p:nvSpPr>
        <p:spPr>
          <a:xfrm>
            <a:off x="365760" y="960120"/>
            <a:ext cx="4069080" cy="1417320"/>
          </a:xfrm>
          <a:prstGeom prst="roundRect">
            <a:avLst>
              <a:gd name="adj" fmla="val 5161"/>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1069848"/>
            <a:ext cx="731520" cy="548640"/>
          </a:xfrm>
          <a:prstGeom prst="rect">
            <a:avLst/>
          </a:prstGeom>
          <a:noFill/>
        </p:spPr>
        <p:txBody>
          <a:bodyPr wrap="square" anchor="t" lIns="0" rIns="0" tIns="0" bIns="0">
            <a:spAutoFit/>
          </a:bodyPr>
          <a:lstStyle/>
          <a:p>
            <a:pPr algn="l">
              <a:spcAft>
                <a:spcPts val="400"/>
              </a:spcAft>
            </a:pPr>
            <a:r>
              <a:rPr sz="2600">
                <a:solidFill>
                  <a:srgbClr val="0020BB"/>
                </a:solidFill>
                <a:latin typeface="Zalando Sans ExtraLight"/>
              </a:rPr>
              <a:t>01</a:t>
            </a:r>
          </a:p>
        </p:txBody>
      </p:sp>
      <p:sp>
        <p:nvSpPr>
          <p:cNvPr id="5" name="TextBox 4"/>
          <p:cNvSpPr txBox="1"/>
          <p:nvPr/>
        </p:nvSpPr>
        <p:spPr>
          <a:xfrm>
            <a:off x="1280160" y="1143000"/>
            <a:ext cx="3017520" cy="1188720"/>
          </a:xfrm>
          <a:prstGeom prst="rect">
            <a:avLst/>
          </a:prstGeom>
          <a:noFill/>
        </p:spPr>
        <p:txBody>
          <a:bodyPr wrap="square" anchor="t" lIns="0" rIns="0" tIns="0" bIns="0">
            <a:spAutoFit/>
          </a:bodyPr>
          <a:lstStyle/>
          <a:p>
            <a:pPr algn="l">
              <a:spcAft>
                <a:spcPts val="400"/>
              </a:spcAft>
            </a:pPr>
            <a:r>
              <a:rPr sz="1400">
                <a:solidFill>
                  <a:srgbClr val="011126"/>
                </a:solidFill>
                <a:latin typeface="Zalando Sans Medium"/>
              </a:rPr>
              <a:t>An agent is a loop</a:t>
            </a:r>
          </a:p>
          <a:p>
            <a:pPr algn="l">
              <a:spcAft>
                <a:spcPts val="400"/>
              </a:spcAft>
            </a:pPr>
            <a:r>
              <a:rPr sz="1150">
                <a:solidFill>
                  <a:srgbClr val="3C3C3C"/>
                </a:solidFill>
                <a:latin typeface="Zalando Sans Light"/>
              </a:rPr>
              <a:t>the model proposes, the runtime decides and executes, the tool observes.</a:t>
            </a:r>
          </a:p>
        </p:txBody>
      </p:sp>
      <p:sp>
        <p:nvSpPr>
          <p:cNvPr id="6" name="Rounded Rectangle 5"/>
          <p:cNvSpPr/>
          <p:nvPr/>
        </p:nvSpPr>
        <p:spPr>
          <a:xfrm>
            <a:off x="4617720" y="960120"/>
            <a:ext cx="4069080" cy="1417320"/>
          </a:xfrm>
          <a:prstGeom prst="roundRect">
            <a:avLst>
              <a:gd name="adj" fmla="val 5161"/>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800600" y="1069848"/>
            <a:ext cx="731520" cy="548640"/>
          </a:xfrm>
          <a:prstGeom prst="rect">
            <a:avLst/>
          </a:prstGeom>
          <a:noFill/>
        </p:spPr>
        <p:txBody>
          <a:bodyPr wrap="square" anchor="t" lIns="0" rIns="0" tIns="0" bIns="0">
            <a:spAutoFit/>
          </a:bodyPr>
          <a:lstStyle/>
          <a:p>
            <a:pPr algn="l">
              <a:spcAft>
                <a:spcPts val="400"/>
              </a:spcAft>
            </a:pPr>
            <a:r>
              <a:rPr sz="2600">
                <a:solidFill>
                  <a:srgbClr val="0020BB"/>
                </a:solidFill>
                <a:latin typeface="Zalando Sans ExtraLight"/>
              </a:rPr>
              <a:t>02</a:t>
            </a:r>
          </a:p>
        </p:txBody>
      </p:sp>
      <p:sp>
        <p:nvSpPr>
          <p:cNvPr id="8" name="TextBox 7"/>
          <p:cNvSpPr txBox="1"/>
          <p:nvPr/>
        </p:nvSpPr>
        <p:spPr>
          <a:xfrm>
            <a:off x="5532120" y="1143000"/>
            <a:ext cx="3017520" cy="1188720"/>
          </a:xfrm>
          <a:prstGeom prst="rect">
            <a:avLst/>
          </a:prstGeom>
          <a:noFill/>
        </p:spPr>
        <p:txBody>
          <a:bodyPr wrap="square" anchor="t" lIns="0" rIns="0" tIns="0" bIns="0">
            <a:spAutoFit/>
          </a:bodyPr>
          <a:lstStyle/>
          <a:p>
            <a:pPr algn="l">
              <a:spcAft>
                <a:spcPts val="400"/>
              </a:spcAft>
            </a:pPr>
            <a:r>
              <a:rPr sz="1400">
                <a:solidFill>
                  <a:srgbClr val="011126"/>
                </a:solidFill>
                <a:latin typeface="Zalando Sans Medium"/>
              </a:rPr>
              <a:t>Authority is code</a:t>
            </a:r>
          </a:p>
          <a:p>
            <a:pPr algn="l">
              <a:spcAft>
                <a:spcPts val="400"/>
              </a:spcAft>
            </a:pPr>
            <a:r>
              <a:rPr sz="1150">
                <a:solidFill>
                  <a:srgbClr val="3C3C3C"/>
                </a:solidFill>
                <a:latin typeface="Zalando Sans Light"/>
              </a:rPr>
              <a:t>tenant, role and permitted tools are set by the platform, never by model output.</a:t>
            </a:r>
          </a:p>
        </p:txBody>
      </p:sp>
      <p:sp>
        <p:nvSpPr>
          <p:cNvPr id="9" name="Rounded Rectangle 8"/>
          <p:cNvSpPr/>
          <p:nvPr/>
        </p:nvSpPr>
        <p:spPr>
          <a:xfrm>
            <a:off x="365760" y="2560320"/>
            <a:ext cx="4069080" cy="1417320"/>
          </a:xfrm>
          <a:prstGeom prst="roundRect">
            <a:avLst>
              <a:gd name="adj" fmla="val 5161"/>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48640" y="2670048"/>
            <a:ext cx="731520" cy="548640"/>
          </a:xfrm>
          <a:prstGeom prst="rect">
            <a:avLst/>
          </a:prstGeom>
          <a:noFill/>
        </p:spPr>
        <p:txBody>
          <a:bodyPr wrap="square" anchor="t" lIns="0" rIns="0" tIns="0" bIns="0">
            <a:spAutoFit/>
          </a:bodyPr>
          <a:lstStyle/>
          <a:p>
            <a:pPr algn="l">
              <a:spcAft>
                <a:spcPts val="400"/>
              </a:spcAft>
            </a:pPr>
            <a:r>
              <a:rPr sz="2600">
                <a:solidFill>
                  <a:srgbClr val="0020BB"/>
                </a:solidFill>
                <a:latin typeface="Zalando Sans ExtraLight"/>
              </a:rPr>
              <a:t>03</a:t>
            </a:r>
          </a:p>
        </p:txBody>
      </p:sp>
      <p:sp>
        <p:nvSpPr>
          <p:cNvPr id="11" name="TextBox 10"/>
          <p:cNvSpPr txBox="1"/>
          <p:nvPr/>
        </p:nvSpPr>
        <p:spPr>
          <a:xfrm>
            <a:off x="1280160" y="2743200"/>
            <a:ext cx="3017520" cy="1188720"/>
          </a:xfrm>
          <a:prstGeom prst="rect">
            <a:avLst/>
          </a:prstGeom>
          <a:noFill/>
        </p:spPr>
        <p:txBody>
          <a:bodyPr wrap="square" anchor="t" lIns="0" rIns="0" tIns="0" bIns="0">
            <a:spAutoFit/>
          </a:bodyPr>
          <a:lstStyle/>
          <a:p>
            <a:pPr algn="l">
              <a:spcAft>
                <a:spcPts val="400"/>
              </a:spcAft>
            </a:pPr>
            <a:r>
              <a:rPr sz="1400">
                <a:solidFill>
                  <a:srgbClr val="011126"/>
                </a:solidFill>
                <a:latin typeface="Zalando Sans Medium"/>
              </a:rPr>
              <a:t>Every run is bounded</a:t>
            </a:r>
          </a:p>
          <a:p>
            <a:pPr algn="l">
              <a:spcAft>
                <a:spcPts val="400"/>
              </a:spcAft>
            </a:pPr>
            <a:r>
              <a:rPr sz="1150">
                <a:solidFill>
                  <a:srgbClr val="3C3C3C"/>
                </a:solidFill>
                <a:latin typeface="Zalando Sans Light"/>
              </a:rPr>
              <a:t>and every stop has a name and a reason.</a:t>
            </a:r>
          </a:p>
        </p:txBody>
      </p:sp>
      <p:sp>
        <p:nvSpPr>
          <p:cNvPr id="12" name="Rounded Rectangle 11"/>
          <p:cNvSpPr/>
          <p:nvPr/>
        </p:nvSpPr>
        <p:spPr>
          <a:xfrm>
            <a:off x="4617720" y="2560320"/>
            <a:ext cx="4069080" cy="1417320"/>
          </a:xfrm>
          <a:prstGeom prst="roundRect">
            <a:avLst>
              <a:gd name="adj" fmla="val 5161"/>
            </a:avLst>
          </a:prstGeom>
          <a:solidFill>
            <a:srgbClr val="FFFFFF"/>
          </a:solidFill>
          <a:ln w="9525">
            <a:solidFill>
              <a:srgbClr val="D5DA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800600" y="2670048"/>
            <a:ext cx="731520" cy="548640"/>
          </a:xfrm>
          <a:prstGeom prst="rect">
            <a:avLst/>
          </a:prstGeom>
          <a:noFill/>
        </p:spPr>
        <p:txBody>
          <a:bodyPr wrap="square" anchor="t" lIns="0" rIns="0" tIns="0" bIns="0">
            <a:spAutoFit/>
          </a:bodyPr>
          <a:lstStyle/>
          <a:p>
            <a:pPr algn="l">
              <a:spcAft>
                <a:spcPts val="400"/>
              </a:spcAft>
            </a:pPr>
            <a:r>
              <a:rPr sz="2600">
                <a:solidFill>
                  <a:srgbClr val="0020BB"/>
                </a:solidFill>
                <a:latin typeface="Zalando Sans ExtraLight"/>
              </a:rPr>
              <a:t>04</a:t>
            </a:r>
          </a:p>
        </p:txBody>
      </p:sp>
      <p:sp>
        <p:nvSpPr>
          <p:cNvPr id="14" name="TextBox 13"/>
          <p:cNvSpPr txBox="1"/>
          <p:nvPr/>
        </p:nvSpPr>
        <p:spPr>
          <a:xfrm>
            <a:off x="5532120" y="2743200"/>
            <a:ext cx="3017520" cy="1188720"/>
          </a:xfrm>
          <a:prstGeom prst="rect">
            <a:avLst/>
          </a:prstGeom>
          <a:noFill/>
        </p:spPr>
        <p:txBody>
          <a:bodyPr wrap="square" anchor="t" lIns="0" rIns="0" tIns="0" bIns="0">
            <a:spAutoFit/>
          </a:bodyPr>
          <a:lstStyle/>
          <a:p>
            <a:pPr algn="l">
              <a:spcAft>
                <a:spcPts val="400"/>
              </a:spcAft>
            </a:pPr>
            <a:r>
              <a:rPr sz="1400">
                <a:solidFill>
                  <a:srgbClr val="011126"/>
                </a:solidFill>
                <a:latin typeface="Zalando Sans Medium"/>
              </a:rPr>
              <a:t>Completed is not solved</a:t>
            </a:r>
          </a:p>
          <a:p>
            <a:pPr algn="l">
              <a:spcAft>
                <a:spcPts val="400"/>
              </a:spcAft>
            </a:pPr>
            <a:r>
              <a:rPr sz="1150">
                <a:solidFill>
                  <a:srgbClr val="3C3C3C"/>
                </a:solidFill>
                <a:latin typeface="Zalando Sans Light"/>
              </a:rPr>
              <a:t>look for cited evidence or an honest "insufficient evidence".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After class, and next session</a:t>
            </a:r>
          </a:p>
        </p:txBody>
      </p:sp>
      <p:sp>
        <p:nvSpPr>
          <p:cNvPr id="3" name="Oval 2"/>
          <p:cNvSpPr/>
          <p:nvPr/>
        </p:nvSpPr>
        <p:spPr>
          <a:xfrm>
            <a:off x="365760" y="960120"/>
            <a:ext cx="411480" cy="411480"/>
          </a:xfrm>
          <a:prstGeom prst="ellipse">
            <a:avLst/>
          </a:prstGeom>
          <a:solidFill>
            <a:srgbClr val="002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365760" y="960120"/>
            <a:ext cx="411480" cy="411480"/>
          </a:xfrm>
          <a:prstGeom prst="rect">
            <a:avLst/>
          </a:prstGeom>
          <a:noFill/>
        </p:spPr>
        <p:txBody>
          <a:bodyPr wrap="square" anchor="ctr" lIns="0" rIns="0" tIns="0" bIns="0">
            <a:spAutoFit/>
          </a:bodyPr>
          <a:lstStyle/>
          <a:p>
            <a:pPr algn="ctr">
              <a:spcAft>
                <a:spcPts val="400"/>
              </a:spcAft>
            </a:pPr>
            <a:r>
              <a:rPr sz="1200">
                <a:solidFill>
                  <a:srgbClr val="FFFFFF"/>
                </a:solidFill>
                <a:latin typeface="Zalando Sans Medium"/>
              </a:rPr>
              <a:t>1</a:t>
            </a:r>
          </a:p>
        </p:txBody>
      </p:sp>
      <p:sp>
        <p:nvSpPr>
          <p:cNvPr id="5" name="TextBox 4"/>
          <p:cNvSpPr txBox="1"/>
          <p:nvPr/>
        </p:nvSpPr>
        <p:spPr>
          <a:xfrm>
            <a:off x="914400" y="1014984"/>
            <a:ext cx="4206240" cy="457200"/>
          </a:xfrm>
          <a:prstGeom prst="rect">
            <a:avLst/>
          </a:prstGeom>
          <a:noFill/>
        </p:spPr>
        <p:txBody>
          <a:bodyPr wrap="square" anchor="t" lIns="0" rIns="0" tIns="0" bIns="0">
            <a:spAutoFit/>
          </a:bodyPr>
          <a:lstStyle/>
          <a:p>
            <a:pPr algn="l">
              <a:spcAft>
                <a:spcPts val="400"/>
              </a:spcAft>
            </a:pPr>
            <a:r>
              <a:rPr sz="1150">
                <a:solidFill>
                  <a:srgbClr val="3C3C3C"/>
                </a:solidFill>
                <a:latin typeface="Zalando Sans Light"/>
              </a:rPr>
              <a:t>The lesson-00 prompt: your project, the course repository, your GitLab repository</a:t>
            </a:r>
          </a:p>
        </p:txBody>
      </p:sp>
      <p:sp>
        <p:nvSpPr>
          <p:cNvPr id="6" name="Oval 5"/>
          <p:cNvSpPr/>
          <p:nvPr/>
        </p:nvSpPr>
        <p:spPr>
          <a:xfrm>
            <a:off x="365760" y="1527048"/>
            <a:ext cx="411480" cy="411480"/>
          </a:xfrm>
          <a:prstGeom prst="ellipse">
            <a:avLst/>
          </a:prstGeom>
          <a:solidFill>
            <a:srgbClr val="002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365760" y="1527048"/>
            <a:ext cx="411480" cy="411480"/>
          </a:xfrm>
          <a:prstGeom prst="rect">
            <a:avLst/>
          </a:prstGeom>
          <a:noFill/>
        </p:spPr>
        <p:txBody>
          <a:bodyPr wrap="square" anchor="ctr" lIns="0" rIns="0" tIns="0" bIns="0">
            <a:spAutoFit/>
          </a:bodyPr>
          <a:lstStyle/>
          <a:p>
            <a:pPr algn="ctr">
              <a:spcAft>
                <a:spcPts val="400"/>
              </a:spcAft>
            </a:pPr>
            <a:r>
              <a:rPr sz="1200">
                <a:solidFill>
                  <a:srgbClr val="FFFFFF"/>
                </a:solidFill>
                <a:latin typeface="Zalando Sans Medium"/>
              </a:rPr>
              <a:t>2</a:t>
            </a:r>
          </a:p>
        </p:txBody>
      </p:sp>
      <p:sp>
        <p:nvSpPr>
          <p:cNvPr id="8" name="TextBox 7"/>
          <p:cNvSpPr txBox="1"/>
          <p:nvPr/>
        </p:nvSpPr>
        <p:spPr>
          <a:xfrm>
            <a:off x="914400" y="1581912"/>
            <a:ext cx="4206240" cy="457200"/>
          </a:xfrm>
          <a:prstGeom prst="rect">
            <a:avLst/>
          </a:prstGeom>
          <a:noFill/>
        </p:spPr>
        <p:txBody>
          <a:bodyPr wrap="square" anchor="t" lIns="0" rIns="0" tIns="0" bIns="0">
            <a:spAutoFit/>
          </a:bodyPr>
          <a:lstStyle/>
          <a:p>
            <a:pPr algn="l">
              <a:spcAft>
                <a:spcPts val="400"/>
              </a:spcAft>
            </a:pPr>
            <a:r>
              <a:rPr sz="1150">
                <a:solidFill>
                  <a:srgbClr val="3C3C3C"/>
                </a:solidFill>
                <a:latin typeface="Zalando Sans Light"/>
              </a:rPr>
              <a:t>Add the check pack</a:t>
            </a:r>
          </a:p>
        </p:txBody>
      </p:sp>
      <p:sp>
        <p:nvSpPr>
          <p:cNvPr id="9" name="Oval 8"/>
          <p:cNvSpPr/>
          <p:nvPr/>
        </p:nvSpPr>
        <p:spPr>
          <a:xfrm>
            <a:off x="365760" y="2093976"/>
            <a:ext cx="411480" cy="411480"/>
          </a:xfrm>
          <a:prstGeom prst="ellipse">
            <a:avLst/>
          </a:prstGeom>
          <a:solidFill>
            <a:srgbClr val="002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65760" y="2093976"/>
            <a:ext cx="411480" cy="411480"/>
          </a:xfrm>
          <a:prstGeom prst="rect">
            <a:avLst/>
          </a:prstGeom>
          <a:noFill/>
        </p:spPr>
        <p:txBody>
          <a:bodyPr wrap="square" anchor="ctr" lIns="0" rIns="0" tIns="0" bIns="0">
            <a:spAutoFit/>
          </a:bodyPr>
          <a:lstStyle/>
          <a:p>
            <a:pPr algn="ctr">
              <a:spcAft>
                <a:spcPts val="400"/>
              </a:spcAft>
            </a:pPr>
            <a:r>
              <a:rPr sz="1200">
                <a:solidFill>
                  <a:srgbClr val="FFFFFF"/>
                </a:solidFill>
                <a:latin typeface="Zalando Sans Medium"/>
              </a:rPr>
              <a:t>3</a:t>
            </a:r>
          </a:p>
        </p:txBody>
      </p:sp>
      <p:sp>
        <p:nvSpPr>
          <p:cNvPr id="11" name="TextBox 10"/>
          <p:cNvSpPr txBox="1"/>
          <p:nvPr/>
        </p:nvSpPr>
        <p:spPr>
          <a:xfrm>
            <a:off x="914400" y="2148840"/>
            <a:ext cx="4206240" cy="457200"/>
          </a:xfrm>
          <a:prstGeom prst="rect">
            <a:avLst/>
          </a:prstGeom>
          <a:noFill/>
        </p:spPr>
        <p:txBody>
          <a:bodyPr wrap="square" anchor="t" lIns="0" rIns="0" tIns="0" bIns="0">
            <a:spAutoFit/>
          </a:bodyPr>
          <a:lstStyle/>
          <a:p>
            <a:pPr algn="l">
              <a:spcAft>
                <a:spcPts val="400"/>
              </a:spcAft>
            </a:pPr>
            <a:r>
              <a:rPr sz="1150">
                <a:solidFill>
                  <a:srgbClr val="3C3C3C"/>
                </a:solidFill>
                <a:latin typeface="Zalando Sans Light"/>
              </a:rPr>
              <a:t>Build steps 1 to 4, one at a time, reading each change</a:t>
            </a:r>
          </a:p>
        </p:txBody>
      </p:sp>
      <p:sp>
        <p:nvSpPr>
          <p:cNvPr id="12" name="Oval 11"/>
          <p:cNvSpPr/>
          <p:nvPr/>
        </p:nvSpPr>
        <p:spPr>
          <a:xfrm>
            <a:off x="365760" y="2660904"/>
            <a:ext cx="411480" cy="411480"/>
          </a:xfrm>
          <a:prstGeom prst="ellipse">
            <a:avLst/>
          </a:prstGeom>
          <a:solidFill>
            <a:srgbClr val="002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65760" y="2660904"/>
            <a:ext cx="411480" cy="411480"/>
          </a:xfrm>
          <a:prstGeom prst="rect">
            <a:avLst/>
          </a:prstGeom>
          <a:noFill/>
        </p:spPr>
        <p:txBody>
          <a:bodyPr wrap="square" anchor="ctr" lIns="0" rIns="0" tIns="0" bIns="0">
            <a:spAutoFit/>
          </a:bodyPr>
          <a:lstStyle/>
          <a:p>
            <a:pPr algn="ctr">
              <a:spcAft>
                <a:spcPts val="400"/>
              </a:spcAft>
            </a:pPr>
            <a:r>
              <a:rPr sz="1200">
                <a:solidFill>
                  <a:srgbClr val="FFFFFF"/>
                </a:solidFill>
                <a:latin typeface="Zalando Sans Medium"/>
              </a:rPr>
              <a:t>4</a:t>
            </a:r>
          </a:p>
        </p:txBody>
      </p:sp>
      <p:sp>
        <p:nvSpPr>
          <p:cNvPr id="14" name="TextBox 13"/>
          <p:cNvSpPr txBox="1"/>
          <p:nvPr/>
        </p:nvSpPr>
        <p:spPr>
          <a:xfrm>
            <a:off x="914400" y="2715768"/>
            <a:ext cx="4206240" cy="457200"/>
          </a:xfrm>
          <a:prstGeom prst="rect">
            <a:avLst/>
          </a:prstGeom>
          <a:noFill/>
        </p:spPr>
        <p:txBody>
          <a:bodyPr wrap="square" anchor="t" lIns="0" rIns="0" tIns="0" bIns="0">
            <a:spAutoFit/>
          </a:bodyPr>
          <a:lstStyle/>
          <a:p>
            <a:pPr algn="l">
              <a:spcAft>
                <a:spcPts val="400"/>
              </a:spcAft>
            </a:pPr>
            <a:r>
              <a:rPr sz="1150">
                <a:solidFill>
                  <a:srgbClr val="3C3C3C"/>
                </a:solidFill>
                <a:latin typeface="Zalando Sans Light"/>
              </a:rPr>
              <a:t>Break it on purpose</a:t>
            </a:r>
          </a:p>
        </p:txBody>
      </p:sp>
      <p:sp>
        <p:nvSpPr>
          <p:cNvPr id="15" name="Oval 14"/>
          <p:cNvSpPr/>
          <p:nvPr/>
        </p:nvSpPr>
        <p:spPr>
          <a:xfrm>
            <a:off x="365760" y="3227832"/>
            <a:ext cx="411480" cy="411480"/>
          </a:xfrm>
          <a:prstGeom prst="ellipse">
            <a:avLst/>
          </a:prstGeom>
          <a:solidFill>
            <a:srgbClr val="0020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65760" y="3227832"/>
            <a:ext cx="411480" cy="411480"/>
          </a:xfrm>
          <a:prstGeom prst="rect">
            <a:avLst/>
          </a:prstGeom>
          <a:noFill/>
        </p:spPr>
        <p:txBody>
          <a:bodyPr wrap="square" anchor="ctr" lIns="0" rIns="0" tIns="0" bIns="0">
            <a:spAutoFit/>
          </a:bodyPr>
          <a:lstStyle/>
          <a:p>
            <a:pPr algn="ctr">
              <a:spcAft>
                <a:spcPts val="400"/>
              </a:spcAft>
            </a:pPr>
            <a:r>
              <a:rPr sz="1200">
                <a:solidFill>
                  <a:srgbClr val="FFFFFF"/>
                </a:solidFill>
                <a:latin typeface="Zalando Sans Medium"/>
              </a:rPr>
              <a:t>5</a:t>
            </a:r>
          </a:p>
        </p:txBody>
      </p:sp>
      <p:sp>
        <p:nvSpPr>
          <p:cNvPr id="17" name="TextBox 16"/>
          <p:cNvSpPr txBox="1"/>
          <p:nvPr/>
        </p:nvSpPr>
        <p:spPr>
          <a:xfrm>
            <a:off x="914400" y="3282696"/>
            <a:ext cx="4206240" cy="457200"/>
          </a:xfrm>
          <a:prstGeom prst="rect">
            <a:avLst/>
          </a:prstGeom>
          <a:noFill/>
        </p:spPr>
        <p:txBody>
          <a:bodyPr wrap="square" anchor="t" lIns="0" rIns="0" tIns="0" bIns="0">
            <a:spAutoFit/>
          </a:bodyPr>
          <a:lstStyle/>
          <a:p>
            <a:pPr algn="l">
              <a:spcAft>
                <a:spcPts val="400"/>
              </a:spcAft>
            </a:pPr>
            <a:r>
              <a:rPr sz="1150">
                <a:solidFill>
                  <a:srgbClr val="3C3C3C"/>
                </a:solidFill>
                <a:latin typeface="Zalando Sans Light"/>
              </a:rPr>
              <a:t>Verify and push, then review</a:t>
            </a:r>
          </a:p>
        </p:txBody>
      </p:sp>
      <p:sp>
        <p:nvSpPr>
          <p:cNvPr id="18" name="Rounded Rectangle 17"/>
          <p:cNvSpPr/>
          <p:nvPr/>
        </p:nvSpPr>
        <p:spPr>
          <a:xfrm>
            <a:off x="5394960" y="960120"/>
            <a:ext cx="3291840" cy="2743200"/>
          </a:xfrm>
          <a:prstGeom prst="roundRect">
            <a:avLst>
              <a:gd name="adj" fmla="val 2666"/>
            </a:avLst>
          </a:prstGeom>
          <a:solidFill>
            <a:srgbClr val="0111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577840" y="1097280"/>
            <a:ext cx="2971800" cy="2560320"/>
          </a:xfrm>
          <a:prstGeom prst="rect">
            <a:avLst/>
          </a:prstGeom>
          <a:noFill/>
        </p:spPr>
        <p:txBody>
          <a:bodyPr wrap="square" anchor="t" lIns="0" rIns="0" tIns="0" bIns="0">
            <a:spAutoFit/>
          </a:bodyPr>
          <a:lstStyle/>
          <a:p>
            <a:pPr algn="l">
              <a:spcAft>
                <a:spcPts val="800"/>
              </a:spcAft>
            </a:pPr>
            <a:r>
              <a:rPr sz="950">
                <a:solidFill>
                  <a:srgbClr val="00FFBE"/>
                </a:solidFill>
                <a:latin typeface="IBM Plex Mono"/>
              </a:rPr>
              <a:t>Next session</a:t>
            </a:r>
          </a:p>
          <a:p>
            <a:pPr algn="l">
              <a:spcAft>
                <a:spcPts val="800"/>
              </a:spcAft>
            </a:pPr>
            <a:r>
              <a:rPr sz="1500">
                <a:solidFill>
                  <a:srgbClr val="FFFFFF"/>
                </a:solidFill>
                <a:latin typeface="Zalando Sans Medium"/>
              </a:rPr>
              <a:t>Reliable tools and MCP integration</a:t>
            </a:r>
          </a:p>
          <a:p>
            <a:pPr algn="l">
              <a:spcAft>
                <a:spcPts val="800"/>
              </a:spcAft>
            </a:pPr>
            <a:r>
              <a:rPr sz="1100">
                <a:solidFill>
                  <a:srgbClr val="C9D3F5"/>
                </a:solidFill>
                <a:latin typeface="Zalando Sans Light"/>
              </a:rPr>
              <a:t>Validated tool contracts, application-owned permissions, an approval gate for a mock remediation, real MCP transport, and your platform's first console. Starts from your Session 01 checkpoint.</a:t>
            </a:r>
          </a:p>
        </p:txBody>
      </p:sp>
      <p:sp>
        <p:nvSpPr>
          <p:cNvPr id="20" name="TextBox 19"/>
          <p:cNvSpPr txBox="1"/>
          <p:nvPr/>
        </p:nvSpPr>
        <p:spPr>
          <a:xfrm>
            <a:off x="365760" y="3931920"/>
            <a:ext cx="8229600" cy="365760"/>
          </a:xfrm>
          <a:prstGeom prst="rect">
            <a:avLst/>
          </a:prstGeom>
          <a:noFill/>
        </p:spPr>
        <p:txBody>
          <a:bodyPr wrap="square" anchor="t" lIns="0" rIns="0" tIns="0" bIns="0">
            <a:spAutoFit/>
          </a:bodyPr>
          <a:lstStyle/>
          <a:p>
            <a:pPr algn="l">
              <a:spcAft>
                <a:spcPts val="400"/>
              </a:spcAft>
            </a:pPr>
            <a:r>
              <a:rPr sz="1000">
                <a:solidFill>
                  <a:srgbClr val="143BFC"/>
                </a:solidFill>
                <a:latin typeface="IBM Plex Mono"/>
              </a:rPr>
              <a:t>maxvpavlov.github.io/ciklum-innovate-l3-2026/lesson-01</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xmlns:r="http://schemas.openxmlformats.org/officeDocument/2006/relationships" name="1_Custom Design">
  <a:themeElements>
    <a:clrScheme name="Ciklum Brand Color">
      <a:dk1>
        <a:srgbClr val="C0C0C0"/>
      </a:dk1>
      <a:lt1>
        <a:srgbClr val="FFFFFF"/>
      </a:lt1>
      <a:dk2>
        <a:srgbClr val="011126"/>
      </a:dk2>
      <a:lt2>
        <a:srgbClr val="E8E8E8"/>
      </a:lt2>
      <a:accent1>
        <a:srgbClr val="011126"/>
      </a:accent1>
      <a:accent2>
        <a:srgbClr val="0020BB"/>
      </a:accent2>
      <a:accent3>
        <a:srgbClr val="00FEBE"/>
      </a:accent3>
      <a:accent4>
        <a:srgbClr val="143BFC"/>
      </a:accent4>
      <a:accent5>
        <a:srgbClr val="50EAFF"/>
      </a:accent5>
      <a:accent6>
        <a:srgbClr val="3C3C3C"/>
      </a:accent6>
      <a:hlink>
        <a:srgbClr val="C3C3C3"/>
      </a:hlink>
      <a:folHlink>
        <a:srgbClr val="F9FAF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Custom Design">
  <a:themeElements>
    <a:clrScheme name="Ciklum Brand Color">
      <a:dk1>
        <a:srgbClr val="C0C0C0"/>
      </a:dk1>
      <a:lt1>
        <a:srgbClr val="FFFFFF"/>
      </a:lt1>
      <a:dk2>
        <a:srgbClr val="011126"/>
      </a:dk2>
      <a:lt2>
        <a:srgbClr val="E8E8E8"/>
      </a:lt2>
      <a:accent1>
        <a:srgbClr val="011126"/>
      </a:accent1>
      <a:accent2>
        <a:srgbClr val="0020BB"/>
      </a:accent2>
      <a:accent3>
        <a:srgbClr val="00FEBE"/>
      </a:accent3>
      <a:accent4>
        <a:srgbClr val="143BFC"/>
      </a:accent4>
      <a:accent5>
        <a:srgbClr val="50EAFF"/>
      </a:accent5>
      <a:accent6>
        <a:srgbClr val="3C3C3C"/>
      </a:accent6>
      <a:hlink>
        <a:srgbClr val="C3C3C3"/>
      </a:hlink>
      <a:folHlink>
        <a:srgbClr val="F9FAF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